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13"/>
    <p:restoredTop sz="94659"/>
  </p:normalViewPr>
  <p:slideViewPr>
    <p:cSldViewPr snapToGrid="0">
      <p:cViewPr>
        <p:scale>
          <a:sx n="234" d="100"/>
          <a:sy n="234" d="100"/>
        </p:scale>
        <p:origin x="-93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C1FBCA-E71A-1B44-9589-7C34CA44EA86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F4A58C-1AA9-C941-9BEF-BEE99D288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18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4A58C-1AA9-C941-9BEF-BEE99D288A2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76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6238E-2DC1-5EB0-8A2E-9C9E438F6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A1E58-2C1F-4AFA-5051-E2B146662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F72A1-B9D0-C386-FD35-8A0BA2836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083C-7BCE-034A-BC88-A6671E86C8B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9E9FF-E11F-51D3-74C9-C2402BEAC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A06BE-6E5E-1428-F570-03196784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729F-0FFE-A44B-9543-BC6435607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15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EBFD0-A688-01E0-EF05-BC7E9EF7F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1BD9E-30FF-5F0A-CD7A-AC6BF227A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A9373-746F-FF09-5AB3-D1FABD310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083C-7BCE-034A-BC88-A6671E86C8B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E0C06-32A0-52EF-247F-FBBCAEDE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41804-896F-4140-7A1E-B2549109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729F-0FFE-A44B-9543-BC6435607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8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3E925-B48D-4AAB-6EBE-2CE85E229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C0C04-5AC8-CE71-4DB7-2613D9B61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D164A-FC06-5C3F-B6E0-4115FF18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083C-7BCE-034A-BC88-A6671E86C8B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6C0DA-79EC-30A9-F42B-895C31FDC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91746-F382-0479-4B3B-94FD1FDE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729F-0FFE-A44B-9543-BC6435607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83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B2329-EF87-2AF1-0A37-00D5BC17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83A29-CA1F-3EBE-9EB0-CF0A86DA6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4A43B-088F-D2B0-8F15-FC0480CF3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D2D54-8496-A6E4-E13D-E334FBBC3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083C-7BCE-034A-BC88-A6671E86C8B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8FF99-408A-9129-3A93-A7BA5629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96177-3451-5DF2-F439-81F2083D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729F-0FFE-A44B-9543-BC6435607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98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401B-D100-C936-EB6D-59B16CE29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7B566-701F-BD95-EF24-83882E2DB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C5AE7-0C69-7363-B3A2-084B5198A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90B059-6880-836E-4A17-C208931A0B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51DEFB-2814-F6A2-14AC-396013519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2A4437-81CF-5F8B-6BAB-A88F616B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083C-7BCE-034A-BC88-A6671E86C8B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A4E71F-637B-3B05-568C-666AF3639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3CE99B-71FD-157C-78A4-2C59E31DB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729F-0FFE-A44B-9543-BC6435607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1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F54B-C804-F7EE-90E9-F672ACE57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2D2E4E-535F-CEAF-EB92-7C5CD0014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083C-7BCE-034A-BC88-A6671E86C8B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F8755-5FE4-A778-6DE5-F1D9597C0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46F12-A1C2-5968-1C52-5801EC27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729F-0FFE-A44B-9543-BC6435607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7CC130-2B07-4710-328C-FA6CB63C9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083C-7BCE-034A-BC88-A6671E86C8B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F0DFE0-7DB0-7995-7A4C-E30781BBF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CDF09-ED10-2022-8584-0E3D304EB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729F-0FFE-A44B-9543-BC6435607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041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F4267-F5F1-2495-474E-42CBF9025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384B2-220E-2B56-94D8-82A7AA9D8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C094E6-5F44-7DFE-1376-FCEBE556C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817D9-3209-4566-0455-6853193EC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083C-7BCE-034A-BC88-A6671E86C8B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02082-1428-9E09-6F50-D60BA5B68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C2C27-53FE-91E4-1613-29B409D53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729F-0FFE-A44B-9543-BC6435607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9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1493F-7D14-9CCA-E4F2-557829224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90027-CBE1-E2C7-2D03-F07C7C78C1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08722-23CC-847D-B0E4-D24307AD2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673F-D8D7-5E02-12B1-C0A910494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083C-7BCE-034A-BC88-A6671E86C8B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AD449-16BD-B58B-385D-B014FD4A0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D5293-E096-491D-EF2F-3B510C4CD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729F-0FFE-A44B-9543-BC6435607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60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4BA41-D7E1-21E0-CD19-A82006BBB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CCAD6-AEC3-9EBD-6C08-7377DD7AE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7F315-601D-7284-24F6-B962424E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083C-7BCE-034A-BC88-A6671E86C8B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81E41-030B-0D53-CA5E-14A8B5EE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8F8AD-B441-7112-0666-AA248BBFD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729F-0FFE-A44B-9543-BC6435607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73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739BA-4E84-BA57-B13D-FD2A4537F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E989B-C3EB-741B-4105-B9B0E0041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6AFCC-6AE4-4360-6198-67195808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083C-7BCE-034A-BC88-A6671E86C8B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DF51E-AFCC-8B8A-C895-BC707883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E9001-8281-B1A5-46CE-00C9E6264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729F-0FFE-A44B-9543-BC6435607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47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E9A8F-0466-01AB-19CC-1D56F440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D3D79-93F3-69BC-FD9F-5569F1FE4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51D81-90E8-54FA-5866-E2FA386F2C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8C083C-7BCE-034A-BC88-A6671E86C8B9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5C1B7-2368-8D8D-8678-74EA65453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A26EE-5140-C3DC-064E-684C06B63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A0729F-0FFE-A44B-9543-BC6435607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0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F050807C-ADA5-EFBA-0397-AF35996D8CA2}"/>
              </a:ext>
            </a:extLst>
          </p:cNvPr>
          <p:cNvSpPr txBox="1"/>
          <p:nvPr/>
        </p:nvSpPr>
        <p:spPr>
          <a:xfrm>
            <a:off x="5525259" y="741134"/>
            <a:ext cx="6254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 err="1">
                <a:solidFill>
                  <a:schemeClr val="accent5"/>
                </a:solidFill>
              </a:rPr>
              <a:t>q</a:t>
            </a:r>
            <a:r>
              <a:rPr lang="en-US" sz="1000" baseline="-25000" dirty="0" err="1">
                <a:solidFill>
                  <a:schemeClr val="accent5"/>
                </a:solidFill>
              </a:rPr>
              <a:t>loss</a:t>
            </a:r>
            <a:endParaRPr lang="en-US" sz="1000" baseline="-25000" dirty="0">
              <a:solidFill>
                <a:schemeClr val="accent5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917BCE-9E85-7AF6-5E16-ED23BEB9E857}"/>
              </a:ext>
            </a:extLst>
          </p:cNvPr>
          <p:cNvCxnSpPr>
            <a:cxnSpLocks/>
            <a:stCxn id="32" idx="3"/>
            <a:endCxn id="39" idx="1"/>
          </p:cNvCxnSpPr>
          <p:nvPr/>
        </p:nvCxnSpPr>
        <p:spPr>
          <a:xfrm>
            <a:off x="2966539" y="812001"/>
            <a:ext cx="59342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FE3165-2F59-C55E-352D-0FA32A9C192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515407" y="1210589"/>
            <a:ext cx="63144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0E05761-49A9-1488-688E-EBD0DD821AB8}"/>
              </a:ext>
            </a:extLst>
          </p:cNvPr>
          <p:cNvCxnSpPr>
            <a:cxnSpLocks/>
          </p:cNvCxnSpPr>
          <p:nvPr/>
        </p:nvCxnSpPr>
        <p:spPr>
          <a:xfrm>
            <a:off x="1491270" y="743401"/>
            <a:ext cx="632469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798742-1220-07E5-FF64-73B1F94EA316}"/>
              </a:ext>
            </a:extLst>
          </p:cNvPr>
          <p:cNvCxnSpPr>
            <a:cxnSpLocks/>
          </p:cNvCxnSpPr>
          <p:nvPr/>
        </p:nvCxnSpPr>
        <p:spPr>
          <a:xfrm>
            <a:off x="165695" y="1221849"/>
            <a:ext cx="46980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C3D8D9-0223-FB2E-887F-6B2510E6BDD6}"/>
              </a:ext>
            </a:extLst>
          </p:cNvPr>
          <p:cNvCxnSpPr>
            <a:cxnSpLocks/>
          </p:cNvCxnSpPr>
          <p:nvPr/>
        </p:nvCxnSpPr>
        <p:spPr>
          <a:xfrm>
            <a:off x="1497407" y="362706"/>
            <a:ext cx="626154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CED5AC2-D859-A649-A187-BA8057ED3C20}"/>
              </a:ext>
            </a:extLst>
          </p:cNvPr>
          <p:cNvGrpSpPr/>
          <p:nvPr/>
        </p:nvGrpSpPr>
        <p:grpSpPr>
          <a:xfrm>
            <a:off x="1366941" y="308449"/>
            <a:ext cx="928257" cy="327211"/>
            <a:chOff x="1788992" y="363682"/>
            <a:chExt cx="928257" cy="32721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06A284-D047-9A7E-573B-C7037D0867BB}"/>
                </a:ext>
              </a:extLst>
            </p:cNvPr>
            <p:cNvSpPr txBox="1"/>
            <p:nvPr/>
          </p:nvSpPr>
          <p:spPr>
            <a:xfrm>
              <a:off x="2046262" y="363682"/>
              <a:ext cx="38824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6"/>
                  </a:solidFill>
                </a:rPr>
                <a:t>MW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4A2926A-EA13-AC97-6078-C06FA510704A}"/>
                </a:ext>
              </a:extLst>
            </p:cNvPr>
            <p:cNvSpPr txBox="1"/>
            <p:nvPr/>
          </p:nvSpPr>
          <p:spPr>
            <a:xfrm>
              <a:off x="1788992" y="460061"/>
              <a:ext cx="92825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/>
                <a:t>m</a:t>
              </a:r>
              <a:r>
                <a:rPr lang="en-US" sz="900" dirty="0"/>
                <a:t> losses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BF6B9FB-F151-6532-CC25-0BDB875634A6}"/>
              </a:ext>
            </a:extLst>
          </p:cNvPr>
          <p:cNvGrpSpPr/>
          <p:nvPr/>
        </p:nvGrpSpPr>
        <p:grpSpPr>
          <a:xfrm>
            <a:off x="1366941" y="689144"/>
            <a:ext cx="909847" cy="319119"/>
            <a:chOff x="1788992" y="744377"/>
            <a:chExt cx="909847" cy="31911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23D985-9BC1-D60A-B306-77E032C6D8C6}"/>
                </a:ext>
              </a:extLst>
            </p:cNvPr>
            <p:cNvSpPr txBox="1"/>
            <p:nvPr/>
          </p:nvSpPr>
          <p:spPr>
            <a:xfrm>
              <a:off x="2101049" y="744377"/>
              <a:ext cx="26641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6"/>
                  </a:solidFill>
                </a:rPr>
                <a:t>H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8E99AFB-EB1B-729A-E33A-C80FB7F28C22}"/>
                </a:ext>
              </a:extLst>
            </p:cNvPr>
            <p:cNvSpPr txBox="1"/>
            <p:nvPr/>
          </p:nvSpPr>
          <p:spPr>
            <a:xfrm>
              <a:off x="1788992" y="832664"/>
              <a:ext cx="90984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/>
                <a:t>m</a:t>
              </a:r>
              <a:r>
                <a:rPr lang="en-US" sz="900" dirty="0"/>
                <a:t> losses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74E3CD2-0830-EEC2-453A-12231FA7FB6D}"/>
              </a:ext>
            </a:extLst>
          </p:cNvPr>
          <p:cNvGrpSpPr/>
          <p:nvPr/>
        </p:nvGrpSpPr>
        <p:grpSpPr>
          <a:xfrm>
            <a:off x="1324188" y="1157780"/>
            <a:ext cx="879721" cy="416146"/>
            <a:chOff x="1807780" y="1157780"/>
            <a:chExt cx="879721" cy="41614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AE417D-A158-7C25-3B74-D2CD1C3637A3}"/>
                </a:ext>
              </a:extLst>
            </p:cNvPr>
            <p:cNvSpPr txBox="1"/>
            <p:nvPr/>
          </p:nvSpPr>
          <p:spPr>
            <a:xfrm>
              <a:off x="2100942" y="1157780"/>
              <a:ext cx="2792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00000"/>
                  </a:solidFill>
                </a:rPr>
                <a:t>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687D4C9-0499-0445-EA1E-A7F521F678BC}"/>
                </a:ext>
              </a:extLst>
            </p:cNvPr>
            <p:cNvSpPr txBox="1"/>
            <p:nvPr/>
          </p:nvSpPr>
          <p:spPr>
            <a:xfrm>
              <a:off x="1807780" y="1252064"/>
              <a:ext cx="8746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/>
                <a:t>m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9EE80767-ED7D-9FBE-A2DE-49039CCF96D3}"/>
                </a:ext>
              </a:extLst>
            </p:cNvPr>
            <p:cNvSpPr txBox="1"/>
            <p:nvPr/>
          </p:nvSpPr>
          <p:spPr>
            <a:xfrm>
              <a:off x="1812892" y="1343094"/>
              <a:ext cx="8746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423DAA3-B9A6-5CCF-D0DE-239167ACE142}"/>
              </a:ext>
            </a:extLst>
          </p:cNvPr>
          <p:cNvGrpSpPr/>
          <p:nvPr/>
        </p:nvGrpSpPr>
        <p:grpSpPr>
          <a:xfrm>
            <a:off x="-104253" y="1166121"/>
            <a:ext cx="1023405" cy="416904"/>
            <a:chOff x="196460" y="1166121"/>
            <a:chExt cx="1023405" cy="41690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476B909-2020-3BD0-056F-E2CD13EA06D1}"/>
                </a:ext>
              </a:extLst>
            </p:cNvPr>
            <p:cNvSpPr txBox="1"/>
            <p:nvPr/>
          </p:nvSpPr>
          <p:spPr>
            <a:xfrm>
              <a:off x="579563" y="1166121"/>
              <a:ext cx="2792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00000"/>
                  </a:solidFill>
                </a:rPr>
                <a:t>M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7F55E30-5751-C90D-4FAF-E797FCF231B5}"/>
                </a:ext>
              </a:extLst>
            </p:cNvPr>
            <p:cNvSpPr txBox="1"/>
            <p:nvPr/>
          </p:nvSpPr>
          <p:spPr>
            <a:xfrm>
              <a:off x="197485" y="1255026"/>
              <a:ext cx="10223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w/o </a:t>
              </a:r>
              <a:r>
                <a:rPr lang="en-US" sz="900" i="1" dirty="0"/>
                <a:t>m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6CF245D-965A-505D-01AA-643FD116E5AB}"/>
                </a:ext>
              </a:extLst>
            </p:cNvPr>
            <p:cNvSpPr txBox="1"/>
            <p:nvPr/>
          </p:nvSpPr>
          <p:spPr>
            <a:xfrm>
              <a:off x="196460" y="1352193"/>
              <a:ext cx="10223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</a:t>
              </a:r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5463D27-1868-E7E1-3E48-72AD26E3AC4C}"/>
              </a:ext>
            </a:extLst>
          </p:cNvPr>
          <p:cNvCxnSpPr>
            <a:cxnSpLocks/>
            <a:stCxn id="39" idx="3"/>
            <a:endCxn id="66" idx="1"/>
          </p:cNvCxnSpPr>
          <p:nvPr/>
        </p:nvCxnSpPr>
        <p:spPr>
          <a:xfrm>
            <a:off x="4507415" y="812001"/>
            <a:ext cx="46995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D81F4AC-C378-C2B3-E43C-10260DEC3E10}"/>
              </a:ext>
            </a:extLst>
          </p:cNvPr>
          <p:cNvGrpSpPr/>
          <p:nvPr/>
        </p:nvGrpSpPr>
        <p:grpSpPr>
          <a:xfrm>
            <a:off x="4242473" y="762213"/>
            <a:ext cx="961619" cy="417542"/>
            <a:chOff x="3201912" y="757617"/>
            <a:chExt cx="961619" cy="41754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151ABAE-75AD-4E09-ACB5-094BDD7D35C5}"/>
                </a:ext>
              </a:extLst>
            </p:cNvPr>
            <p:cNvSpPr txBox="1"/>
            <p:nvPr/>
          </p:nvSpPr>
          <p:spPr>
            <a:xfrm>
              <a:off x="3559213" y="757617"/>
              <a:ext cx="25038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00000"/>
                  </a:solidFill>
                </a:rPr>
                <a:t>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8105315-25D0-65B1-29FA-490D9007E289}"/>
                </a:ext>
              </a:extLst>
            </p:cNvPr>
            <p:cNvSpPr txBox="1"/>
            <p:nvPr/>
          </p:nvSpPr>
          <p:spPr>
            <a:xfrm>
              <a:off x="3306242" y="847656"/>
              <a:ext cx="78006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 err="1"/>
                <a:t>m</a:t>
              </a:r>
              <a:r>
                <a:rPr lang="en-US" sz="900" dirty="0" err="1"/>
                <a:t>&amp;</a:t>
              </a:r>
              <a:r>
                <a:rPr lang="en-US" sz="900" i="1" dirty="0" err="1"/>
                <a:t>Q</a:t>
              </a:r>
              <a:endParaRPr lang="en-US" sz="900" i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D986FBF-3F72-FCCF-9339-A490281D029B}"/>
                </a:ext>
              </a:extLst>
            </p:cNvPr>
            <p:cNvSpPr txBox="1"/>
            <p:nvPr/>
          </p:nvSpPr>
          <p:spPr>
            <a:xfrm>
              <a:off x="3201912" y="944327"/>
              <a:ext cx="96161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</a:t>
              </a: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15C71121-FA50-316B-C77A-2CB19C00C92C}"/>
              </a:ext>
            </a:extLst>
          </p:cNvPr>
          <p:cNvGrpSpPr/>
          <p:nvPr/>
        </p:nvGrpSpPr>
        <p:grpSpPr>
          <a:xfrm>
            <a:off x="5359197" y="1695239"/>
            <a:ext cx="733530" cy="230832"/>
            <a:chOff x="3734558" y="1695239"/>
            <a:chExt cx="733530" cy="230832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E242509-2615-DFB6-4E84-E245CFA97EF6}"/>
                </a:ext>
              </a:extLst>
            </p:cNvPr>
            <p:cNvCxnSpPr>
              <a:cxnSpLocks/>
            </p:cNvCxnSpPr>
            <p:nvPr/>
          </p:nvCxnSpPr>
          <p:spPr>
            <a:xfrm>
              <a:off x="3734558" y="1749496"/>
              <a:ext cx="733530" cy="0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BD9FCF8-5B29-68AD-7AF9-B284E1E9A1A2}"/>
                </a:ext>
              </a:extLst>
            </p:cNvPr>
            <p:cNvSpPr txBox="1"/>
            <p:nvPr/>
          </p:nvSpPr>
          <p:spPr>
            <a:xfrm>
              <a:off x="3915155" y="1695239"/>
              <a:ext cx="31130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 err="1">
                  <a:solidFill>
                    <a:schemeClr val="accent6"/>
                  </a:solidFill>
                  <a:latin typeface="Symbol" pitchFamily="2" charset="2"/>
                </a:rPr>
                <a:t>f</a:t>
              </a:r>
              <a:r>
                <a:rPr lang="en-US" sz="900" baseline="-25000" dirty="0" err="1">
                  <a:solidFill>
                    <a:schemeClr val="accent6"/>
                  </a:solidFill>
                  <a:latin typeface="Aptos" panose="020B0004020202020204" pitchFamily="34" charset="0"/>
                </a:rPr>
                <a:t>m</a:t>
              </a:r>
              <a:endParaRPr lang="en-US" sz="900" b="1" dirty="0">
                <a:solidFill>
                  <a:schemeClr val="accent6"/>
                </a:solidFill>
                <a:latin typeface="Symbol" pitchFamily="2" charset="2"/>
              </a:endParaRPr>
            </a:p>
          </p:txBody>
        </p:sp>
      </p:grp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CD2D5509-44DC-A52C-57B7-A262636AE183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1992302" y="1211126"/>
            <a:ext cx="4108216" cy="376669"/>
          </a:xfrm>
          <a:prstGeom prst="bentConnector3">
            <a:avLst>
              <a:gd name="adj1" fmla="val 3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C4E2DCE-5686-329A-DBCC-72BA175EC367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5689547" y="812001"/>
            <a:ext cx="330763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859FD88-0D88-8E00-5BB6-F110772972EA}"/>
              </a:ext>
            </a:extLst>
          </p:cNvPr>
          <p:cNvGrpSpPr/>
          <p:nvPr/>
        </p:nvGrpSpPr>
        <p:grpSpPr>
          <a:xfrm>
            <a:off x="6725283" y="1556080"/>
            <a:ext cx="1095843" cy="411407"/>
            <a:chOff x="3349371" y="757617"/>
            <a:chExt cx="1095843" cy="41140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C2978C4-72C7-7965-F336-0A6B21A08528}"/>
                </a:ext>
              </a:extLst>
            </p:cNvPr>
            <p:cNvSpPr txBox="1"/>
            <p:nvPr/>
          </p:nvSpPr>
          <p:spPr>
            <a:xfrm>
              <a:off x="3763039" y="757617"/>
              <a:ext cx="2568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9265C8C-A62C-C458-2FE6-19B9F28161F9}"/>
                </a:ext>
              </a:extLst>
            </p:cNvPr>
            <p:cNvSpPr txBox="1"/>
            <p:nvPr/>
          </p:nvSpPr>
          <p:spPr>
            <a:xfrm>
              <a:off x="3349371" y="847656"/>
              <a:ext cx="109584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/>
                <a:t>m</a:t>
              </a:r>
              <a:r>
                <a:rPr lang="en-US" sz="900" dirty="0"/>
                <a:t> losses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8D06C71-883E-3D9C-5A39-2B69B377C71F}"/>
                </a:ext>
              </a:extLst>
            </p:cNvPr>
            <p:cNvSpPr txBox="1"/>
            <p:nvPr/>
          </p:nvSpPr>
          <p:spPr>
            <a:xfrm>
              <a:off x="3349372" y="938192"/>
              <a:ext cx="109584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w/o </a:t>
              </a:r>
              <a:r>
                <a:rPr lang="en-US" sz="900" i="1" dirty="0"/>
                <a:t>Q</a:t>
              </a:r>
              <a:r>
                <a:rPr lang="en-US" sz="900" dirty="0"/>
                <a:t> losses</a:t>
              </a:r>
            </a:p>
          </p:txBody>
        </p:sp>
      </p:grp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EE5C2E9-570A-05C7-1659-7444E0850691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6918479" y="1587795"/>
            <a:ext cx="696626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8D18046-9BCC-C93B-8C67-3AC49E8FCEC4}"/>
              </a:ext>
            </a:extLst>
          </p:cNvPr>
          <p:cNvCxnSpPr>
            <a:cxnSpLocks/>
          </p:cNvCxnSpPr>
          <p:nvPr/>
        </p:nvCxnSpPr>
        <p:spPr>
          <a:xfrm>
            <a:off x="8399528" y="1101764"/>
            <a:ext cx="47444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5A3228D-1CFC-C691-381E-B85CDB9E2150}"/>
              </a:ext>
            </a:extLst>
          </p:cNvPr>
          <p:cNvGrpSpPr/>
          <p:nvPr/>
        </p:nvGrpSpPr>
        <p:grpSpPr>
          <a:xfrm>
            <a:off x="8268867" y="1054849"/>
            <a:ext cx="756123" cy="421656"/>
            <a:chOff x="7397360" y="1065725"/>
            <a:chExt cx="756123" cy="421656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D68617E-80E7-56DA-C2C6-B96D04539616}"/>
                </a:ext>
              </a:extLst>
            </p:cNvPr>
            <p:cNvSpPr txBox="1"/>
            <p:nvPr/>
          </p:nvSpPr>
          <p:spPr>
            <a:xfrm>
              <a:off x="7611294" y="1065725"/>
              <a:ext cx="2568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286DC3F-8726-D61B-428F-6965836C1E39}"/>
                </a:ext>
              </a:extLst>
            </p:cNvPr>
            <p:cNvSpPr txBox="1"/>
            <p:nvPr/>
          </p:nvSpPr>
          <p:spPr>
            <a:xfrm>
              <a:off x="7397360" y="1155764"/>
              <a:ext cx="75612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 err="1"/>
                <a:t>m</a:t>
              </a:r>
              <a:r>
                <a:rPr lang="en-US" sz="900" dirty="0" err="1"/>
                <a:t>&amp;</a:t>
              </a:r>
              <a:r>
                <a:rPr lang="en-US" sz="900" i="1" dirty="0" err="1"/>
                <a:t>Q</a:t>
              </a:r>
              <a:endParaRPr lang="en-US" sz="900" i="1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DE0DB06-AC3B-6507-1BF8-76470739D8AC}"/>
                </a:ext>
              </a:extLst>
            </p:cNvPr>
            <p:cNvSpPr txBox="1"/>
            <p:nvPr/>
          </p:nvSpPr>
          <p:spPr>
            <a:xfrm>
              <a:off x="7422864" y="1256549"/>
              <a:ext cx="67023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3679FBF2-885B-7686-F30C-287F05A69A32}"/>
              </a:ext>
            </a:extLst>
          </p:cNvPr>
          <p:cNvGrpSpPr/>
          <p:nvPr/>
        </p:nvGrpSpPr>
        <p:grpSpPr>
          <a:xfrm>
            <a:off x="5343891" y="242213"/>
            <a:ext cx="780064" cy="311549"/>
            <a:chOff x="1893322" y="363682"/>
            <a:chExt cx="780064" cy="311549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8146836-DED1-3C7D-0F76-BEC734FB6136}"/>
                </a:ext>
              </a:extLst>
            </p:cNvPr>
            <p:cNvSpPr txBox="1"/>
            <p:nvPr/>
          </p:nvSpPr>
          <p:spPr>
            <a:xfrm>
              <a:off x="2157899" y="363682"/>
              <a:ext cx="2263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5"/>
                  </a:solidFill>
                </a:rPr>
                <a:t>t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D9DDD2-8FE0-FB14-224B-853E540AE261}"/>
                </a:ext>
              </a:extLst>
            </p:cNvPr>
            <p:cNvSpPr txBox="1"/>
            <p:nvPr/>
          </p:nvSpPr>
          <p:spPr>
            <a:xfrm>
              <a:off x="1893322" y="444399"/>
              <a:ext cx="78006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of </a:t>
              </a:r>
              <a:r>
                <a:rPr lang="en-US" sz="900" i="1" dirty="0"/>
                <a:t>Q</a:t>
              </a:r>
              <a:r>
                <a:rPr lang="en-US" sz="900" dirty="0"/>
                <a:t> losses</a:t>
              </a:r>
            </a:p>
          </p:txBody>
        </p:sp>
      </p:grp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71F8AF1-202E-8DA4-1123-B569A0BAADDD}"/>
              </a:ext>
            </a:extLst>
          </p:cNvPr>
          <p:cNvCxnSpPr>
            <a:cxnSpLocks/>
          </p:cNvCxnSpPr>
          <p:nvPr/>
        </p:nvCxnSpPr>
        <p:spPr>
          <a:xfrm>
            <a:off x="5455714" y="289615"/>
            <a:ext cx="562968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F0E3065-FFEE-1BE7-F3EA-ADC58EE208DF}"/>
              </a:ext>
            </a:extLst>
          </p:cNvPr>
          <p:cNvCxnSpPr>
            <a:cxnSpLocks/>
            <a:stCxn id="104" idx="3"/>
          </p:cNvCxnSpPr>
          <p:nvPr/>
        </p:nvCxnSpPr>
        <p:spPr>
          <a:xfrm>
            <a:off x="6958627" y="550128"/>
            <a:ext cx="620459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AEDC2EA-B4BB-5001-563F-498949B7DF51}"/>
              </a:ext>
            </a:extLst>
          </p:cNvPr>
          <p:cNvGrpSpPr/>
          <p:nvPr/>
        </p:nvGrpSpPr>
        <p:grpSpPr>
          <a:xfrm>
            <a:off x="6884039" y="486463"/>
            <a:ext cx="780064" cy="351597"/>
            <a:chOff x="1844226" y="363682"/>
            <a:chExt cx="780064" cy="351597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7F75357B-D1BB-7DA0-4285-DBA8B741176B}"/>
                </a:ext>
              </a:extLst>
            </p:cNvPr>
            <p:cNvSpPr txBox="1"/>
            <p:nvPr/>
          </p:nvSpPr>
          <p:spPr>
            <a:xfrm>
              <a:off x="2015577" y="363682"/>
              <a:ext cx="38824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 err="1">
                  <a:solidFill>
                    <a:schemeClr val="accent5"/>
                  </a:solidFill>
                </a:rPr>
                <a:t>x</a:t>
              </a:r>
              <a:r>
                <a:rPr lang="en-US" sz="900" baseline="-25000" dirty="0" err="1">
                  <a:solidFill>
                    <a:schemeClr val="accent5"/>
                  </a:solidFill>
                </a:rPr>
                <a:t>loss</a:t>
              </a:r>
              <a:endParaRPr lang="en-US" sz="900" baseline="-25000" dirty="0">
                <a:solidFill>
                  <a:schemeClr val="accent5"/>
                </a:solidFill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8A9D8F7-5334-688F-C757-FA1DE5D949B3}"/>
                </a:ext>
              </a:extLst>
            </p:cNvPr>
            <p:cNvSpPr txBox="1"/>
            <p:nvPr/>
          </p:nvSpPr>
          <p:spPr>
            <a:xfrm>
              <a:off x="1844226" y="484447"/>
              <a:ext cx="78006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for </a:t>
              </a:r>
              <a:r>
                <a:rPr lang="en-US" sz="900" i="1" dirty="0"/>
                <a:t>Q</a:t>
              </a:r>
              <a:r>
                <a:rPr lang="en-US" sz="900" dirty="0"/>
                <a:t> losses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5A90940-1369-38A0-D947-C127256726C6}"/>
              </a:ext>
            </a:extLst>
          </p:cNvPr>
          <p:cNvSpPr txBox="1"/>
          <p:nvPr/>
        </p:nvSpPr>
        <p:spPr>
          <a:xfrm>
            <a:off x="-38100" y="1688631"/>
            <a:ext cx="109584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/>
              <a:t>Key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64783A-FE5B-2419-B22F-08AC8C8C473C}"/>
              </a:ext>
            </a:extLst>
          </p:cNvPr>
          <p:cNvSpPr txBox="1"/>
          <p:nvPr/>
        </p:nvSpPr>
        <p:spPr>
          <a:xfrm>
            <a:off x="128180" y="1965834"/>
            <a:ext cx="18982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C00000"/>
                </a:solidFill>
              </a:rPr>
              <a:t>M</a:t>
            </a:r>
            <a:r>
              <a:rPr lang="en-US" sz="900" dirty="0"/>
              <a:t>: mass matrices for the MCC [kg]</a:t>
            </a:r>
            <a:endParaRPr lang="en-US" sz="9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D35AD-8C2A-9DA8-FA49-EF606709E417}"/>
              </a:ext>
            </a:extLst>
          </p:cNvPr>
          <p:cNvSpPr txBox="1"/>
          <p:nvPr/>
        </p:nvSpPr>
        <p:spPr>
          <a:xfrm>
            <a:off x="140246" y="2749564"/>
            <a:ext cx="19992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accent6"/>
                </a:solidFill>
              </a:rPr>
              <a:t>H</a:t>
            </a:r>
            <a:r>
              <a:rPr lang="en-US" sz="900" dirty="0"/>
              <a:t>: enthalpies for MCC flows [kJ/mol]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762292-8FDA-7158-E039-81C23C11E6E3}"/>
              </a:ext>
            </a:extLst>
          </p:cNvPr>
          <p:cNvSpPr txBox="1"/>
          <p:nvPr/>
        </p:nvSpPr>
        <p:spPr>
          <a:xfrm>
            <a:off x="23643" y="2865627"/>
            <a:ext cx="25282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accent6"/>
                </a:solidFill>
              </a:rPr>
              <a:t>MW</a:t>
            </a:r>
            <a:r>
              <a:rPr lang="en-US" sz="900" dirty="0"/>
              <a:t>: molecular weights for MCC flows [kg/mol]</a:t>
            </a:r>
            <a:endParaRPr lang="en-US" sz="9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EB7E17-A1C8-4261-5D28-C320F98D380E}"/>
              </a:ext>
            </a:extLst>
          </p:cNvPr>
          <p:cNvSpPr txBox="1"/>
          <p:nvPr/>
        </p:nvSpPr>
        <p:spPr>
          <a:xfrm>
            <a:off x="7061" y="1841031"/>
            <a:ext cx="289134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C00000"/>
                </a:solidFill>
              </a:rPr>
              <a:t>Flow </a:t>
            </a:r>
            <a:r>
              <a:rPr lang="en-US" sz="900" b="1" dirty="0">
                <a:solidFill>
                  <a:srgbClr val="C00000"/>
                </a:solidFill>
              </a:rPr>
              <a:t>RUVY</a:t>
            </a:r>
            <a:r>
              <a:rPr lang="en-US" sz="900" dirty="0">
                <a:solidFill>
                  <a:srgbClr val="C00000"/>
                </a:solidFill>
              </a:rPr>
              <a:t> matrices (exhibit intra-industry balance)</a:t>
            </a:r>
            <a:r>
              <a:rPr lang="en-US" sz="900" dirty="0"/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7B9F8E-BF30-0069-EBCC-DD3189696D2E}"/>
              </a:ext>
            </a:extLst>
          </p:cNvPr>
          <p:cNvSpPr txBox="1"/>
          <p:nvPr/>
        </p:nvSpPr>
        <p:spPr>
          <a:xfrm>
            <a:off x="7064" y="2616193"/>
            <a:ext cx="30476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6"/>
                </a:solidFill>
              </a:rPr>
              <a:t>Property </a:t>
            </a:r>
            <a:r>
              <a:rPr lang="en-US" sz="900" b="1" dirty="0">
                <a:solidFill>
                  <a:schemeClr val="accent6"/>
                </a:solidFill>
              </a:rPr>
              <a:t>RUVY</a:t>
            </a:r>
            <a:r>
              <a:rPr lang="en-US" sz="900" dirty="0">
                <a:solidFill>
                  <a:schemeClr val="accent6"/>
                </a:solidFill>
              </a:rPr>
              <a:t> matrices (no intra-industry balance)</a:t>
            </a:r>
            <a:r>
              <a:rPr lang="en-US" sz="900" dirty="0"/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40A48A-B59F-84E0-7615-2D2C4BE169B7}"/>
              </a:ext>
            </a:extLst>
          </p:cNvPr>
          <p:cNvSpPr txBox="1"/>
          <p:nvPr/>
        </p:nvSpPr>
        <p:spPr>
          <a:xfrm>
            <a:off x="152728" y="2087880"/>
            <a:ext cx="23070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C00000"/>
                </a:solidFill>
              </a:rPr>
              <a:t>E</a:t>
            </a:r>
            <a:r>
              <a:rPr lang="en-US" sz="900" dirty="0"/>
              <a:t>: energy matrices for the MCC or ECC [kJ]</a:t>
            </a:r>
            <a:endParaRPr lang="en-US" sz="9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F88E72-7AC8-7C87-4E27-6DA8E8D4BD13}"/>
              </a:ext>
            </a:extLst>
          </p:cNvPr>
          <p:cNvSpPr txBox="1"/>
          <p:nvPr/>
        </p:nvSpPr>
        <p:spPr>
          <a:xfrm>
            <a:off x="35618" y="3369130"/>
            <a:ext cx="19255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 err="1">
                <a:solidFill>
                  <a:schemeClr val="accent5"/>
                </a:solidFill>
              </a:rPr>
              <a:t>q</a:t>
            </a:r>
            <a:r>
              <a:rPr lang="en-US" sz="900" baseline="-25000" dirty="0" err="1">
                <a:solidFill>
                  <a:schemeClr val="accent5"/>
                </a:solidFill>
              </a:rPr>
              <a:t>loss</a:t>
            </a:r>
            <a:r>
              <a:rPr lang="en-US" sz="900" dirty="0"/>
              <a:t>: </a:t>
            </a:r>
            <a:r>
              <a:rPr lang="en-US" sz="900" i="1" dirty="0"/>
              <a:t>Q</a:t>
            </a:r>
            <a:r>
              <a:rPr lang="en-US" sz="900" dirty="0"/>
              <a:t> loss vector for the MCC [kg]</a:t>
            </a:r>
            <a:endParaRPr lang="en-US" sz="9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F4C718-87C3-89FA-8F87-52323F8DEEC3}"/>
              </a:ext>
            </a:extLst>
          </p:cNvPr>
          <p:cNvSpPr txBox="1"/>
          <p:nvPr/>
        </p:nvSpPr>
        <p:spPr>
          <a:xfrm>
            <a:off x="189342" y="3493197"/>
            <a:ext cx="27398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accent5"/>
                </a:solidFill>
              </a:rPr>
              <a:t>t</a:t>
            </a:r>
            <a:r>
              <a:rPr lang="en-US" sz="900" dirty="0"/>
              <a:t>: temperature vector for </a:t>
            </a:r>
            <a:r>
              <a:rPr lang="en-US" sz="900" i="1" dirty="0"/>
              <a:t>Q</a:t>
            </a:r>
            <a:r>
              <a:rPr lang="en-US" sz="900" dirty="0"/>
              <a:t> losses from the MCC [K]</a:t>
            </a:r>
            <a:endParaRPr lang="en-US" sz="900" b="1" dirty="0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3B76D526-7F14-08E4-5DE1-D7E07A882D4A}"/>
              </a:ext>
            </a:extLst>
          </p:cNvPr>
          <p:cNvSpPr/>
          <p:nvPr/>
        </p:nvSpPr>
        <p:spPr>
          <a:xfrm>
            <a:off x="6100518" y="1304559"/>
            <a:ext cx="817961" cy="5664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rgbClr val="C00000"/>
                </a:solidFill>
              </a:rPr>
              <a:t>M</a:t>
            </a:r>
            <a:r>
              <a:rPr lang="en-US" sz="1000" dirty="0" err="1">
                <a:solidFill>
                  <a:schemeClr val="tx1"/>
                </a:solidFill>
              </a:rPr>
              <a:t>×</a:t>
            </a:r>
            <a:r>
              <a:rPr lang="en-US" sz="1000" b="1" dirty="0" err="1">
                <a:solidFill>
                  <a:schemeClr val="accent6"/>
                </a:solidFill>
                <a:latin typeface="Symbol" pitchFamily="2" charset="2"/>
              </a:rPr>
              <a:t>f</a:t>
            </a:r>
            <a:r>
              <a:rPr lang="en-US" sz="1000" baseline="-25000" dirty="0" err="1">
                <a:solidFill>
                  <a:schemeClr val="accent6"/>
                </a:solidFill>
                <a:latin typeface="Aptos" panose="020B0004020202020204" pitchFamily="34" charset="0"/>
              </a:rPr>
              <a:t>m</a:t>
            </a:r>
            <a:endParaRPr lang="en-US" sz="1000" baseline="-25000" dirty="0">
              <a:solidFill>
                <a:schemeClr val="accent6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A34799-8F46-1992-96CF-E78866BF00C4}"/>
              </a:ext>
            </a:extLst>
          </p:cNvPr>
          <p:cNvSpPr txBox="1"/>
          <p:nvPr/>
        </p:nvSpPr>
        <p:spPr>
          <a:xfrm>
            <a:off x="41755" y="3600160"/>
            <a:ext cx="27350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 err="1">
                <a:solidFill>
                  <a:schemeClr val="accent5"/>
                </a:solidFill>
              </a:rPr>
              <a:t>x</a:t>
            </a:r>
            <a:r>
              <a:rPr lang="en-US" sz="900" baseline="-25000" dirty="0" err="1">
                <a:solidFill>
                  <a:schemeClr val="accent5"/>
                </a:solidFill>
              </a:rPr>
              <a:t>loss</a:t>
            </a:r>
            <a:r>
              <a:rPr lang="en-US" sz="900" dirty="0"/>
              <a:t>: exergy of </a:t>
            </a:r>
            <a:r>
              <a:rPr lang="en-US" sz="900" i="1" dirty="0"/>
              <a:t>Q </a:t>
            </a:r>
            <a:r>
              <a:rPr lang="en-US" sz="900" dirty="0"/>
              <a:t>loss vector for the MCC or ECC [kg]</a:t>
            </a:r>
            <a:endParaRPr lang="en-US" sz="9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EBC4EB-66BA-D35C-A880-D9C9728E8998}"/>
              </a:ext>
            </a:extLst>
          </p:cNvPr>
          <p:cNvSpPr txBox="1"/>
          <p:nvPr/>
        </p:nvSpPr>
        <p:spPr>
          <a:xfrm>
            <a:off x="152728" y="2210000"/>
            <a:ext cx="19255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C00000"/>
                </a:solidFill>
              </a:rPr>
              <a:t>B</a:t>
            </a:r>
            <a:r>
              <a:rPr lang="en-US" sz="900" dirty="0"/>
              <a:t>: exergy matrices for the MCC [kJ]</a:t>
            </a:r>
            <a:endParaRPr lang="en-US" sz="9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F216B87-8A15-83A9-9A41-3DD80A6A90F4}"/>
              </a:ext>
            </a:extLst>
          </p:cNvPr>
          <p:cNvSpPr txBox="1"/>
          <p:nvPr/>
        </p:nvSpPr>
        <p:spPr>
          <a:xfrm>
            <a:off x="97287" y="2978009"/>
            <a:ext cx="24609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 err="1">
                <a:solidFill>
                  <a:schemeClr val="accent6"/>
                </a:solidFill>
                <a:latin typeface="Symbol" pitchFamily="2" charset="2"/>
              </a:rPr>
              <a:t>f</a:t>
            </a:r>
            <a:r>
              <a:rPr lang="en-US" sz="900" baseline="-25000" dirty="0" err="1">
                <a:solidFill>
                  <a:schemeClr val="accent6"/>
                </a:solidFill>
                <a:latin typeface="Aptos" panose="020B0004020202020204" pitchFamily="34" charset="0"/>
              </a:rPr>
              <a:t>m</a:t>
            </a:r>
            <a:r>
              <a:rPr lang="en-US" sz="900" dirty="0"/>
              <a:t>: exergy-to-mass ratio for MCC flows [kJ/kg]</a:t>
            </a:r>
            <a:endParaRPr lang="en-US" sz="900" b="1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27EB4F7-EE38-8539-DA79-100B0A422010}"/>
              </a:ext>
            </a:extLst>
          </p:cNvPr>
          <p:cNvCxnSpPr>
            <a:cxnSpLocks/>
            <a:stCxn id="62" idx="3"/>
            <a:endCxn id="116" idx="1"/>
          </p:cNvCxnSpPr>
          <p:nvPr/>
        </p:nvCxnSpPr>
        <p:spPr>
          <a:xfrm>
            <a:off x="4534183" y="3102442"/>
            <a:ext cx="440233" cy="90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237884B-E940-8219-3ADD-564183608D16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2934956" y="3102442"/>
            <a:ext cx="62484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5820FA2-9EC2-2E4B-9E46-BB466D2ECD5D}"/>
              </a:ext>
            </a:extLst>
          </p:cNvPr>
          <p:cNvGrpSpPr/>
          <p:nvPr/>
        </p:nvGrpSpPr>
        <p:grpSpPr>
          <a:xfrm>
            <a:off x="4280258" y="3049633"/>
            <a:ext cx="882229" cy="424176"/>
            <a:chOff x="1855393" y="1157780"/>
            <a:chExt cx="882229" cy="424176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A69122B-A16F-DE93-D832-A4B3ECAAC96F}"/>
                </a:ext>
              </a:extLst>
            </p:cNvPr>
            <p:cNvSpPr txBox="1"/>
            <p:nvPr/>
          </p:nvSpPr>
          <p:spPr>
            <a:xfrm>
              <a:off x="2176739" y="1157780"/>
              <a:ext cx="25038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00000"/>
                  </a:solidFill>
                </a:rPr>
                <a:t>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AF058A7-86B8-C4C3-03B0-9C16CC30515F}"/>
                </a:ext>
              </a:extLst>
            </p:cNvPr>
            <p:cNvSpPr txBox="1"/>
            <p:nvPr/>
          </p:nvSpPr>
          <p:spPr>
            <a:xfrm>
              <a:off x="1863013" y="1252064"/>
              <a:ext cx="8746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/>
                <a:t>Q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BA021F87-E4E1-B90E-DCC2-4876C5C3B61E}"/>
                </a:ext>
              </a:extLst>
            </p:cNvPr>
            <p:cNvSpPr txBox="1"/>
            <p:nvPr/>
          </p:nvSpPr>
          <p:spPr>
            <a:xfrm>
              <a:off x="1855393" y="1351124"/>
              <a:ext cx="8746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21B9C41-D3A0-213F-76F4-D6988322A9F4}"/>
              </a:ext>
            </a:extLst>
          </p:cNvPr>
          <p:cNvGrpSpPr/>
          <p:nvPr/>
        </p:nvGrpSpPr>
        <p:grpSpPr>
          <a:xfrm>
            <a:off x="2614954" y="3057974"/>
            <a:ext cx="1047784" cy="421901"/>
            <a:chOff x="18411" y="1166121"/>
            <a:chExt cx="1047784" cy="421901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A4436A7-4D0C-FEC5-BF99-1C704105D585}"/>
                </a:ext>
              </a:extLst>
            </p:cNvPr>
            <p:cNvSpPr txBox="1"/>
            <p:nvPr/>
          </p:nvSpPr>
          <p:spPr>
            <a:xfrm>
              <a:off x="428291" y="1166121"/>
              <a:ext cx="25038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00000"/>
                  </a:solidFill>
                </a:rPr>
                <a:t>E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58BC224-7CB0-7856-BA1E-88AF65BDB114}"/>
                </a:ext>
              </a:extLst>
            </p:cNvPr>
            <p:cNvSpPr txBox="1"/>
            <p:nvPr/>
          </p:nvSpPr>
          <p:spPr>
            <a:xfrm>
              <a:off x="25649" y="1261001"/>
              <a:ext cx="10405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w/o </a:t>
              </a:r>
              <a:r>
                <a:rPr lang="en-US" sz="900" i="1" dirty="0"/>
                <a:t>Q</a:t>
              </a:r>
              <a:endParaRPr lang="en-US" sz="900" dirty="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6F167800-6F83-8EAE-9B73-AADEFF3409D3}"/>
                </a:ext>
              </a:extLst>
            </p:cNvPr>
            <p:cNvSpPr txBox="1"/>
            <p:nvPr/>
          </p:nvSpPr>
          <p:spPr>
            <a:xfrm>
              <a:off x="18411" y="1357190"/>
              <a:ext cx="10405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</a:t>
              </a: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64F6E5AC-4B60-EA26-0033-9C0550253EBE}"/>
              </a:ext>
            </a:extLst>
          </p:cNvPr>
          <p:cNvSpPr txBox="1"/>
          <p:nvPr/>
        </p:nvSpPr>
        <p:spPr>
          <a:xfrm>
            <a:off x="127972" y="3092578"/>
            <a:ext cx="24529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 err="1">
                <a:solidFill>
                  <a:schemeClr val="accent6"/>
                </a:solidFill>
                <a:latin typeface="Symbol" pitchFamily="2" charset="2"/>
              </a:rPr>
              <a:t>f</a:t>
            </a:r>
            <a:r>
              <a:rPr lang="en-US" sz="900" baseline="-25000" dirty="0" err="1">
                <a:solidFill>
                  <a:schemeClr val="accent6"/>
                </a:solidFill>
                <a:latin typeface="Aptos" panose="020B0004020202020204" pitchFamily="34" charset="0"/>
              </a:rPr>
              <a:t>e</a:t>
            </a:r>
            <a:r>
              <a:rPr lang="en-US" sz="900" dirty="0"/>
              <a:t>: exergy-to-energy ratio for ECC flows [kJ/kJ]</a:t>
            </a:r>
            <a:endParaRPr lang="en-US" sz="9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D27A61D-EF4F-B366-6411-957D406CAF8E}"/>
              </a:ext>
            </a:extLst>
          </p:cNvPr>
          <p:cNvSpPr txBox="1"/>
          <p:nvPr/>
        </p:nvSpPr>
        <p:spPr>
          <a:xfrm>
            <a:off x="5516330" y="3043285"/>
            <a:ext cx="6254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 err="1">
                <a:solidFill>
                  <a:schemeClr val="accent5"/>
                </a:solidFill>
              </a:rPr>
              <a:t>q</a:t>
            </a:r>
            <a:r>
              <a:rPr lang="en-US" sz="1000" baseline="-25000" dirty="0" err="1">
                <a:solidFill>
                  <a:schemeClr val="accent5"/>
                </a:solidFill>
              </a:rPr>
              <a:t>loss</a:t>
            </a:r>
            <a:endParaRPr lang="en-US" sz="1000" baseline="-25000" dirty="0">
              <a:solidFill>
                <a:schemeClr val="accent5"/>
              </a:solidFill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755DF29-B31A-7D31-4316-D4520739ED0B}"/>
              </a:ext>
            </a:extLst>
          </p:cNvPr>
          <p:cNvCxnSpPr>
            <a:cxnSpLocks/>
            <a:stCxn id="116" idx="3"/>
          </p:cNvCxnSpPr>
          <p:nvPr/>
        </p:nvCxnSpPr>
        <p:spPr>
          <a:xfrm>
            <a:off x="5686593" y="3103345"/>
            <a:ext cx="314535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9A7D992-7D3E-DA9F-E19B-6454C5B6E1C7}"/>
              </a:ext>
            </a:extLst>
          </p:cNvPr>
          <p:cNvGrpSpPr/>
          <p:nvPr/>
        </p:nvGrpSpPr>
        <p:grpSpPr>
          <a:xfrm>
            <a:off x="5298383" y="2536732"/>
            <a:ext cx="780064" cy="311336"/>
            <a:chOff x="1844226" y="366857"/>
            <a:chExt cx="780064" cy="311336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AB9DF732-2CAE-15AF-A737-94558AD7F1EE}"/>
                </a:ext>
              </a:extLst>
            </p:cNvPr>
            <p:cNvSpPr txBox="1"/>
            <p:nvPr/>
          </p:nvSpPr>
          <p:spPr>
            <a:xfrm>
              <a:off x="2127214" y="366857"/>
              <a:ext cx="2263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5"/>
                  </a:solidFill>
                </a:rPr>
                <a:t>t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7D97FFD-570F-AEB2-6D1C-72D59513038E}"/>
                </a:ext>
              </a:extLst>
            </p:cNvPr>
            <p:cNvSpPr txBox="1"/>
            <p:nvPr/>
          </p:nvSpPr>
          <p:spPr>
            <a:xfrm>
              <a:off x="1844226" y="447361"/>
              <a:ext cx="78006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of </a:t>
              </a:r>
              <a:r>
                <a:rPr lang="en-US" sz="900" i="1" dirty="0"/>
                <a:t>Q</a:t>
              </a:r>
              <a:r>
                <a:rPr lang="en-US" sz="900" dirty="0"/>
                <a:t> losses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A3B3A91-6997-EB96-9E87-81D979E94315}"/>
              </a:ext>
            </a:extLst>
          </p:cNvPr>
          <p:cNvGrpSpPr/>
          <p:nvPr/>
        </p:nvGrpSpPr>
        <p:grpSpPr>
          <a:xfrm>
            <a:off x="6874456" y="2784433"/>
            <a:ext cx="780064" cy="339323"/>
            <a:chOff x="1844226" y="363682"/>
            <a:chExt cx="780064" cy="339323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037CCDE-E62D-345E-2973-E1B3A7C107AF}"/>
                </a:ext>
              </a:extLst>
            </p:cNvPr>
            <p:cNvSpPr txBox="1"/>
            <p:nvPr/>
          </p:nvSpPr>
          <p:spPr>
            <a:xfrm>
              <a:off x="2046262" y="363682"/>
              <a:ext cx="38824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 err="1">
                  <a:solidFill>
                    <a:schemeClr val="accent5"/>
                  </a:solidFill>
                </a:rPr>
                <a:t>x</a:t>
              </a:r>
              <a:r>
                <a:rPr lang="en-US" sz="900" baseline="-25000" dirty="0" err="1">
                  <a:solidFill>
                    <a:schemeClr val="accent5"/>
                  </a:solidFill>
                </a:rPr>
                <a:t>loss</a:t>
              </a:r>
              <a:endParaRPr lang="en-US" sz="900" baseline="-25000" dirty="0">
                <a:solidFill>
                  <a:schemeClr val="accent5"/>
                </a:solidFill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1BB1B81-FEE3-C9A9-3B72-5E3F7F0BB765}"/>
                </a:ext>
              </a:extLst>
            </p:cNvPr>
            <p:cNvSpPr txBox="1"/>
            <p:nvPr/>
          </p:nvSpPr>
          <p:spPr>
            <a:xfrm>
              <a:off x="1844226" y="472173"/>
              <a:ext cx="78006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for </a:t>
              </a:r>
              <a:r>
                <a:rPr lang="en-US" sz="900" i="1" dirty="0"/>
                <a:t>Q</a:t>
              </a:r>
              <a:r>
                <a:rPr lang="en-US" sz="900" dirty="0"/>
                <a:t> losses</a:t>
              </a:r>
            </a:p>
          </p:txBody>
        </p:sp>
      </p:grp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C6362180-5E7A-668B-1F74-8CF137BAA083}"/>
              </a:ext>
            </a:extLst>
          </p:cNvPr>
          <p:cNvCxnSpPr>
            <a:cxnSpLocks/>
          </p:cNvCxnSpPr>
          <p:nvPr/>
        </p:nvCxnSpPr>
        <p:spPr>
          <a:xfrm>
            <a:off x="5399578" y="2595346"/>
            <a:ext cx="612476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BAB9071-F560-6588-899A-9F94DB848F58}"/>
              </a:ext>
            </a:extLst>
          </p:cNvPr>
          <p:cNvCxnSpPr>
            <a:cxnSpLocks/>
            <a:stCxn id="109" idx="3"/>
          </p:cNvCxnSpPr>
          <p:nvPr/>
        </p:nvCxnSpPr>
        <p:spPr>
          <a:xfrm>
            <a:off x="6949860" y="2841472"/>
            <a:ext cx="655748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Elbow Connector 121">
            <a:extLst>
              <a:ext uri="{FF2B5EF4-FFF2-40B4-BE49-F238E27FC236}">
                <a16:creationId xmlns:a16="http://schemas.microsoft.com/office/drawing/2014/main" id="{95175A4F-E490-0804-7724-F5FE1C22590D}"/>
              </a:ext>
            </a:extLst>
          </p:cNvPr>
          <p:cNvCxnSpPr>
            <a:cxnSpLocks/>
          </p:cNvCxnSpPr>
          <p:nvPr/>
        </p:nvCxnSpPr>
        <p:spPr>
          <a:xfrm>
            <a:off x="3391152" y="3106538"/>
            <a:ext cx="2696256" cy="523998"/>
          </a:xfrm>
          <a:prstGeom prst="bentConnector3">
            <a:avLst>
              <a:gd name="adj1" fmla="val 365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E7C12B45-F76C-77DE-A9A6-CE1193036B19}"/>
              </a:ext>
            </a:extLst>
          </p:cNvPr>
          <p:cNvCxnSpPr>
            <a:cxnSpLocks/>
          </p:cNvCxnSpPr>
          <p:nvPr/>
        </p:nvCxnSpPr>
        <p:spPr>
          <a:xfrm>
            <a:off x="5344542" y="3803565"/>
            <a:ext cx="73353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288FD1C1-C201-A150-3751-DBB38A4D6A74}"/>
              </a:ext>
            </a:extLst>
          </p:cNvPr>
          <p:cNvSpPr txBox="1"/>
          <p:nvPr/>
        </p:nvSpPr>
        <p:spPr>
          <a:xfrm>
            <a:off x="5537963" y="3749308"/>
            <a:ext cx="2856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dirty="0" err="1">
                <a:solidFill>
                  <a:schemeClr val="accent6"/>
                </a:solidFill>
                <a:latin typeface="Symbol" pitchFamily="2" charset="2"/>
              </a:rPr>
              <a:t>f</a:t>
            </a:r>
            <a:r>
              <a:rPr lang="en-US" sz="900" baseline="-25000" dirty="0" err="1">
                <a:solidFill>
                  <a:schemeClr val="accent6"/>
                </a:solidFill>
                <a:latin typeface="Aptos" panose="020B0004020202020204" pitchFamily="34" charset="0"/>
              </a:rPr>
              <a:t>e</a:t>
            </a:r>
            <a:endParaRPr lang="en-US" sz="900" b="1" dirty="0">
              <a:solidFill>
                <a:schemeClr val="accent6"/>
              </a:solidFill>
              <a:latin typeface="Symbol" pitchFamily="2" charset="2"/>
            </a:endParaRP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5588E39-B6EC-F5CF-809D-3E0FD1DFC103}"/>
              </a:ext>
            </a:extLst>
          </p:cNvPr>
          <p:cNvGrpSpPr/>
          <p:nvPr/>
        </p:nvGrpSpPr>
        <p:grpSpPr>
          <a:xfrm>
            <a:off x="6691837" y="3599855"/>
            <a:ext cx="1095843" cy="320871"/>
            <a:chOff x="3349371" y="757617"/>
            <a:chExt cx="1095843" cy="320871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C5147B40-F29A-F584-4AC2-3730D38ACE91}"/>
                </a:ext>
              </a:extLst>
            </p:cNvPr>
            <p:cNvSpPr txBox="1"/>
            <p:nvPr/>
          </p:nvSpPr>
          <p:spPr>
            <a:xfrm>
              <a:off x="3349371" y="847656"/>
              <a:ext cx="109584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w/o </a:t>
              </a:r>
              <a:r>
                <a:rPr lang="en-US" sz="900" i="1" dirty="0"/>
                <a:t>Q</a:t>
              </a:r>
              <a:r>
                <a:rPr lang="en-US" sz="900" dirty="0"/>
                <a:t> losses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93492AE5-2ED5-AF89-B552-A3EEBE1653E7}"/>
                </a:ext>
              </a:extLst>
            </p:cNvPr>
            <p:cNvSpPr txBox="1"/>
            <p:nvPr/>
          </p:nvSpPr>
          <p:spPr>
            <a:xfrm>
              <a:off x="3763039" y="757617"/>
              <a:ext cx="2568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00000"/>
                  </a:solidFill>
                </a:rPr>
                <a:t>X</a:t>
              </a:r>
            </a:p>
          </p:txBody>
        </p:sp>
      </p:grp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53921C5-AF20-E641-7818-024DF8F46062}"/>
              </a:ext>
            </a:extLst>
          </p:cNvPr>
          <p:cNvCxnSpPr>
            <a:cxnSpLocks/>
            <a:stCxn id="124" idx="3"/>
          </p:cNvCxnSpPr>
          <p:nvPr/>
        </p:nvCxnSpPr>
        <p:spPr>
          <a:xfrm>
            <a:off x="6905369" y="3624480"/>
            <a:ext cx="68233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C7C7312D-36DC-190D-793D-01135C668247}"/>
              </a:ext>
            </a:extLst>
          </p:cNvPr>
          <p:cNvSpPr txBox="1"/>
          <p:nvPr/>
        </p:nvSpPr>
        <p:spPr>
          <a:xfrm>
            <a:off x="4325" y="3282835"/>
            <a:ext cx="239922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5"/>
                </a:solidFill>
              </a:rPr>
              <a:t>Vectors</a:t>
            </a:r>
            <a:r>
              <a:rPr lang="en-US" sz="900" dirty="0"/>
              <a:t>: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7D444FD-ED6D-F387-F5C0-0C45F2843BC1}"/>
              </a:ext>
            </a:extLst>
          </p:cNvPr>
          <p:cNvSpPr txBox="1"/>
          <p:nvPr/>
        </p:nvSpPr>
        <p:spPr>
          <a:xfrm>
            <a:off x="4325" y="3817463"/>
            <a:ext cx="239922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Operators: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17330B0-DE29-8A97-A721-D9F70ABB8422}"/>
              </a:ext>
            </a:extLst>
          </p:cNvPr>
          <p:cNvSpPr txBox="1"/>
          <p:nvPr/>
        </p:nvSpPr>
        <p:spPr>
          <a:xfrm>
            <a:off x="176769" y="3914630"/>
            <a:ext cx="12490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×: Hadamard product</a:t>
            </a:r>
            <a:endParaRPr lang="en-US" sz="900" b="1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F6BEB72-7AC8-FB5A-C733-652EF02C2E21}"/>
              </a:ext>
            </a:extLst>
          </p:cNvPr>
          <p:cNvSpPr txBox="1"/>
          <p:nvPr/>
        </p:nvSpPr>
        <p:spPr>
          <a:xfrm>
            <a:off x="201317" y="4042482"/>
            <a:ext cx="13708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/: Element-wise division</a:t>
            </a:r>
            <a:endParaRPr lang="en-US" sz="900" b="1" dirty="0"/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3F1BDD4-2872-FE4F-B944-63472C50587D}"/>
              </a:ext>
            </a:extLst>
          </p:cNvPr>
          <p:cNvGrpSpPr/>
          <p:nvPr/>
        </p:nvGrpSpPr>
        <p:grpSpPr>
          <a:xfrm>
            <a:off x="2777405" y="763754"/>
            <a:ext cx="909847" cy="609573"/>
            <a:chOff x="2924693" y="757617"/>
            <a:chExt cx="909847" cy="609573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6BF3725-3A1B-F162-7EB5-5406A0DDB627}"/>
                </a:ext>
              </a:extLst>
            </p:cNvPr>
            <p:cNvGrpSpPr/>
            <p:nvPr/>
          </p:nvGrpSpPr>
          <p:grpSpPr>
            <a:xfrm>
              <a:off x="2987118" y="757617"/>
              <a:ext cx="786201" cy="609573"/>
              <a:chOff x="3287831" y="757617"/>
              <a:chExt cx="786201" cy="609573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0CC2D39-D873-C899-9579-7F292843F68C}"/>
                  </a:ext>
                </a:extLst>
              </p:cNvPr>
              <p:cNvSpPr txBox="1"/>
              <p:nvPr/>
            </p:nvSpPr>
            <p:spPr>
              <a:xfrm>
                <a:off x="3559213" y="757617"/>
                <a:ext cx="25038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C00000"/>
                    </a:solidFill>
                  </a:rPr>
                  <a:t>E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C09D8EA-E06D-BB0D-9FDA-161A1B06D7CB}"/>
                  </a:ext>
                </a:extLst>
              </p:cNvPr>
              <p:cNvSpPr txBox="1"/>
              <p:nvPr/>
            </p:nvSpPr>
            <p:spPr>
              <a:xfrm>
                <a:off x="3287831" y="1042646"/>
                <a:ext cx="78006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/>
                  <a:t>w/o </a:t>
                </a:r>
                <a:r>
                  <a:rPr lang="en-US" sz="900" i="1" dirty="0"/>
                  <a:t>Q</a:t>
                </a:r>
                <a:endParaRPr lang="en-US" sz="900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31D1B16-E67D-1050-33AB-9DD0D08A53B7}"/>
                  </a:ext>
                </a:extLst>
              </p:cNvPr>
              <p:cNvSpPr txBox="1"/>
              <p:nvPr/>
            </p:nvSpPr>
            <p:spPr>
              <a:xfrm>
                <a:off x="3293968" y="1136358"/>
                <a:ext cx="78006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/>
                  <a:t>losses</a:t>
                </a:r>
              </a:p>
            </p:txBody>
          </p:sp>
        </p:grp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ACC2C55-7EE3-4DB2-9761-4A7AA62B58B6}"/>
                </a:ext>
              </a:extLst>
            </p:cNvPr>
            <p:cNvSpPr txBox="1"/>
            <p:nvPr/>
          </p:nvSpPr>
          <p:spPr>
            <a:xfrm>
              <a:off x="2924693" y="850053"/>
              <a:ext cx="90984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/>
                <a:t>m</a:t>
              </a:r>
              <a:endParaRPr lang="en-US" sz="900" dirty="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8C5C4C1-8D1E-8F03-659A-A9B96DE3564C}"/>
                </a:ext>
              </a:extLst>
            </p:cNvPr>
            <p:cNvSpPr txBox="1"/>
            <p:nvPr/>
          </p:nvSpPr>
          <p:spPr>
            <a:xfrm>
              <a:off x="3043904" y="944526"/>
              <a:ext cx="711881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losses;</a:t>
              </a:r>
            </a:p>
          </p:txBody>
        </p:sp>
      </p:grp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46ADCBFA-84F8-F91A-EFC2-8D3E37048A31}"/>
              </a:ext>
            </a:extLst>
          </p:cNvPr>
          <p:cNvCxnSpPr>
            <a:cxnSpLocks/>
            <a:stCxn id="143" idx="3"/>
          </p:cNvCxnSpPr>
          <p:nvPr/>
        </p:nvCxnSpPr>
        <p:spPr>
          <a:xfrm>
            <a:off x="8414593" y="3271481"/>
            <a:ext cx="44746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82430F0-3644-E57A-8AF1-863FB3FB746A}"/>
              </a:ext>
            </a:extLst>
          </p:cNvPr>
          <p:cNvGrpSpPr/>
          <p:nvPr/>
        </p:nvGrpSpPr>
        <p:grpSpPr>
          <a:xfrm>
            <a:off x="8164701" y="3243274"/>
            <a:ext cx="940430" cy="418448"/>
            <a:chOff x="7371586" y="1157780"/>
            <a:chExt cx="940430" cy="418448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1456B8FC-660C-C29D-5FBC-B28AE0D344F3}"/>
                </a:ext>
              </a:extLst>
            </p:cNvPr>
            <p:cNvSpPr txBox="1"/>
            <p:nvPr/>
          </p:nvSpPr>
          <p:spPr>
            <a:xfrm>
              <a:off x="7715623" y="1157780"/>
              <a:ext cx="2568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97E50366-1E9B-4A57-53E1-3B54CA1CDCB0}"/>
                </a:ext>
              </a:extLst>
            </p:cNvPr>
            <p:cNvSpPr txBox="1"/>
            <p:nvPr/>
          </p:nvSpPr>
          <p:spPr>
            <a:xfrm>
              <a:off x="7379206" y="1253956"/>
              <a:ext cx="93281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/>
                <a:t>Q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DC31F17F-11FD-CFB7-964D-709A6482465A}"/>
                </a:ext>
              </a:extLst>
            </p:cNvPr>
            <p:cNvSpPr txBox="1"/>
            <p:nvPr/>
          </p:nvSpPr>
          <p:spPr>
            <a:xfrm>
              <a:off x="7371586" y="1345396"/>
              <a:ext cx="93281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 losses</a:t>
              </a:r>
            </a:p>
          </p:txBody>
        </p:sp>
      </p:grp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1C1F4B65-C549-CD6F-020F-7AAF0DC7519B}"/>
              </a:ext>
            </a:extLst>
          </p:cNvPr>
          <p:cNvCxnSpPr>
            <a:cxnSpLocks/>
            <a:stCxn id="173" idx="3"/>
            <a:endCxn id="179" idx="1"/>
          </p:cNvCxnSpPr>
          <p:nvPr/>
        </p:nvCxnSpPr>
        <p:spPr>
          <a:xfrm>
            <a:off x="9693393" y="2198992"/>
            <a:ext cx="789393" cy="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0296FC40-2B58-B9A7-5085-E35BF084EC81}"/>
              </a:ext>
            </a:extLst>
          </p:cNvPr>
          <p:cNvCxnSpPr>
            <a:cxnSpLocks/>
            <a:stCxn id="179" idx="3"/>
          </p:cNvCxnSpPr>
          <p:nvPr/>
        </p:nvCxnSpPr>
        <p:spPr>
          <a:xfrm>
            <a:off x="11351858" y="2199036"/>
            <a:ext cx="71331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B474DAF3-7F6A-3753-8E3F-CB3F3050740F}"/>
              </a:ext>
            </a:extLst>
          </p:cNvPr>
          <p:cNvSpPr txBox="1"/>
          <p:nvPr/>
        </p:nvSpPr>
        <p:spPr>
          <a:xfrm>
            <a:off x="182906" y="4164197"/>
            <a:ext cx="12282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+: Element-wise sum</a:t>
            </a:r>
            <a:endParaRPr lang="en-US" sz="900" b="1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E6527A35-6708-4FD8-FEC9-2B93047ED99E}"/>
              </a:ext>
            </a:extLst>
          </p:cNvPr>
          <p:cNvSpPr txBox="1"/>
          <p:nvPr/>
        </p:nvSpPr>
        <p:spPr>
          <a:xfrm>
            <a:off x="152728" y="2316480"/>
            <a:ext cx="18950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C00000"/>
                </a:solidFill>
              </a:rPr>
              <a:t>X</a:t>
            </a:r>
            <a:r>
              <a:rPr lang="en-US" sz="900" dirty="0"/>
              <a:t>: exergy matrices for the ECC [kJ]</a:t>
            </a:r>
            <a:endParaRPr lang="en-US" sz="900" b="1" dirty="0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44B3915E-CD4A-DD7C-3F02-8FD81922B174}"/>
              </a:ext>
            </a:extLst>
          </p:cNvPr>
          <p:cNvSpPr txBox="1"/>
          <p:nvPr/>
        </p:nvSpPr>
        <p:spPr>
          <a:xfrm>
            <a:off x="79084" y="2432058"/>
            <a:ext cx="28216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C00000"/>
                </a:solidFill>
              </a:rPr>
              <a:t>BX</a:t>
            </a:r>
            <a:r>
              <a:rPr lang="en-US" sz="900" dirty="0"/>
              <a:t>: exergy matrices for combined MCC and ECC [kJ]</a:t>
            </a:r>
            <a:endParaRPr lang="en-US" sz="900" b="1" dirty="0"/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52A5C4E1-0C24-3A8C-A847-AA361A96BCB7}"/>
              </a:ext>
            </a:extLst>
          </p:cNvPr>
          <p:cNvGrpSpPr/>
          <p:nvPr/>
        </p:nvGrpSpPr>
        <p:grpSpPr>
          <a:xfrm>
            <a:off x="9529495" y="2147066"/>
            <a:ext cx="1113230" cy="620262"/>
            <a:chOff x="9529495" y="2048006"/>
            <a:chExt cx="1113230" cy="620262"/>
          </a:xfrm>
        </p:grpSpPr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5D7DA325-0C97-A7E5-9A65-A6D343BF8613}"/>
                </a:ext>
              </a:extLst>
            </p:cNvPr>
            <p:cNvGrpSpPr/>
            <p:nvPr/>
          </p:nvGrpSpPr>
          <p:grpSpPr>
            <a:xfrm>
              <a:off x="9529495" y="2048006"/>
              <a:ext cx="1113230" cy="620262"/>
              <a:chOff x="9474262" y="1895811"/>
              <a:chExt cx="1113230" cy="620262"/>
            </a:xfrm>
          </p:grpSpPr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D5D84000-A971-4978-4554-F9D844974BDB}"/>
                  </a:ext>
                </a:extLst>
              </p:cNvPr>
              <p:cNvSpPr txBox="1"/>
              <p:nvPr/>
            </p:nvSpPr>
            <p:spPr>
              <a:xfrm>
                <a:off x="9852673" y="1895811"/>
                <a:ext cx="32573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C00000"/>
                    </a:solidFill>
                  </a:rPr>
                  <a:t>BX</a:t>
                </a: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69500F5-37D7-32AB-AFF7-0838BB1379CA}"/>
                  </a:ext>
                </a:extLst>
              </p:cNvPr>
              <p:cNvSpPr txBox="1"/>
              <p:nvPr/>
            </p:nvSpPr>
            <p:spPr>
              <a:xfrm>
                <a:off x="9474262" y="2188074"/>
                <a:ext cx="109584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/>
                  <a:t>w/o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C1371546-A5A6-A127-26F2-226DAA2FAB5C}"/>
                  </a:ext>
                </a:extLst>
              </p:cNvPr>
              <p:cNvSpPr txBox="1"/>
              <p:nvPr/>
            </p:nvSpPr>
            <p:spPr>
              <a:xfrm>
                <a:off x="9491650" y="2285241"/>
                <a:ext cx="109584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 err="1"/>
                  <a:t>irreversibilities</a:t>
                </a:r>
                <a:endParaRPr lang="en-US" sz="900" dirty="0"/>
              </a:p>
            </p:txBody>
          </p:sp>
        </p:grp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3032AB47-F763-D99D-1785-FCD61914E759}"/>
                </a:ext>
              </a:extLst>
            </p:cNvPr>
            <p:cNvSpPr txBox="1"/>
            <p:nvPr/>
          </p:nvSpPr>
          <p:spPr>
            <a:xfrm>
              <a:off x="9701427" y="2150728"/>
              <a:ext cx="75612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 err="1"/>
                <a:t>m</a:t>
              </a:r>
              <a:r>
                <a:rPr lang="en-US" sz="900" dirty="0" err="1"/>
                <a:t>&amp;</a:t>
              </a:r>
              <a:r>
                <a:rPr lang="en-US" sz="900" i="1" dirty="0" err="1"/>
                <a:t>Q</a:t>
              </a:r>
              <a:endParaRPr lang="en-US" sz="900" i="1" dirty="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896CC2B9-78BE-7296-C3C8-9CB89BE3F0FE}"/>
                </a:ext>
              </a:extLst>
            </p:cNvPr>
            <p:cNvSpPr txBox="1"/>
            <p:nvPr/>
          </p:nvSpPr>
          <p:spPr>
            <a:xfrm>
              <a:off x="9749791" y="2251513"/>
              <a:ext cx="67023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losses;</a:t>
              </a:r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1AC4CAF-3EA5-70B7-2777-642D9600645A}"/>
              </a:ext>
            </a:extLst>
          </p:cNvPr>
          <p:cNvGrpSpPr/>
          <p:nvPr/>
        </p:nvGrpSpPr>
        <p:grpSpPr>
          <a:xfrm>
            <a:off x="11140440" y="2148840"/>
            <a:ext cx="1113230" cy="620262"/>
            <a:chOff x="9529495" y="2048006"/>
            <a:chExt cx="1113230" cy="620262"/>
          </a:xfrm>
        </p:grpSpPr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F171D231-C244-C0D4-D137-C9F3566674A0}"/>
                </a:ext>
              </a:extLst>
            </p:cNvPr>
            <p:cNvGrpSpPr/>
            <p:nvPr/>
          </p:nvGrpSpPr>
          <p:grpSpPr>
            <a:xfrm>
              <a:off x="9529495" y="2048006"/>
              <a:ext cx="1113230" cy="620262"/>
              <a:chOff x="9474262" y="1895811"/>
              <a:chExt cx="1113230" cy="620262"/>
            </a:xfrm>
          </p:grpSpPr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598D91EB-F452-1AFB-F06F-51E04CD833D6}"/>
                  </a:ext>
                </a:extLst>
              </p:cNvPr>
              <p:cNvSpPr txBox="1"/>
              <p:nvPr/>
            </p:nvSpPr>
            <p:spPr>
              <a:xfrm>
                <a:off x="9852673" y="1895811"/>
                <a:ext cx="32573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C00000"/>
                    </a:solidFill>
                  </a:rPr>
                  <a:t>BX</a:t>
                </a:r>
              </a:p>
            </p:txBody>
          </p: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862809A3-AABE-914A-5CFA-CC8F19B7BFE0}"/>
                  </a:ext>
                </a:extLst>
              </p:cNvPr>
              <p:cNvSpPr txBox="1"/>
              <p:nvPr/>
            </p:nvSpPr>
            <p:spPr>
              <a:xfrm>
                <a:off x="9474262" y="2188074"/>
                <a:ext cx="109584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/>
                  <a:t>w/</a:t>
                </a:r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9BAE3CF6-3E40-D766-1A00-A45EC3A80038}"/>
                  </a:ext>
                </a:extLst>
              </p:cNvPr>
              <p:cNvSpPr txBox="1"/>
              <p:nvPr/>
            </p:nvSpPr>
            <p:spPr>
              <a:xfrm>
                <a:off x="9491650" y="2285241"/>
                <a:ext cx="109584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 err="1"/>
                  <a:t>irreversibilities</a:t>
                </a:r>
                <a:endParaRPr lang="en-US" sz="900" dirty="0"/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59956DE3-DDD0-B6A8-FD8E-E1D84C419B82}"/>
                </a:ext>
              </a:extLst>
            </p:cNvPr>
            <p:cNvSpPr txBox="1"/>
            <p:nvPr/>
          </p:nvSpPr>
          <p:spPr>
            <a:xfrm>
              <a:off x="9701427" y="2150728"/>
              <a:ext cx="75612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 err="1"/>
                <a:t>m</a:t>
              </a:r>
              <a:r>
                <a:rPr lang="en-US" sz="900" dirty="0" err="1"/>
                <a:t>&amp;</a:t>
              </a:r>
              <a:r>
                <a:rPr lang="en-US" sz="900" i="1" dirty="0" err="1"/>
                <a:t>Q</a:t>
              </a:r>
              <a:endParaRPr lang="en-US" sz="900" i="1" dirty="0"/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54947652-60FA-2D82-6852-DE0A86203E25}"/>
                </a:ext>
              </a:extLst>
            </p:cNvPr>
            <p:cNvSpPr txBox="1"/>
            <p:nvPr/>
          </p:nvSpPr>
          <p:spPr>
            <a:xfrm>
              <a:off x="9742171" y="2251513"/>
              <a:ext cx="67023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losses;</a:t>
              </a:r>
            </a:p>
          </p:txBody>
        </p:sp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2367041-5763-6700-E30F-11E0DAFC464C}"/>
              </a:ext>
            </a:extLst>
          </p:cNvPr>
          <p:cNvSpPr/>
          <p:nvPr/>
        </p:nvSpPr>
        <p:spPr>
          <a:xfrm>
            <a:off x="646335" y="935167"/>
            <a:ext cx="869072" cy="5508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Endogenize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mass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losses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BC81215-1DDB-28DE-4E64-5DC8E4D02410}"/>
              </a:ext>
            </a:extLst>
          </p:cNvPr>
          <p:cNvSpPr/>
          <p:nvPr/>
        </p:nvSpPr>
        <p:spPr>
          <a:xfrm>
            <a:off x="2148578" y="237408"/>
            <a:ext cx="817961" cy="114918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C00000"/>
                </a:solidFill>
              </a:rPr>
              <a:t>M</a:t>
            </a:r>
            <a:r>
              <a:rPr lang="en-US" sz="1000" dirty="0">
                <a:solidFill>
                  <a:schemeClr val="tx1"/>
                </a:solidFill>
              </a:rPr>
              <a:t>×</a:t>
            </a:r>
            <a:r>
              <a:rPr lang="en-US" sz="1000" b="1" dirty="0">
                <a:solidFill>
                  <a:schemeClr val="accent6"/>
                </a:solidFill>
              </a:rPr>
              <a:t>H</a:t>
            </a:r>
            <a:r>
              <a:rPr lang="en-US" sz="1000" dirty="0">
                <a:solidFill>
                  <a:schemeClr val="tx1"/>
                </a:solidFill>
              </a:rPr>
              <a:t>/</a:t>
            </a:r>
            <a:r>
              <a:rPr lang="en-US" sz="1000" b="1" dirty="0">
                <a:solidFill>
                  <a:schemeClr val="accent6"/>
                </a:solidFill>
              </a:rPr>
              <a:t>MW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785CB3C6-68D7-1006-C893-F2D46CE40DC2}"/>
              </a:ext>
            </a:extLst>
          </p:cNvPr>
          <p:cNvSpPr/>
          <p:nvPr/>
        </p:nvSpPr>
        <p:spPr>
          <a:xfrm>
            <a:off x="6024819" y="182341"/>
            <a:ext cx="933808" cy="7355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Calculate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exergy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of </a:t>
            </a:r>
            <a:r>
              <a:rPr lang="en-US" sz="1000" i="1" dirty="0">
                <a:solidFill>
                  <a:schemeClr val="tx1"/>
                </a:solidFill>
              </a:rPr>
              <a:t>Q</a:t>
            </a:r>
            <a:r>
              <a:rPr lang="en-US" sz="1000" dirty="0">
                <a:solidFill>
                  <a:schemeClr val="tx1"/>
                </a:solidFill>
              </a:rPr>
              <a:t> losses</a:t>
            </a:r>
            <a:endParaRPr lang="en-US" sz="1000" baseline="-25000" dirty="0">
              <a:solidFill>
                <a:schemeClr val="tx1"/>
              </a:solidFill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41AF8C47-0C2C-9B40-75C5-92E418970AAF}"/>
              </a:ext>
            </a:extLst>
          </p:cNvPr>
          <p:cNvSpPr/>
          <p:nvPr/>
        </p:nvSpPr>
        <p:spPr>
          <a:xfrm>
            <a:off x="4977370" y="536579"/>
            <a:ext cx="712177" cy="5508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Extract </a:t>
            </a:r>
          </a:p>
          <a:p>
            <a:pPr algn="ctr"/>
            <a:r>
              <a:rPr lang="en-US" sz="1000" i="1" dirty="0">
                <a:solidFill>
                  <a:schemeClr val="tx1"/>
                </a:solidFill>
              </a:rPr>
              <a:t>Q</a:t>
            </a:r>
            <a:r>
              <a:rPr lang="en-US" sz="1000" dirty="0">
                <a:solidFill>
                  <a:schemeClr val="tx1"/>
                </a:solidFill>
              </a:rPr>
              <a:t> losses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BCF1E6-7055-D534-5A8D-96A37113606E}"/>
              </a:ext>
            </a:extLst>
          </p:cNvPr>
          <p:cNvSpPr/>
          <p:nvPr/>
        </p:nvSpPr>
        <p:spPr>
          <a:xfrm>
            <a:off x="7581567" y="399274"/>
            <a:ext cx="817961" cy="136815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rgbClr val="C00000"/>
                </a:solidFill>
              </a:rPr>
              <a:t>B</a:t>
            </a:r>
            <a:r>
              <a:rPr lang="en-US" sz="1000" dirty="0" err="1">
                <a:solidFill>
                  <a:schemeClr val="tx1"/>
                </a:solidFill>
              </a:rPr>
              <a:t>+</a:t>
            </a:r>
            <a:r>
              <a:rPr lang="en-US" sz="1000" b="1" dirty="0" err="1">
                <a:solidFill>
                  <a:schemeClr val="accent5"/>
                </a:solidFill>
              </a:rPr>
              <a:t>x</a:t>
            </a:r>
            <a:r>
              <a:rPr lang="en-US" sz="1000" baseline="-25000" dirty="0" err="1">
                <a:solidFill>
                  <a:schemeClr val="accent5"/>
                </a:solidFill>
              </a:rPr>
              <a:t>loss</a:t>
            </a:r>
            <a:endParaRPr lang="en-US" sz="1000" baseline="-25000" dirty="0">
              <a:solidFill>
                <a:schemeClr val="accent5"/>
              </a:solidFill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CD4E78A-2E5F-319F-5D81-9EA1B040B5B2}"/>
              </a:ext>
            </a:extLst>
          </p:cNvPr>
          <p:cNvSpPr/>
          <p:nvPr/>
        </p:nvSpPr>
        <p:spPr>
          <a:xfrm>
            <a:off x="3559964" y="536579"/>
            <a:ext cx="947451" cy="5508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Endogenize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energy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losses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022FB8DA-841D-FE1A-F35A-09E4261B0B89}"/>
              </a:ext>
            </a:extLst>
          </p:cNvPr>
          <p:cNvSpPr/>
          <p:nvPr/>
        </p:nvSpPr>
        <p:spPr>
          <a:xfrm>
            <a:off x="3559796" y="2827020"/>
            <a:ext cx="974387" cy="5508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Endogenize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energy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losses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88A7EB5D-BC8B-1BD6-FB29-0AA50385D914}"/>
              </a:ext>
            </a:extLst>
          </p:cNvPr>
          <p:cNvSpPr/>
          <p:nvPr/>
        </p:nvSpPr>
        <p:spPr>
          <a:xfrm>
            <a:off x="4974416" y="2827923"/>
            <a:ext cx="712177" cy="5508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Extract </a:t>
            </a:r>
          </a:p>
          <a:p>
            <a:pPr algn="ctr"/>
            <a:r>
              <a:rPr lang="en-US" sz="1000" i="1" dirty="0">
                <a:solidFill>
                  <a:schemeClr val="tx1"/>
                </a:solidFill>
              </a:rPr>
              <a:t>Q</a:t>
            </a:r>
            <a:r>
              <a:rPr lang="en-US" sz="1000" dirty="0">
                <a:solidFill>
                  <a:schemeClr val="tx1"/>
                </a:solidFill>
              </a:rPr>
              <a:t> losses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A92129E4-1179-9742-4964-7E5601F940C2}"/>
              </a:ext>
            </a:extLst>
          </p:cNvPr>
          <p:cNvSpPr/>
          <p:nvPr/>
        </p:nvSpPr>
        <p:spPr>
          <a:xfrm>
            <a:off x="6016052" y="2473685"/>
            <a:ext cx="933808" cy="7355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Calculate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exergy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of </a:t>
            </a:r>
            <a:r>
              <a:rPr lang="en-US" sz="1000" i="1" dirty="0">
                <a:solidFill>
                  <a:schemeClr val="tx1"/>
                </a:solidFill>
              </a:rPr>
              <a:t>Q</a:t>
            </a:r>
            <a:r>
              <a:rPr lang="en-US" sz="1000" dirty="0">
                <a:solidFill>
                  <a:schemeClr val="tx1"/>
                </a:solidFill>
              </a:rPr>
              <a:t> losses</a:t>
            </a:r>
            <a:endParaRPr lang="en-US" sz="1000" baseline="-25000" dirty="0">
              <a:solidFill>
                <a:schemeClr val="tx1"/>
              </a:solidFill>
            </a:endParaRP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DD8B9EFF-3A7E-6642-DD42-B25AFBD08028}"/>
              </a:ext>
            </a:extLst>
          </p:cNvPr>
          <p:cNvSpPr/>
          <p:nvPr/>
        </p:nvSpPr>
        <p:spPr>
          <a:xfrm>
            <a:off x="6087408" y="3341244"/>
            <a:ext cx="817961" cy="5664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rgbClr val="C00000"/>
                </a:solidFill>
              </a:rPr>
              <a:t>E</a:t>
            </a:r>
            <a:r>
              <a:rPr lang="en-US" sz="1000" dirty="0" err="1">
                <a:solidFill>
                  <a:schemeClr val="tx1"/>
                </a:solidFill>
              </a:rPr>
              <a:t>×</a:t>
            </a:r>
            <a:r>
              <a:rPr lang="en-US" sz="1000" b="1" dirty="0" err="1">
                <a:solidFill>
                  <a:schemeClr val="accent6"/>
                </a:solidFill>
                <a:latin typeface="Symbol" pitchFamily="2" charset="2"/>
              </a:rPr>
              <a:t>f</a:t>
            </a:r>
            <a:r>
              <a:rPr lang="en-US" sz="1000" baseline="-25000" dirty="0" err="1">
                <a:solidFill>
                  <a:schemeClr val="accent6"/>
                </a:solidFill>
                <a:latin typeface="Aptos" panose="020B0004020202020204" pitchFamily="34" charset="0"/>
              </a:rPr>
              <a:t>e</a:t>
            </a:r>
            <a:endParaRPr lang="en-US" sz="1000" baseline="-25000" dirty="0">
              <a:solidFill>
                <a:schemeClr val="accent6"/>
              </a:solidFill>
              <a:latin typeface="Aptos" panose="020B0004020202020204" pitchFamily="34" charset="0"/>
            </a:endParaRPr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8A622D71-046D-38BC-867B-D593DCB89071}"/>
              </a:ext>
            </a:extLst>
          </p:cNvPr>
          <p:cNvSpPr/>
          <p:nvPr/>
        </p:nvSpPr>
        <p:spPr>
          <a:xfrm>
            <a:off x="7596632" y="2626281"/>
            <a:ext cx="817961" cy="129039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rgbClr val="C00000"/>
                </a:solidFill>
              </a:rPr>
              <a:t>X</a:t>
            </a:r>
            <a:r>
              <a:rPr lang="en-US" sz="1000" dirty="0" err="1">
                <a:solidFill>
                  <a:schemeClr val="tx1"/>
                </a:solidFill>
              </a:rPr>
              <a:t>+</a:t>
            </a:r>
            <a:r>
              <a:rPr lang="en-US" sz="1000" b="1" dirty="0" err="1">
                <a:solidFill>
                  <a:schemeClr val="accent5"/>
                </a:solidFill>
              </a:rPr>
              <a:t>x</a:t>
            </a:r>
            <a:r>
              <a:rPr lang="en-US" sz="1000" baseline="-25000" dirty="0" err="1">
                <a:solidFill>
                  <a:schemeClr val="accent5"/>
                </a:solidFill>
              </a:rPr>
              <a:t>loss</a:t>
            </a:r>
            <a:endParaRPr lang="en-US" sz="1000" baseline="-25000" dirty="0">
              <a:solidFill>
                <a:schemeClr val="accent5"/>
              </a:solidFill>
            </a:endParaRPr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54CC7EEE-7BF9-E35A-3941-6811F8EFD231}"/>
              </a:ext>
            </a:extLst>
          </p:cNvPr>
          <p:cNvSpPr/>
          <p:nvPr/>
        </p:nvSpPr>
        <p:spPr>
          <a:xfrm>
            <a:off x="8875432" y="968983"/>
            <a:ext cx="817961" cy="246001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C00000"/>
                </a:solidFill>
              </a:rPr>
              <a:t>B</a:t>
            </a:r>
            <a:r>
              <a:rPr lang="en-US" sz="1000" dirty="0">
                <a:solidFill>
                  <a:schemeClr val="tx1"/>
                </a:solidFill>
              </a:rPr>
              <a:t>+</a:t>
            </a:r>
            <a:r>
              <a:rPr lang="en-US" sz="1000" b="1" dirty="0">
                <a:solidFill>
                  <a:srgbClr val="C00000"/>
                </a:solidFill>
              </a:rPr>
              <a:t>X</a:t>
            </a:r>
            <a:endParaRPr lang="en-US" sz="1000" baseline="-25000" dirty="0">
              <a:solidFill>
                <a:schemeClr val="accent6"/>
              </a:solidFill>
            </a:endParaRPr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61C69B5C-E89B-3811-8AB2-E2DED543A388}"/>
              </a:ext>
            </a:extLst>
          </p:cNvPr>
          <p:cNvSpPr/>
          <p:nvPr/>
        </p:nvSpPr>
        <p:spPr>
          <a:xfrm>
            <a:off x="10482786" y="1923614"/>
            <a:ext cx="869072" cy="5508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Endogenize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exergy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imbalance</a:t>
            </a:r>
          </a:p>
        </p:txBody>
      </p: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3F0048C0-BC6F-55FF-153B-7D674F9B9FE4}"/>
              </a:ext>
            </a:extLst>
          </p:cNvPr>
          <p:cNvCxnSpPr>
            <a:cxnSpLocks/>
          </p:cNvCxnSpPr>
          <p:nvPr/>
        </p:nvCxnSpPr>
        <p:spPr>
          <a:xfrm flipH="1">
            <a:off x="2729948" y="2199861"/>
            <a:ext cx="595022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BD0935E8-DDD3-F0E4-4FF2-2E1F977CE5F3}"/>
              </a:ext>
            </a:extLst>
          </p:cNvPr>
          <p:cNvSpPr txBox="1"/>
          <p:nvPr/>
        </p:nvSpPr>
        <p:spPr>
          <a:xfrm>
            <a:off x="2975115" y="1928193"/>
            <a:ext cx="2709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Material conversion chain (MCC)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DFA1C4A4-5FB3-7A3D-7442-AA7ABD0C0848}"/>
              </a:ext>
            </a:extLst>
          </p:cNvPr>
          <p:cNvSpPr txBox="1"/>
          <p:nvPr/>
        </p:nvSpPr>
        <p:spPr>
          <a:xfrm>
            <a:off x="2981741" y="2160104"/>
            <a:ext cx="25535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Energy conversion chain (ECC)</a:t>
            </a:r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CE036691-6600-C905-3A70-092300AE5B01}"/>
              </a:ext>
            </a:extLst>
          </p:cNvPr>
          <p:cNvCxnSpPr>
            <a:cxnSpLocks/>
          </p:cNvCxnSpPr>
          <p:nvPr/>
        </p:nvCxnSpPr>
        <p:spPr>
          <a:xfrm flipV="1">
            <a:off x="3024303" y="1967947"/>
            <a:ext cx="0" cy="207161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EA53A5B3-B92F-4DA1-ACD9-CC675F2053B8}"/>
              </a:ext>
            </a:extLst>
          </p:cNvPr>
          <p:cNvCxnSpPr>
            <a:cxnSpLocks/>
          </p:cNvCxnSpPr>
          <p:nvPr/>
        </p:nvCxnSpPr>
        <p:spPr>
          <a:xfrm>
            <a:off x="3024303" y="2232989"/>
            <a:ext cx="0" cy="207161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id="{12AD1569-19FE-BF4F-C7DD-176334D998A6}"/>
              </a:ext>
            </a:extLst>
          </p:cNvPr>
          <p:cNvSpPr txBox="1"/>
          <p:nvPr/>
        </p:nvSpPr>
        <p:spPr>
          <a:xfrm>
            <a:off x="9743658" y="2753139"/>
            <a:ext cx="2346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Unified material and energy 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conversion chain (BXCC)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5332A6-5A90-DFD9-7088-F584A123CA3F}"/>
              </a:ext>
            </a:extLst>
          </p:cNvPr>
          <p:cNvSpPr txBox="1"/>
          <p:nvPr/>
        </p:nvSpPr>
        <p:spPr>
          <a:xfrm>
            <a:off x="4335831" y="2797701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257610-4B71-50E5-15D2-6F87839FC46F}"/>
              </a:ext>
            </a:extLst>
          </p:cNvPr>
          <p:cNvSpPr txBox="1"/>
          <p:nvPr/>
        </p:nvSpPr>
        <p:spPr>
          <a:xfrm>
            <a:off x="5487410" y="2792655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CF3FDF9-966E-E42A-FAD5-D60D902ACB95}"/>
              </a:ext>
            </a:extLst>
          </p:cNvPr>
          <p:cNvSpPr txBox="1"/>
          <p:nvPr/>
        </p:nvSpPr>
        <p:spPr>
          <a:xfrm>
            <a:off x="6741934" y="2448493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79FA8EA-10C3-15DD-195B-5AEAADE1B290}"/>
              </a:ext>
            </a:extLst>
          </p:cNvPr>
          <p:cNvSpPr txBox="1"/>
          <p:nvPr/>
        </p:nvSpPr>
        <p:spPr>
          <a:xfrm>
            <a:off x="6712665" y="3315457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B55F2B-0099-FC45-37BC-65D48EA18F32}"/>
              </a:ext>
            </a:extLst>
          </p:cNvPr>
          <p:cNvSpPr txBox="1"/>
          <p:nvPr/>
        </p:nvSpPr>
        <p:spPr>
          <a:xfrm>
            <a:off x="8208406" y="2606949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967195C-0556-D8DE-6ED0-F6CE82F86BD3}"/>
              </a:ext>
            </a:extLst>
          </p:cNvPr>
          <p:cNvSpPr txBox="1"/>
          <p:nvPr/>
        </p:nvSpPr>
        <p:spPr>
          <a:xfrm>
            <a:off x="1329209" y="896232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4D0FB2B-C46F-8E20-D9AB-C002EC09160E}"/>
              </a:ext>
            </a:extLst>
          </p:cNvPr>
          <p:cNvSpPr txBox="1"/>
          <p:nvPr/>
        </p:nvSpPr>
        <p:spPr>
          <a:xfrm>
            <a:off x="2759347" y="219011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BD157B3-6FFB-955F-3C8C-FBCB403DEA4E}"/>
              </a:ext>
            </a:extLst>
          </p:cNvPr>
          <p:cNvSpPr txBox="1"/>
          <p:nvPr/>
        </p:nvSpPr>
        <p:spPr>
          <a:xfrm>
            <a:off x="4310598" y="49858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1B55D1D-6752-A171-3593-95A5154425D9}"/>
              </a:ext>
            </a:extLst>
          </p:cNvPr>
          <p:cNvSpPr txBox="1"/>
          <p:nvPr/>
        </p:nvSpPr>
        <p:spPr>
          <a:xfrm>
            <a:off x="5498511" y="49959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E612AE6-167A-B849-1513-7EF9BF82A341}"/>
              </a:ext>
            </a:extLst>
          </p:cNvPr>
          <p:cNvSpPr txBox="1"/>
          <p:nvPr/>
        </p:nvSpPr>
        <p:spPr>
          <a:xfrm>
            <a:off x="6698532" y="161484"/>
            <a:ext cx="3064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10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2163375-6BC0-F665-8410-0A2BA8655395}"/>
              </a:ext>
            </a:extLst>
          </p:cNvPr>
          <p:cNvSpPr txBox="1"/>
          <p:nvPr/>
        </p:nvSpPr>
        <p:spPr>
          <a:xfrm>
            <a:off x="6681376" y="1283288"/>
            <a:ext cx="3064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11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6A1862B-48B9-A030-20B8-257B1C8959A1}"/>
              </a:ext>
            </a:extLst>
          </p:cNvPr>
          <p:cNvSpPr txBox="1"/>
          <p:nvPr/>
        </p:nvSpPr>
        <p:spPr>
          <a:xfrm>
            <a:off x="8131701" y="378473"/>
            <a:ext cx="3064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12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6DB5840-047E-874A-4EC2-20D735A5A740}"/>
              </a:ext>
            </a:extLst>
          </p:cNvPr>
          <p:cNvSpPr txBox="1"/>
          <p:nvPr/>
        </p:nvSpPr>
        <p:spPr>
          <a:xfrm>
            <a:off x="9434670" y="954767"/>
            <a:ext cx="3064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13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D00565E-CFCA-127F-8093-B3C6B48E0524}"/>
              </a:ext>
            </a:extLst>
          </p:cNvPr>
          <p:cNvSpPr txBox="1"/>
          <p:nvPr/>
        </p:nvSpPr>
        <p:spPr>
          <a:xfrm>
            <a:off x="11113088" y="1883303"/>
            <a:ext cx="2936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71084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C2151-2E8F-5CFF-07E1-4734DEE0A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Box 202">
            <a:extLst>
              <a:ext uri="{FF2B5EF4-FFF2-40B4-BE49-F238E27FC236}">
                <a16:creationId xmlns:a16="http://schemas.microsoft.com/office/drawing/2014/main" id="{87627FAF-1342-C0E5-E936-F13C2E78C70F}"/>
              </a:ext>
            </a:extLst>
          </p:cNvPr>
          <p:cNvSpPr txBox="1"/>
          <p:nvPr/>
        </p:nvSpPr>
        <p:spPr>
          <a:xfrm>
            <a:off x="8256931" y="1081367"/>
            <a:ext cx="9328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w/ </a:t>
            </a:r>
            <a:r>
              <a:rPr lang="en-US" sz="900" i="1" dirty="0"/>
              <a:t>Q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93F8363A-1002-41C4-02F0-FB2795880B43}"/>
              </a:ext>
            </a:extLst>
          </p:cNvPr>
          <p:cNvSpPr txBox="1"/>
          <p:nvPr/>
        </p:nvSpPr>
        <p:spPr>
          <a:xfrm>
            <a:off x="8578497" y="991618"/>
            <a:ext cx="2568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dirty="0">
                <a:solidFill>
                  <a:srgbClr val="C00000"/>
                </a:solidFill>
              </a:rPr>
              <a:t>B</a:t>
            </a:r>
            <a:endParaRPr lang="en-US" sz="900" b="1" baseline="-25000" dirty="0">
              <a:solidFill>
                <a:srgbClr val="C00000"/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B6F98D7-89C1-2120-3824-094CC1240159}"/>
              </a:ext>
            </a:extLst>
          </p:cNvPr>
          <p:cNvSpPr txBox="1"/>
          <p:nvPr/>
        </p:nvSpPr>
        <p:spPr>
          <a:xfrm>
            <a:off x="6784102" y="1600200"/>
            <a:ext cx="434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dirty="0" err="1">
                <a:solidFill>
                  <a:srgbClr val="C00000"/>
                </a:solidFill>
              </a:rPr>
              <a:t>B</a:t>
            </a:r>
            <a:r>
              <a:rPr lang="en-US" sz="900" b="1" baseline="-25000" dirty="0" err="1">
                <a:solidFill>
                  <a:srgbClr val="C00000"/>
                </a:solidFill>
              </a:rPr>
              <a:t>elect</a:t>
            </a:r>
            <a:endParaRPr lang="en-US" sz="900" b="1" baseline="-25000" dirty="0">
              <a:solidFill>
                <a:srgbClr val="C00000"/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9027FDA1-B51A-B735-7D2C-9BCAFE9B7A90}"/>
              </a:ext>
            </a:extLst>
          </p:cNvPr>
          <p:cNvSpPr txBox="1"/>
          <p:nvPr/>
        </p:nvSpPr>
        <p:spPr>
          <a:xfrm>
            <a:off x="6720477" y="990600"/>
            <a:ext cx="4603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dirty="0" err="1">
                <a:solidFill>
                  <a:srgbClr val="C00000"/>
                </a:solidFill>
              </a:rPr>
              <a:t>B</a:t>
            </a:r>
            <a:r>
              <a:rPr lang="en-US" sz="900" b="1" baseline="-25000" dirty="0" err="1">
                <a:solidFill>
                  <a:srgbClr val="C00000"/>
                </a:solidFill>
              </a:rPr>
              <a:t>Qloss</a:t>
            </a:r>
            <a:endParaRPr lang="en-US" sz="900" b="1" baseline="-25000" dirty="0">
              <a:solidFill>
                <a:srgbClr val="C00000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7FE7C56-BD8F-4AD4-408C-5968818CFE08}"/>
              </a:ext>
            </a:extLst>
          </p:cNvPr>
          <p:cNvSpPr txBox="1"/>
          <p:nvPr/>
        </p:nvSpPr>
        <p:spPr>
          <a:xfrm>
            <a:off x="6746846" y="278601"/>
            <a:ext cx="4475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dirty="0" err="1">
                <a:solidFill>
                  <a:srgbClr val="C00000"/>
                </a:solidFill>
              </a:rPr>
              <a:t>B</a:t>
            </a:r>
            <a:r>
              <a:rPr lang="en-US" sz="900" b="1" baseline="-25000" dirty="0" err="1">
                <a:solidFill>
                  <a:srgbClr val="C00000"/>
                </a:solidFill>
              </a:rPr>
              <a:t>mass</a:t>
            </a:r>
            <a:endParaRPr lang="en-US" sz="900" b="1" baseline="-25000" dirty="0">
              <a:solidFill>
                <a:srgbClr val="C0000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25B1856-AF8F-B16E-2A1B-3E878AB0AC9D}"/>
              </a:ext>
            </a:extLst>
          </p:cNvPr>
          <p:cNvSpPr txBox="1"/>
          <p:nvPr/>
        </p:nvSpPr>
        <p:spPr>
          <a:xfrm>
            <a:off x="5688017" y="856451"/>
            <a:ext cx="4171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dirty="0" err="1">
                <a:solidFill>
                  <a:srgbClr val="C00000"/>
                </a:solidFill>
              </a:rPr>
              <a:t>Q</a:t>
            </a:r>
            <a:r>
              <a:rPr lang="en-US" sz="900" b="1" baseline="-25000" dirty="0" err="1">
                <a:solidFill>
                  <a:srgbClr val="C00000"/>
                </a:solidFill>
              </a:rPr>
              <a:t>loss</a:t>
            </a:r>
            <a:endParaRPr lang="en-US" sz="900" b="1" baseline="-25000" dirty="0">
              <a:solidFill>
                <a:srgbClr val="C00000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F344C8E-8FB1-4C06-83BC-6877A3266E26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2966539" y="812001"/>
            <a:ext cx="69741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FAB214-03D4-0F96-C5D2-2CA055E0E02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515407" y="401120"/>
            <a:ext cx="63144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FAE256A-3CB0-5872-1576-631F2DCD77DE}"/>
              </a:ext>
            </a:extLst>
          </p:cNvPr>
          <p:cNvCxnSpPr>
            <a:cxnSpLocks/>
          </p:cNvCxnSpPr>
          <p:nvPr/>
        </p:nvCxnSpPr>
        <p:spPr>
          <a:xfrm>
            <a:off x="1502617" y="1153132"/>
            <a:ext cx="632469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787F74-6058-1FB3-1CFA-D793DCC266D8}"/>
              </a:ext>
            </a:extLst>
          </p:cNvPr>
          <p:cNvCxnSpPr>
            <a:cxnSpLocks/>
          </p:cNvCxnSpPr>
          <p:nvPr/>
        </p:nvCxnSpPr>
        <p:spPr>
          <a:xfrm>
            <a:off x="165695" y="412380"/>
            <a:ext cx="46980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564BED-A970-CA5F-FF69-8D26135C76B6}"/>
              </a:ext>
            </a:extLst>
          </p:cNvPr>
          <p:cNvCxnSpPr>
            <a:cxnSpLocks/>
          </p:cNvCxnSpPr>
          <p:nvPr/>
        </p:nvCxnSpPr>
        <p:spPr>
          <a:xfrm>
            <a:off x="1510576" y="762444"/>
            <a:ext cx="626154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2CDF57E-385F-7CBA-0E25-280477F061BC}"/>
              </a:ext>
            </a:extLst>
          </p:cNvPr>
          <p:cNvGrpSpPr/>
          <p:nvPr/>
        </p:nvGrpSpPr>
        <p:grpSpPr>
          <a:xfrm>
            <a:off x="1331964" y="718180"/>
            <a:ext cx="928257" cy="327211"/>
            <a:chOff x="1788992" y="363682"/>
            <a:chExt cx="928257" cy="32721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91B6C9-4F7E-0A98-F6E1-249A7C04EE14}"/>
                </a:ext>
              </a:extLst>
            </p:cNvPr>
            <p:cNvSpPr txBox="1"/>
            <p:nvPr/>
          </p:nvSpPr>
          <p:spPr>
            <a:xfrm>
              <a:off x="2046262" y="363682"/>
              <a:ext cx="38824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6"/>
                  </a:solidFill>
                </a:rPr>
                <a:t>MW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50CDFBD-671E-BF04-EAD1-C64898DC6867}"/>
                </a:ext>
              </a:extLst>
            </p:cNvPr>
            <p:cNvSpPr txBox="1"/>
            <p:nvPr/>
          </p:nvSpPr>
          <p:spPr>
            <a:xfrm>
              <a:off x="1788992" y="460061"/>
              <a:ext cx="92825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/>
                <a:t>m</a:t>
              </a:r>
              <a:r>
                <a:rPr lang="en-US" sz="900" dirty="0"/>
                <a:t> losses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A11646-2E87-0BAF-B254-2268995CC29B}"/>
              </a:ext>
            </a:extLst>
          </p:cNvPr>
          <p:cNvGrpSpPr/>
          <p:nvPr/>
        </p:nvGrpSpPr>
        <p:grpSpPr>
          <a:xfrm>
            <a:off x="1331964" y="1098875"/>
            <a:ext cx="909847" cy="319119"/>
            <a:chOff x="1788992" y="744377"/>
            <a:chExt cx="909847" cy="31911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6522107-57B4-504D-5599-D54B7C08ABDC}"/>
                </a:ext>
              </a:extLst>
            </p:cNvPr>
            <p:cNvSpPr txBox="1"/>
            <p:nvPr/>
          </p:nvSpPr>
          <p:spPr>
            <a:xfrm>
              <a:off x="2101049" y="744377"/>
              <a:ext cx="26641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6"/>
                  </a:solidFill>
                </a:rPr>
                <a:t>H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14DC55B-F1C5-A981-37E9-1D5DEB534685}"/>
                </a:ext>
              </a:extLst>
            </p:cNvPr>
            <p:cNvSpPr txBox="1"/>
            <p:nvPr/>
          </p:nvSpPr>
          <p:spPr>
            <a:xfrm>
              <a:off x="1788992" y="832664"/>
              <a:ext cx="90984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/>
                <a:t>m</a:t>
              </a:r>
              <a:r>
                <a:rPr lang="en-US" sz="900" dirty="0"/>
                <a:t> losses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05F3B9-7685-C0CB-E52B-BDFCC2D70E22}"/>
              </a:ext>
            </a:extLst>
          </p:cNvPr>
          <p:cNvGrpSpPr/>
          <p:nvPr/>
        </p:nvGrpSpPr>
        <p:grpSpPr>
          <a:xfrm>
            <a:off x="1362292" y="348311"/>
            <a:ext cx="879721" cy="416146"/>
            <a:chOff x="1845884" y="1157780"/>
            <a:chExt cx="879721" cy="41614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6F7295E-4F38-4606-E997-FB4382E800C3}"/>
                </a:ext>
              </a:extLst>
            </p:cNvPr>
            <p:cNvSpPr txBox="1"/>
            <p:nvPr/>
          </p:nvSpPr>
          <p:spPr>
            <a:xfrm>
              <a:off x="2139046" y="1157780"/>
              <a:ext cx="2792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00000"/>
                  </a:solidFill>
                </a:rPr>
                <a:t>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E11A8EB-985A-BDC7-E0D9-D6A9D1CC0E37}"/>
                </a:ext>
              </a:extLst>
            </p:cNvPr>
            <p:cNvSpPr txBox="1"/>
            <p:nvPr/>
          </p:nvSpPr>
          <p:spPr>
            <a:xfrm>
              <a:off x="1845884" y="1252064"/>
              <a:ext cx="8746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/>
                <a:t>m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033B4CC7-0848-9708-7FA1-6857C747C99A}"/>
                </a:ext>
              </a:extLst>
            </p:cNvPr>
            <p:cNvSpPr txBox="1"/>
            <p:nvPr/>
          </p:nvSpPr>
          <p:spPr>
            <a:xfrm>
              <a:off x="1850996" y="1343094"/>
              <a:ext cx="8746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29488BE-C8B4-1907-9CC2-55297B9EAC58}"/>
              </a:ext>
            </a:extLst>
          </p:cNvPr>
          <p:cNvGrpSpPr/>
          <p:nvPr/>
        </p:nvGrpSpPr>
        <p:grpSpPr>
          <a:xfrm>
            <a:off x="-142357" y="356652"/>
            <a:ext cx="1023405" cy="416904"/>
            <a:chOff x="158356" y="1166121"/>
            <a:chExt cx="1023405" cy="41690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076A9C-63C5-4372-DD7C-2B3B30B297DB}"/>
                </a:ext>
              </a:extLst>
            </p:cNvPr>
            <p:cNvSpPr txBox="1"/>
            <p:nvPr/>
          </p:nvSpPr>
          <p:spPr>
            <a:xfrm>
              <a:off x="541459" y="1166121"/>
              <a:ext cx="2792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00000"/>
                  </a:solidFill>
                </a:rPr>
                <a:t>M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CDD1ECC-02EF-941E-ACC1-BC3703F2A660}"/>
                </a:ext>
              </a:extLst>
            </p:cNvPr>
            <p:cNvSpPr txBox="1"/>
            <p:nvPr/>
          </p:nvSpPr>
          <p:spPr>
            <a:xfrm>
              <a:off x="159381" y="1255026"/>
              <a:ext cx="10223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w/o </a:t>
              </a:r>
              <a:r>
                <a:rPr lang="en-US" sz="900" i="1" dirty="0"/>
                <a:t>m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22030926-2519-BB56-9A68-56154B9C41E3}"/>
                </a:ext>
              </a:extLst>
            </p:cNvPr>
            <p:cNvSpPr txBox="1"/>
            <p:nvPr/>
          </p:nvSpPr>
          <p:spPr>
            <a:xfrm>
              <a:off x="158356" y="1352193"/>
              <a:ext cx="10223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</a:t>
              </a: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889487FE-9D28-4294-1B48-AC5E89C2D0AC}"/>
              </a:ext>
            </a:extLst>
          </p:cNvPr>
          <p:cNvGrpSpPr/>
          <p:nvPr/>
        </p:nvGrpSpPr>
        <p:grpSpPr>
          <a:xfrm>
            <a:off x="5447243" y="353512"/>
            <a:ext cx="603152" cy="230832"/>
            <a:chOff x="3864936" y="1593639"/>
            <a:chExt cx="603152" cy="230832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30EB7601-9623-224D-7855-98AD74C473ED}"/>
                </a:ext>
              </a:extLst>
            </p:cNvPr>
            <p:cNvCxnSpPr>
              <a:cxnSpLocks/>
            </p:cNvCxnSpPr>
            <p:nvPr/>
          </p:nvCxnSpPr>
          <p:spPr>
            <a:xfrm>
              <a:off x="3864936" y="1651071"/>
              <a:ext cx="603152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C89BB78-88BC-9086-E906-0EA39790C770}"/>
                </a:ext>
              </a:extLst>
            </p:cNvPr>
            <p:cNvSpPr txBox="1"/>
            <p:nvPr/>
          </p:nvSpPr>
          <p:spPr>
            <a:xfrm>
              <a:off x="4007230" y="1593639"/>
              <a:ext cx="31130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 err="1">
                  <a:solidFill>
                    <a:schemeClr val="accent5"/>
                  </a:solidFill>
                  <a:latin typeface="Symbol" pitchFamily="2" charset="2"/>
                </a:rPr>
                <a:t>f</a:t>
              </a:r>
              <a:r>
                <a:rPr lang="en-US" sz="900" baseline="-25000" dirty="0" err="1">
                  <a:solidFill>
                    <a:schemeClr val="accent5"/>
                  </a:solidFill>
                  <a:latin typeface="Aptos" panose="020B0004020202020204" pitchFamily="34" charset="0"/>
                </a:rPr>
                <a:t>m</a:t>
              </a:r>
              <a:endParaRPr lang="en-US" sz="900" b="1" dirty="0">
                <a:solidFill>
                  <a:schemeClr val="accent5"/>
                </a:solidFill>
                <a:latin typeface="Symbol" pitchFamily="2" charset="2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B85A7CC-EBEF-87FD-D818-57836AFCE8A3}"/>
              </a:ext>
            </a:extLst>
          </p:cNvPr>
          <p:cNvGrpSpPr/>
          <p:nvPr/>
        </p:nvGrpSpPr>
        <p:grpSpPr>
          <a:xfrm>
            <a:off x="5339659" y="1173786"/>
            <a:ext cx="780064" cy="311549"/>
            <a:chOff x="451216" y="1299488"/>
            <a:chExt cx="780064" cy="311549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D2A90D6-0269-D06B-E47E-2DDB045D7203}"/>
                </a:ext>
              </a:extLst>
            </p:cNvPr>
            <p:cNvGrpSpPr/>
            <p:nvPr/>
          </p:nvGrpSpPr>
          <p:grpSpPr>
            <a:xfrm>
              <a:off x="451216" y="1299488"/>
              <a:ext cx="780064" cy="311549"/>
              <a:chOff x="-1773803" y="1420957"/>
              <a:chExt cx="780064" cy="311549"/>
            </a:xfrm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56ECB3E-C646-ED9B-53E2-786619E3E908}"/>
                  </a:ext>
                </a:extLst>
              </p:cNvPr>
              <p:cNvSpPr txBox="1"/>
              <p:nvPr/>
            </p:nvSpPr>
            <p:spPr>
              <a:xfrm>
                <a:off x="-1773803" y="1501674"/>
                <a:ext cx="78006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/>
                  <a:t>of </a:t>
                </a:r>
                <a:r>
                  <a:rPr lang="en-US" sz="900" i="1" dirty="0"/>
                  <a:t>Q</a:t>
                </a:r>
                <a:r>
                  <a:rPr lang="en-US" sz="900" dirty="0"/>
                  <a:t> losses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43A25E2A-A9A1-11FC-7F1A-F23AB7EBC5BF}"/>
                  </a:ext>
                </a:extLst>
              </p:cNvPr>
              <p:cNvSpPr txBox="1"/>
              <p:nvPr/>
            </p:nvSpPr>
            <p:spPr>
              <a:xfrm>
                <a:off x="-1515576" y="1420957"/>
                <a:ext cx="2263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chemeClr val="accent5"/>
                    </a:solidFill>
                  </a:rPr>
                  <a:t>t</a:t>
                </a:r>
              </a:p>
            </p:txBody>
          </p:sp>
        </p:grp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12D152C7-AE4E-12A8-1FB5-4DC7C84DF8F9}"/>
                </a:ext>
              </a:extLst>
            </p:cNvPr>
            <p:cNvCxnSpPr>
              <a:cxnSpLocks/>
            </p:cNvCxnSpPr>
            <p:nvPr/>
          </p:nvCxnSpPr>
          <p:spPr>
            <a:xfrm>
              <a:off x="555625" y="1356415"/>
              <a:ext cx="605307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21AF678-42F7-4A58-7DB1-AFA6A139AB52}"/>
              </a:ext>
            </a:extLst>
          </p:cNvPr>
          <p:cNvSpPr txBox="1"/>
          <p:nvPr/>
        </p:nvSpPr>
        <p:spPr>
          <a:xfrm>
            <a:off x="-38100" y="2937809"/>
            <a:ext cx="4278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/>
              <a:t>Key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EA3876-A9E9-8845-ACE0-AC1965BCD3A0}"/>
              </a:ext>
            </a:extLst>
          </p:cNvPr>
          <p:cNvSpPr txBox="1"/>
          <p:nvPr/>
        </p:nvSpPr>
        <p:spPr>
          <a:xfrm>
            <a:off x="128180" y="3215012"/>
            <a:ext cx="18982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C00000"/>
                </a:solidFill>
              </a:rPr>
              <a:t>M</a:t>
            </a:r>
            <a:r>
              <a:rPr lang="en-US" sz="900" dirty="0"/>
              <a:t>: mass matrices for the MCC [kg]</a:t>
            </a:r>
            <a:endParaRPr lang="en-US" sz="9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31589-6FEB-4F98-CA19-3D9BF36D87F5}"/>
              </a:ext>
            </a:extLst>
          </p:cNvPr>
          <p:cNvSpPr txBox="1"/>
          <p:nvPr/>
        </p:nvSpPr>
        <p:spPr>
          <a:xfrm>
            <a:off x="140246" y="3998742"/>
            <a:ext cx="19992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accent6"/>
                </a:solidFill>
              </a:rPr>
              <a:t>H</a:t>
            </a:r>
            <a:r>
              <a:rPr lang="en-US" sz="900" dirty="0"/>
              <a:t>: enthalpies for MCC flows [kJ/mol]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BAABDC-25CF-828B-4074-CE82DA90184D}"/>
              </a:ext>
            </a:extLst>
          </p:cNvPr>
          <p:cNvSpPr txBox="1"/>
          <p:nvPr/>
        </p:nvSpPr>
        <p:spPr>
          <a:xfrm>
            <a:off x="23643" y="4114805"/>
            <a:ext cx="25282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accent6"/>
                </a:solidFill>
              </a:rPr>
              <a:t>MW</a:t>
            </a:r>
            <a:r>
              <a:rPr lang="en-US" sz="900" dirty="0"/>
              <a:t>: molecular weights for MCC flows [kg/mol]</a:t>
            </a:r>
            <a:endParaRPr lang="en-US" sz="9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CA1B4-1B53-CFA5-717F-EB91940B4CDB}"/>
              </a:ext>
            </a:extLst>
          </p:cNvPr>
          <p:cNvSpPr txBox="1"/>
          <p:nvPr/>
        </p:nvSpPr>
        <p:spPr>
          <a:xfrm>
            <a:off x="7061" y="3090209"/>
            <a:ext cx="289134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C00000"/>
                </a:solidFill>
              </a:rPr>
              <a:t>Flow </a:t>
            </a:r>
            <a:r>
              <a:rPr lang="en-US" sz="900" b="1" dirty="0">
                <a:solidFill>
                  <a:srgbClr val="C00000"/>
                </a:solidFill>
              </a:rPr>
              <a:t>RUVY</a:t>
            </a:r>
            <a:r>
              <a:rPr lang="en-US" sz="900" dirty="0">
                <a:solidFill>
                  <a:srgbClr val="C00000"/>
                </a:solidFill>
              </a:rPr>
              <a:t> matrices</a:t>
            </a:r>
            <a:r>
              <a:rPr lang="en-US" sz="900" dirty="0"/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D168E-3093-87DE-9CDA-513E0DCA12BE}"/>
              </a:ext>
            </a:extLst>
          </p:cNvPr>
          <p:cNvSpPr txBox="1"/>
          <p:nvPr/>
        </p:nvSpPr>
        <p:spPr>
          <a:xfrm>
            <a:off x="7064" y="3865371"/>
            <a:ext cx="30476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6"/>
                </a:solidFill>
              </a:rPr>
              <a:t>Property </a:t>
            </a:r>
            <a:r>
              <a:rPr lang="en-US" sz="900" b="1" dirty="0">
                <a:solidFill>
                  <a:schemeClr val="accent6"/>
                </a:solidFill>
              </a:rPr>
              <a:t>RUVY</a:t>
            </a:r>
            <a:r>
              <a:rPr lang="en-US" sz="900" dirty="0">
                <a:solidFill>
                  <a:schemeClr val="accent6"/>
                </a:solidFill>
              </a:rPr>
              <a:t> matrices</a:t>
            </a:r>
            <a:r>
              <a:rPr lang="en-US" sz="900" dirty="0"/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0F81E1-3A6B-CAF2-C745-72FC42494CC1}"/>
              </a:ext>
            </a:extLst>
          </p:cNvPr>
          <p:cNvSpPr txBox="1"/>
          <p:nvPr/>
        </p:nvSpPr>
        <p:spPr>
          <a:xfrm>
            <a:off x="152728" y="3337058"/>
            <a:ext cx="23070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C00000"/>
                </a:solidFill>
              </a:rPr>
              <a:t>E</a:t>
            </a:r>
            <a:r>
              <a:rPr lang="en-US" sz="900" dirty="0"/>
              <a:t>: energy matrices for the MCC or ECC [kJ]</a:t>
            </a:r>
            <a:endParaRPr lang="en-US" sz="9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39964A-A781-B6A5-B001-8DB56A4C6CDE}"/>
              </a:ext>
            </a:extLst>
          </p:cNvPr>
          <p:cNvSpPr txBox="1"/>
          <p:nvPr/>
        </p:nvSpPr>
        <p:spPr>
          <a:xfrm>
            <a:off x="189342" y="4367725"/>
            <a:ext cx="20185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accent5"/>
                </a:solidFill>
              </a:rPr>
              <a:t>t</a:t>
            </a:r>
            <a:r>
              <a:rPr lang="en-US" sz="900" dirty="0"/>
              <a:t>: temperature vector for </a:t>
            </a:r>
            <a:r>
              <a:rPr lang="en-US" sz="900" i="1" dirty="0"/>
              <a:t>Q</a:t>
            </a:r>
            <a:r>
              <a:rPr lang="en-US" sz="900" dirty="0"/>
              <a:t> losses [K]</a:t>
            </a:r>
            <a:endParaRPr lang="en-US" sz="9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54E6FDE-F056-A140-201B-82941A23F2E9}"/>
              </a:ext>
            </a:extLst>
          </p:cNvPr>
          <p:cNvSpPr txBox="1"/>
          <p:nvPr/>
        </p:nvSpPr>
        <p:spPr>
          <a:xfrm>
            <a:off x="152728" y="3459178"/>
            <a:ext cx="19255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C00000"/>
                </a:solidFill>
              </a:rPr>
              <a:t>B</a:t>
            </a:r>
            <a:r>
              <a:rPr lang="en-US" sz="900" dirty="0"/>
              <a:t>: exergy matrices for the MCC [kJ]</a:t>
            </a:r>
            <a:endParaRPr lang="en-US" sz="9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77D4E9-A606-E85B-CEBA-B5444E8A6C97}"/>
              </a:ext>
            </a:extLst>
          </p:cNvPr>
          <p:cNvSpPr txBox="1"/>
          <p:nvPr/>
        </p:nvSpPr>
        <p:spPr>
          <a:xfrm>
            <a:off x="106812" y="4467752"/>
            <a:ext cx="24554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err="1">
                <a:solidFill>
                  <a:schemeClr val="accent5"/>
                </a:solidFill>
                <a:latin typeface="Symbol" pitchFamily="2" charset="2"/>
              </a:rPr>
              <a:t>f</a:t>
            </a:r>
            <a:r>
              <a:rPr lang="en-US" sz="900" baseline="-25000" dirty="0" err="1">
                <a:solidFill>
                  <a:schemeClr val="accent5"/>
                </a:solidFill>
                <a:latin typeface="Aptos" panose="020B0004020202020204" pitchFamily="34" charset="0"/>
              </a:rPr>
              <a:t>m</a:t>
            </a:r>
            <a:r>
              <a:rPr lang="en-US" sz="900" dirty="0"/>
              <a:t>: exergy-to-mass ratio for MCC flows [kJ/kg]</a:t>
            </a:r>
            <a:endParaRPr lang="en-US" sz="900" b="1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BFD2E6E-3EA7-2CC4-D6EA-74D227A08D56}"/>
              </a:ext>
            </a:extLst>
          </p:cNvPr>
          <p:cNvCxnSpPr>
            <a:cxnSpLocks/>
            <a:stCxn id="62" idx="3"/>
            <a:endCxn id="116" idx="1"/>
          </p:cNvCxnSpPr>
          <p:nvPr/>
        </p:nvCxnSpPr>
        <p:spPr>
          <a:xfrm>
            <a:off x="6256409" y="3367577"/>
            <a:ext cx="440233" cy="106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2951456-BB9B-F3EF-6BD7-ECDEB0FB288D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4657182" y="3367577"/>
            <a:ext cx="62484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025EFC4-E097-A9B9-58C7-98F2C915A501}"/>
              </a:ext>
            </a:extLst>
          </p:cNvPr>
          <p:cNvGrpSpPr/>
          <p:nvPr/>
        </p:nvGrpSpPr>
        <p:grpSpPr>
          <a:xfrm>
            <a:off x="6002484" y="3314768"/>
            <a:ext cx="882229" cy="424176"/>
            <a:chOff x="1855393" y="1157780"/>
            <a:chExt cx="882229" cy="424176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5740B21-43C8-2C49-B83E-3BF1BAAB551A}"/>
                </a:ext>
              </a:extLst>
            </p:cNvPr>
            <p:cNvSpPr txBox="1"/>
            <p:nvPr/>
          </p:nvSpPr>
          <p:spPr>
            <a:xfrm>
              <a:off x="2176739" y="1157780"/>
              <a:ext cx="25038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00000"/>
                  </a:solidFill>
                </a:rPr>
                <a:t>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71A3AA7-578D-80D5-C51F-3DCB66CEC20E}"/>
                </a:ext>
              </a:extLst>
            </p:cNvPr>
            <p:cNvSpPr txBox="1"/>
            <p:nvPr/>
          </p:nvSpPr>
          <p:spPr>
            <a:xfrm>
              <a:off x="1863013" y="1252064"/>
              <a:ext cx="8746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/>
                <a:t>Q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0903E9C3-5265-B9E2-15EC-93397D3A9C90}"/>
                </a:ext>
              </a:extLst>
            </p:cNvPr>
            <p:cNvSpPr txBox="1"/>
            <p:nvPr/>
          </p:nvSpPr>
          <p:spPr>
            <a:xfrm>
              <a:off x="1855393" y="1351124"/>
              <a:ext cx="8746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214D9B3-10A4-7033-A42A-ACE443388922}"/>
              </a:ext>
            </a:extLst>
          </p:cNvPr>
          <p:cNvGrpSpPr/>
          <p:nvPr/>
        </p:nvGrpSpPr>
        <p:grpSpPr>
          <a:xfrm>
            <a:off x="4375283" y="3333103"/>
            <a:ext cx="1047784" cy="421901"/>
            <a:chOff x="56514" y="1166121"/>
            <a:chExt cx="1047784" cy="421901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36D7E21-5EE3-0278-CD36-AD8EDBD8E9E5}"/>
                </a:ext>
              </a:extLst>
            </p:cNvPr>
            <p:cNvSpPr txBox="1"/>
            <p:nvPr/>
          </p:nvSpPr>
          <p:spPr>
            <a:xfrm>
              <a:off x="466394" y="1166121"/>
              <a:ext cx="25038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00000"/>
                  </a:solidFill>
                </a:rPr>
                <a:t>E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53E78B9-453E-5FFD-0BB7-BDEA48FC7A79}"/>
                </a:ext>
              </a:extLst>
            </p:cNvPr>
            <p:cNvSpPr txBox="1"/>
            <p:nvPr/>
          </p:nvSpPr>
          <p:spPr>
            <a:xfrm>
              <a:off x="63752" y="1261001"/>
              <a:ext cx="10405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w/o </a:t>
              </a:r>
              <a:r>
                <a:rPr lang="en-US" sz="900" i="1" dirty="0"/>
                <a:t>Q</a:t>
              </a:r>
              <a:endParaRPr lang="en-US" sz="900" dirty="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A459D5D-15B8-1D0A-963D-FAB2CCEBA575}"/>
                </a:ext>
              </a:extLst>
            </p:cNvPr>
            <p:cNvSpPr txBox="1"/>
            <p:nvPr/>
          </p:nvSpPr>
          <p:spPr>
            <a:xfrm>
              <a:off x="56514" y="1357190"/>
              <a:ext cx="10405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</a:t>
              </a: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D6A6CC19-F228-2A94-6085-C1933ACD4E6D}"/>
              </a:ext>
            </a:extLst>
          </p:cNvPr>
          <p:cNvSpPr txBox="1"/>
          <p:nvPr/>
        </p:nvSpPr>
        <p:spPr>
          <a:xfrm>
            <a:off x="131147" y="4575972"/>
            <a:ext cx="2434253" cy="235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err="1">
                <a:solidFill>
                  <a:schemeClr val="accent5"/>
                </a:solidFill>
                <a:latin typeface="Symbol" pitchFamily="2" charset="2"/>
              </a:rPr>
              <a:t>f</a:t>
            </a:r>
            <a:r>
              <a:rPr lang="en-US" sz="900" baseline="-25000" dirty="0" err="1">
                <a:solidFill>
                  <a:schemeClr val="accent5"/>
                </a:solidFill>
                <a:latin typeface="Aptos" panose="020B0004020202020204" pitchFamily="34" charset="0"/>
              </a:rPr>
              <a:t>e</a:t>
            </a:r>
            <a:r>
              <a:rPr lang="en-US" sz="900" dirty="0"/>
              <a:t>: exergy-to-energy ratio for ECC flows [kJ/kJ]</a:t>
            </a:r>
            <a:endParaRPr lang="en-US" sz="900" b="1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2725AF1-67EB-8B37-B7C5-2DA05A74ECA9}"/>
              </a:ext>
            </a:extLst>
          </p:cNvPr>
          <p:cNvGrpSpPr/>
          <p:nvPr/>
        </p:nvGrpSpPr>
        <p:grpSpPr>
          <a:xfrm>
            <a:off x="5981922" y="2801867"/>
            <a:ext cx="780064" cy="311336"/>
            <a:chOff x="4262871" y="2536732"/>
            <a:chExt cx="780064" cy="311336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05719447-790D-F733-649C-60380AEE3C7A}"/>
                </a:ext>
              </a:extLst>
            </p:cNvPr>
            <p:cNvGrpSpPr/>
            <p:nvPr/>
          </p:nvGrpSpPr>
          <p:grpSpPr>
            <a:xfrm>
              <a:off x="4262871" y="2536732"/>
              <a:ext cx="780064" cy="311336"/>
              <a:chOff x="1844226" y="366857"/>
              <a:chExt cx="780064" cy="311336"/>
            </a:xfrm>
          </p:grpSpPr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F9ABCCDD-6E9A-9D4F-495C-3C31B88491FC}"/>
                  </a:ext>
                </a:extLst>
              </p:cNvPr>
              <p:cNvSpPr txBox="1"/>
              <p:nvPr/>
            </p:nvSpPr>
            <p:spPr>
              <a:xfrm>
                <a:off x="2127214" y="366857"/>
                <a:ext cx="2263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chemeClr val="accent5"/>
                    </a:solidFill>
                  </a:rPr>
                  <a:t>t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D64EA1A3-0C0D-9C5C-3FEB-A53368157155}"/>
                  </a:ext>
                </a:extLst>
              </p:cNvPr>
              <p:cNvSpPr txBox="1"/>
              <p:nvPr/>
            </p:nvSpPr>
            <p:spPr>
              <a:xfrm>
                <a:off x="1844226" y="447361"/>
                <a:ext cx="78006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/>
                  <a:t>of </a:t>
                </a:r>
                <a:r>
                  <a:rPr lang="en-US" sz="900" i="1" dirty="0"/>
                  <a:t>Q</a:t>
                </a:r>
                <a:r>
                  <a:rPr lang="en-US" sz="900" dirty="0"/>
                  <a:t> losses</a:t>
                </a:r>
              </a:p>
            </p:txBody>
          </p:sp>
        </p:grp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03134460-CE13-6071-94E4-2DC7ECA1A898}"/>
                </a:ext>
              </a:extLst>
            </p:cNvPr>
            <p:cNvCxnSpPr>
              <a:cxnSpLocks/>
            </p:cNvCxnSpPr>
            <p:nvPr/>
          </p:nvCxnSpPr>
          <p:spPr>
            <a:xfrm>
              <a:off x="4359275" y="2595346"/>
              <a:ext cx="607742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C5735E4-AB44-E377-95CD-BC28B2D94996}"/>
              </a:ext>
            </a:extLst>
          </p:cNvPr>
          <p:cNvGrpSpPr/>
          <p:nvPr/>
        </p:nvGrpSpPr>
        <p:grpSpPr>
          <a:xfrm>
            <a:off x="6084676" y="3820768"/>
            <a:ext cx="601975" cy="230832"/>
            <a:chOff x="4349750" y="3749308"/>
            <a:chExt cx="601975" cy="230832"/>
          </a:xfrm>
        </p:grpSpPr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F4C7CCCE-B20E-D3F0-4880-93B2D472BC21}"/>
                </a:ext>
              </a:extLst>
            </p:cNvPr>
            <p:cNvCxnSpPr>
              <a:cxnSpLocks/>
            </p:cNvCxnSpPr>
            <p:nvPr/>
          </p:nvCxnSpPr>
          <p:spPr>
            <a:xfrm>
              <a:off x="4349750" y="3803565"/>
              <a:ext cx="601975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C1EF66DF-7F50-23BD-C25E-46BE821FC51B}"/>
                </a:ext>
              </a:extLst>
            </p:cNvPr>
            <p:cNvSpPr txBox="1"/>
            <p:nvPr/>
          </p:nvSpPr>
          <p:spPr>
            <a:xfrm>
              <a:off x="4506866" y="3749308"/>
              <a:ext cx="2856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 err="1">
                  <a:solidFill>
                    <a:schemeClr val="accent5"/>
                  </a:solidFill>
                  <a:latin typeface="Symbol" pitchFamily="2" charset="2"/>
                </a:rPr>
                <a:t>f</a:t>
              </a:r>
              <a:r>
                <a:rPr lang="en-US" sz="900" baseline="-25000" dirty="0" err="1">
                  <a:solidFill>
                    <a:schemeClr val="accent5"/>
                  </a:solidFill>
                  <a:latin typeface="Aptos" panose="020B0004020202020204" pitchFamily="34" charset="0"/>
                </a:rPr>
                <a:t>e</a:t>
              </a:r>
              <a:endParaRPr lang="en-US" sz="900" b="1" dirty="0">
                <a:solidFill>
                  <a:schemeClr val="accent5"/>
                </a:solidFill>
                <a:latin typeface="Symbol" pitchFamily="2" charset="2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BF5816CE-ED90-1034-CCC3-DF9BB5960CA3}"/>
              </a:ext>
            </a:extLst>
          </p:cNvPr>
          <p:cNvSpPr txBox="1"/>
          <p:nvPr/>
        </p:nvSpPr>
        <p:spPr>
          <a:xfrm>
            <a:off x="4325" y="4262138"/>
            <a:ext cx="239922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5"/>
                </a:solidFill>
              </a:rPr>
              <a:t>Vectors</a:t>
            </a:r>
            <a:r>
              <a:rPr lang="en-US" sz="900" dirty="0"/>
              <a:t>: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EB24655-2FC4-807E-2EEA-32A3DBC47CF9}"/>
              </a:ext>
            </a:extLst>
          </p:cNvPr>
          <p:cNvSpPr txBox="1"/>
          <p:nvPr/>
        </p:nvSpPr>
        <p:spPr>
          <a:xfrm>
            <a:off x="4325" y="4717391"/>
            <a:ext cx="239922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Operators: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7D894EF-805D-D714-1BB5-5AAF5EEA6E52}"/>
              </a:ext>
            </a:extLst>
          </p:cNvPr>
          <p:cNvSpPr txBox="1"/>
          <p:nvPr/>
        </p:nvSpPr>
        <p:spPr>
          <a:xfrm>
            <a:off x="176769" y="4814558"/>
            <a:ext cx="12490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×: Hadamard product</a:t>
            </a:r>
            <a:endParaRPr lang="en-US" sz="900" b="1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5305141-CA04-5909-307D-8D135D8F7269}"/>
              </a:ext>
            </a:extLst>
          </p:cNvPr>
          <p:cNvSpPr txBox="1"/>
          <p:nvPr/>
        </p:nvSpPr>
        <p:spPr>
          <a:xfrm>
            <a:off x="201317" y="4942410"/>
            <a:ext cx="13708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/: Element-wise division</a:t>
            </a:r>
            <a:endParaRPr lang="en-US" sz="900" b="1" dirty="0"/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B8B32E9F-0413-FFBD-6078-27D72D6E1BC0}"/>
              </a:ext>
            </a:extLst>
          </p:cNvPr>
          <p:cNvGrpSpPr/>
          <p:nvPr/>
        </p:nvGrpSpPr>
        <p:grpSpPr>
          <a:xfrm>
            <a:off x="2777405" y="763754"/>
            <a:ext cx="909847" cy="700077"/>
            <a:chOff x="2924693" y="757617"/>
            <a:chExt cx="909847" cy="700077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19CB137-09F9-471E-A6AB-7F856C93E756}"/>
                </a:ext>
              </a:extLst>
            </p:cNvPr>
            <p:cNvGrpSpPr/>
            <p:nvPr/>
          </p:nvGrpSpPr>
          <p:grpSpPr>
            <a:xfrm>
              <a:off x="2987118" y="757617"/>
              <a:ext cx="792764" cy="700077"/>
              <a:chOff x="3287831" y="757617"/>
              <a:chExt cx="792764" cy="700077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7628D8-AE5E-3A09-FB89-8F6A3CBC630F}"/>
                  </a:ext>
                </a:extLst>
              </p:cNvPr>
              <p:cNvSpPr txBox="1"/>
              <p:nvPr/>
            </p:nvSpPr>
            <p:spPr>
              <a:xfrm>
                <a:off x="3559213" y="757617"/>
                <a:ext cx="25038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C00000"/>
                    </a:solidFill>
                  </a:rPr>
                  <a:t>E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C6607F1-E111-5D9D-8570-5B14608F7050}"/>
                  </a:ext>
                </a:extLst>
              </p:cNvPr>
              <p:cNvSpPr txBox="1"/>
              <p:nvPr/>
            </p:nvSpPr>
            <p:spPr>
              <a:xfrm>
                <a:off x="3287831" y="1133150"/>
                <a:ext cx="78006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/>
                  <a:t>w/o </a:t>
                </a:r>
                <a:r>
                  <a:rPr lang="en-US" sz="900" i="1" dirty="0"/>
                  <a:t>Q</a:t>
                </a:r>
                <a:endParaRPr lang="en-US" sz="900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5290B96-D682-D015-8461-3378356FF338}"/>
                  </a:ext>
                </a:extLst>
              </p:cNvPr>
              <p:cNvSpPr txBox="1"/>
              <p:nvPr/>
            </p:nvSpPr>
            <p:spPr>
              <a:xfrm>
                <a:off x="3293968" y="1226862"/>
                <a:ext cx="78006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/>
                  <a:t>losses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4EC1D01-5554-C120-845E-CA961AD62E6D}"/>
                  </a:ext>
                </a:extLst>
              </p:cNvPr>
              <p:cNvSpPr txBox="1"/>
              <p:nvPr/>
            </p:nvSpPr>
            <p:spPr>
              <a:xfrm>
                <a:off x="3300531" y="1037900"/>
                <a:ext cx="78006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/>
                  <a:t>w/o elect;</a:t>
                </a:r>
              </a:p>
            </p:txBody>
          </p:sp>
        </p:grp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7655A8F-D94C-C512-DA8F-968A64B22FF3}"/>
                </a:ext>
              </a:extLst>
            </p:cNvPr>
            <p:cNvSpPr txBox="1"/>
            <p:nvPr/>
          </p:nvSpPr>
          <p:spPr>
            <a:xfrm>
              <a:off x="2924693" y="850053"/>
              <a:ext cx="90984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/>
                <a:t>m</a:t>
              </a:r>
              <a:endParaRPr lang="en-US" sz="900" dirty="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91465E4B-B3CA-7540-3E48-67F1A26600C3}"/>
                </a:ext>
              </a:extLst>
            </p:cNvPr>
            <p:cNvSpPr txBox="1"/>
            <p:nvPr/>
          </p:nvSpPr>
          <p:spPr>
            <a:xfrm>
              <a:off x="3043904" y="944526"/>
              <a:ext cx="711881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losses;</a:t>
              </a:r>
            </a:p>
          </p:txBody>
        </p:sp>
      </p:grp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4AC9D8DC-AC67-7CB9-DFDF-1320EA4FB5A8}"/>
              </a:ext>
            </a:extLst>
          </p:cNvPr>
          <p:cNvCxnSpPr>
            <a:cxnSpLocks/>
            <a:stCxn id="116" idx="3"/>
          </p:cNvCxnSpPr>
          <p:nvPr/>
        </p:nvCxnSpPr>
        <p:spPr>
          <a:xfrm>
            <a:off x="7408819" y="3368645"/>
            <a:ext cx="149025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DA549490-CD9C-8563-F6B4-5F7A00D88CF9}"/>
              </a:ext>
            </a:extLst>
          </p:cNvPr>
          <p:cNvGrpSpPr/>
          <p:nvPr/>
        </p:nvGrpSpPr>
        <p:grpSpPr>
          <a:xfrm>
            <a:off x="7634269" y="3314734"/>
            <a:ext cx="940430" cy="418448"/>
            <a:chOff x="7481127" y="1157780"/>
            <a:chExt cx="940430" cy="418448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28955AE4-2B94-4B89-BB3B-B44AB6FFFC6C}"/>
                </a:ext>
              </a:extLst>
            </p:cNvPr>
            <p:cNvSpPr txBox="1"/>
            <p:nvPr/>
          </p:nvSpPr>
          <p:spPr>
            <a:xfrm>
              <a:off x="7825164" y="1157780"/>
              <a:ext cx="2568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6C45FE70-454D-3D3D-00A1-65F944B27543}"/>
                </a:ext>
              </a:extLst>
            </p:cNvPr>
            <p:cNvSpPr txBox="1"/>
            <p:nvPr/>
          </p:nvSpPr>
          <p:spPr>
            <a:xfrm>
              <a:off x="7488747" y="1253956"/>
              <a:ext cx="93281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/>
                <a:t>Q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D1505940-B962-FECB-3499-407E43A25F6F}"/>
                </a:ext>
              </a:extLst>
            </p:cNvPr>
            <p:cNvSpPr txBox="1"/>
            <p:nvPr/>
          </p:nvSpPr>
          <p:spPr>
            <a:xfrm>
              <a:off x="7481127" y="1345396"/>
              <a:ext cx="93281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 losses</a:t>
              </a:r>
            </a:p>
          </p:txBody>
        </p:sp>
      </p:grp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79922E30-CF0E-57AB-4E2C-11B0305F9974}"/>
              </a:ext>
            </a:extLst>
          </p:cNvPr>
          <p:cNvCxnSpPr>
            <a:cxnSpLocks/>
            <a:stCxn id="173" idx="3"/>
            <a:endCxn id="179" idx="1"/>
          </p:cNvCxnSpPr>
          <p:nvPr/>
        </p:nvCxnSpPr>
        <p:spPr>
          <a:xfrm flipV="1">
            <a:off x="9724258" y="2186131"/>
            <a:ext cx="821143" cy="43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5783DE25-BEB5-C1FF-9D31-575F3517B61E}"/>
              </a:ext>
            </a:extLst>
          </p:cNvPr>
          <p:cNvCxnSpPr>
            <a:cxnSpLocks/>
            <a:stCxn id="179" idx="3"/>
          </p:cNvCxnSpPr>
          <p:nvPr/>
        </p:nvCxnSpPr>
        <p:spPr>
          <a:xfrm>
            <a:off x="11414473" y="2186131"/>
            <a:ext cx="71331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CBFC88BF-347D-6E69-E7D2-1A32E980A67F}"/>
              </a:ext>
            </a:extLst>
          </p:cNvPr>
          <p:cNvSpPr txBox="1"/>
          <p:nvPr/>
        </p:nvSpPr>
        <p:spPr>
          <a:xfrm>
            <a:off x="182906" y="5064125"/>
            <a:ext cx="12282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+: Element-wise sum</a:t>
            </a:r>
            <a:endParaRPr lang="en-US" sz="900" b="1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4473F377-FEB7-4DB5-40C9-76943681D13D}"/>
              </a:ext>
            </a:extLst>
          </p:cNvPr>
          <p:cNvSpPr txBox="1"/>
          <p:nvPr/>
        </p:nvSpPr>
        <p:spPr>
          <a:xfrm>
            <a:off x="152728" y="3565658"/>
            <a:ext cx="18950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C00000"/>
                </a:solidFill>
              </a:rPr>
              <a:t>X</a:t>
            </a:r>
            <a:r>
              <a:rPr lang="en-US" sz="900" dirty="0"/>
              <a:t>: exergy matrices for the ECC [kJ]</a:t>
            </a:r>
            <a:endParaRPr lang="en-US" sz="900" b="1" dirty="0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48F542FF-1401-EFC2-ADA0-970B7949A65A}"/>
              </a:ext>
            </a:extLst>
          </p:cNvPr>
          <p:cNvSpPr txBox="1"/>
          <p:nvPr/>
        </p:nvSpPr>
        <p:spPr>
          <a:xfrm>
            <a:off x="79084" y="3681236"/>
            <a:ext cx="28216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C00000"/>
                </a:solidFill>
              </a:rPr>
              <a:t>BX</a:t>
            </a:r>
            <a:r>
              <a:rPr lang="en-US" sz="900" dirty="0"/>
              <a:t>: exergy matrices for combined MCC and ECC [kJ]</a:t>
            </a:r>
            <a:endParaRPr lang="en-US" sz="900" b="1" dirty="0"/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0EF30C9A-956E-AC85-1300-B21E27CD2E9C}"/>
              </a:ext>
            </a:extLst>
          </p:cNvPr>
          <p:cNvGrpSpPr/>
          <p:nvPr/>
        </p:nvGrpSpPr>
        <p:grpSpPr>
          <a:xfrm>
            <a:off x="9592110" y="2161376"/>
            <a:ext cx="1113230" cy="620262"/>
            <a:chOff x="9529495" y="2048006"/>
            <a:chExt cx="1113230" cy="620262"/>
          </a:xfrm>
        </p:grpSpPr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47B0743B-7F5F-39A1-AFF3-DE23921060D8}"/>
                </a:ext>
              </a:extLst>
            </p:cNvPr>
            <p:cNvGrpSpPr/>
            <p:nvPr/>
          </p:nvGrpSpPr>
          <p:grpSpPr>
            <a:xfrm>
              <a:off x="9529495" y="2048006"/>
              <a:ext cx="1113230" cy="620262"/>
              <a:chOff x="9474262" y="1895811"/>
              <a:chExt cx="1113230" cy="620262"/>
            </a:xfrm>
          </p:grpSpPr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44D9D501-0A15-2FEA-1E7D-5E6C5EF2BF7A}"/>
                  </a:ext>
                </a:extLst>
              </p:cNvPr>
              <p:cNvSpPr txBox="1"/>
              <p:nvPr/>
            </p:nvSpPr>
            <p:spPr>
              <a:xfrm>
                <a:off x="9852673" y="1895811"/>
                <a:ext cx="32573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C00000"/>
                    </a:solidFill>
                  </a:rPr>
                  <a:t>BX</a:t>
                </a: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F2BA05D1-0B27-A7EA-0396-4465DEC33139}"/>
                  </a:ext>
                </a:extLst>
              </p:cNvPr>
              <p:cNvSpPr txBox="1"/>
              <p:nvPr/>
            </p:nvSpPr>
            <p:spPr>
              <a:xfrm>
                <a:off x="9474262" y="2188074"/>
                <a:ext cx="109584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/>
                  <a:t>w/o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3275BEAD-6E45-5D3C-E3D8-F128E34DD599}"/>
                  </a:ext>
                </a:extLst>
              </p:cNvPr>
              <p:cNvSpPr txBox="1"/>
              <p:nvPr/>
            </p:nvSpPr>
            <p:spPr>
              <a:xfrm>
                <a:off x="9491650" y="2285241"/>
                <a:ext cx="109584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 err="1"/>
                  <a:t>irreversibilities</a:t>
                </a:r>
                <a:endParaRPr lang="en-US" sz="900" dirty="0"/>
              </a:p>
            </p:txBody>
          </p:sp>
        </p:grp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3131E987-6A70-EFBC-FEA0-EC015FBEA030}"/>
                </a:ext>
              </a:extLst>
            </p:cNvPr>
            <p:cNvSpPr txBox="1"/>
            <p:nvPr/>
          </p:nvSpPr>
          <p:spPr>
            <a:xfrm>
              <a:off x="9701427" y="2150728"/>
              <a:ext cx="75612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 err="1"/>
                <a:t>m</a:t>
              </a:r>
              <a:r>
                <a:rPr lang="en-US" sz="900" dirty="0" err="1"/>
                <a:t>&amp;</a:t>
              </a:r>
              <a:r>
                <a:rPr lang="en-US" sz="900" i="1" dirty="0" err="1"/>
                <a:t>Q</a:t>
              </a:r>
              <a:endParaRPr lang="en-US" sz="900" i="1" dirty="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E9CD8D39-EA1D-5F8F-6991-EEE54F6727BC}"/>
                </a:ext>
              </a:extLst>
            </p:cNvPr>
            <p:cNvSpPr txBox="1"/>
            <p:nvPr/>
          </p:nvSpPr>
          <p:spPr>
            <a:xfrm>
              <a:off x="9749791" y="2251513"/>
              <a:ext cx="67023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losses;</a:t>
              </a:r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21A46740-0493-87EA-BBCE-913B0767DB99}"/>
              </a:ext>
            </a:extLst>
          </p:cNvPr>
          <p:cNvGrpSpPr/>
          <p:nvPr/>
        </p:nvGrpSpPr>
        <p:grpSpPr>
          <a:xfrm>
            <a:off x="11203055" y="2163150"/>
            <a:ext cx="1113230" cy="620262"/>
            <a:chOff x="9529495" y="2048006"/>
            <a:chExt cx="1113230" cy="620262"/>
          </a:xfrm>
        </p:grpSpPr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C96E3613-7FBE-28FF-09C5-87C7FA6046D4}"/>
                </a:ext>
              </a:extLst>
            </p:cNvPr>
            <p:cNvGrpSpPr/>
            <p:nvPr/>
          </p:nvGrpSpPr>
          <p:grpSpPr>
            <a:xfrm>
              <a:off x="9529495" y="2048006"/>
              <a:ext cx="1113230" cy="620262"/>
              <a:chOff x="9474262" y="1895811"/>
              <a:chExt cx="1113230" cy="620262"/>
            </a:xfrm>
          </p:grpSpPr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311DD3A5-4FCA-911C-40D8-D538D70C5B4F}"/>
                  </a:ext>
                </a:extLst>
              </p:cNvPr>
              <p:cNvSpPr txBox="1"/>
              <p:nvPr/>
            </p:nvSpPr>
            <p:spPr>
              <a:xfrm>
                <a:off x="9852673" y="1895811"/>
                <a:ext cx="32573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C00000"/>
                    </a:solidFill>
                  </a:rPr>
                  <a:t>BX</a:t>
                </a:r>
              </a:p>
            </p:txBody>
          </p: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583D4629-D4FD-D812-DB50-1AF587615C59}"/>
                  </a:ext>
                </a:extLst>
              </p:cNvPr>
              <p:cNvSpPr txBox="1"/>
              <p:nvPr/>
            </p:nvSpPr>
            <p:spPr>
              <a:xfrm>
                <a:off x="9474262" y="2188074"/>
                <a:ext cx="109584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/>
                  <a:t>w/</a:t>
                </a:r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9DF6326F-5F71-956B-7012-6687FB4D6715}"/>
                  </a:ext>
                </a:extLst>
              </p:cNvPr>
              <p:cNvSpPr txBox="1"/>
              <p:nvPr/>
            </p:nvSpPr>
            <p:spPr>
              <a:xfrm>
                <a:off x="9491650" y="2285241"/>
                <a:ext cx="109584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 err="1"/>
                  <a:t>irreversibilities</a:t>
                </a:r>
                <a:endParaRPr lang="en-US" sz="900" dirty="0"/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2D673BF0-39A4-B7AB-032A-7EB37E5AF507}"/>
                </a:ext>
              </a:extLst>
            </p:cNvPr>
            <p:cNvSpPr txBox="1"/>
            <p:nvPr/>
          </p:nvSpPr>
          <p:spPr>
            <a:xfrm>
              <a:off x="9701427" y="2150728"/>
              <a:ext cx="75612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w/ </a:t>
              </a:r>
              <a:r>
                <a:rPr lang="en-US" sz="900" i="1" dirty="0" err="1"/>
                <a:t>m</a:t>
              </a:r>
              <a:r>
                <a:rPr lang="en-US" sz="900" dirty="0" err="1"/>
                <a:t>&amp;</a:t>
              </a:r>
              <a:r>
                <a:rPr lang="en-US" sz="900" i="1" dirty="0" err="1"/>
                <a:t>Q</a:t>
              </a:r>
              <a:endParaRPr lang="en-US" sz="900" i="1" dirty="0"/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780AFC3C-6133-2C3B-4CA7-892DB92F1F45}"/>
                </a:ext>
              </a:extLst>
            </p:cNvPr>
            <p:cNvSpPr txBox="1"/>
            <p:nvPr/>
          </p:nvSpPr>
          <p:spPr>
            <a:xfrm>
              <a:off x="9742171" y="2251513"/>
              <a:ext cx="67023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/>
                <a:t>losses;</a:t>
              </a:r>
            </a:p>
          </p:txBody>
        </p:sp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8E747ED-BEB9-4271-AB70-0394E45A4CE6}"/>
              </a:ext>
            </a:extLst>
          </p:cNvPr>
          <p:cNvSpPr/>
          <p:nvPr/>
        </p:nvSpPr>
        <p:spPr>
          <a:xfrm>
            <a:off x="646335" y="125698"/>
            <a:ext cx="869072" cy="5508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Endogenize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mass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losses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D8A7BB7-DCF5-D8C5-8458-A0BAB293A5AC}"/>
              </a:ext>
            </a:extLst>
          </p:cNvPr>
          <p:cNvSpPr/>
          <p:nvPr/>
        </p:nvSpPr>
        <p:spPr>
          <a:xfrm>
            <a:off x="2148578" y="237408"/>
            <a:ext cx="817961" cy="114918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C00000"/>
                </a:solidFill>
              </a:rPr>
              <a:t>M</a:t>
            </a:r>
            <a:r>
              <a:rPr lang="en-US" sz="1000" dirty="0">
                <a:solidFill>
                  <a:schemeClr val="tx1"/>
                </a:solidFill>
              </a:rPr>
              <a:t>×</a:t>
            </a:r>
            <a:r>
              <a:rPr lang="en-US" sz="1000" b="1" dirty="0">
                <a:solidFill>
                  <a:schemeClr val="accent6"/>
                </a:solidFill>
              </a:rPr>
              <a:t>H</a:t>
            </a:r>
            <a:r>
              <a:rPr lang="en-US" sz="1000" dirty="0">
                <a:solidFill>
                  <a:schemeClr val="tx1"/>
                </a:solidFill>
              </a:rPr>
              <a:t>/</a:t>
            </a:r>
            <a:r>
              <a:rPr lang="en-US" sz="1000" b="1" dirty="0">
                <a:solidFill>
                  <a:schemeClr val="accent6"/>
                </a:solidFill>
              </a:rPr>
              <a:t>MW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BC4C16E-ADB3-A8C6-E11C-1E4B0C737D88}"/>
              </a:ext>
            </a:extLst>
          </p:cNvPr>
          <p:cNvSpPr/>
          <p:nvPr/>
        </p:nvSpPr>
        <p:spPr>
          <a:xfrm>
            <a:off x="4788881" y="623914"/>
            <a:ext cx="947451" cy="5508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Calculate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waste heat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(endogenize losses)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09A7A1D6-FAE2-9235-6A03-BC2BC473951D}"/>
              </a:ext>
            </a:extLst>
          </p:cNvPr>
          <p:cNvSpPr/>
          <p:nvPr/>
        </p:nvSpPr>
        <p:spPr>
          <a:xfrm>
            <a:off x="5282022" y="3092155"/>
            <a:ext cx="974387" cy="5508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Endogenize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energy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losses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4231E80D-B1B7-CD01-B612-FF79F86EA8CB}"/>
              </a:ext>
            </a:extLst>
          </p:cNvPr>
          <p:cNvSpPr/>
          <p:nvPr/>
        </p:nvSpPr>
        <p:spPr>
          <a:xfrm>
            <a:off x="6696642" y="2735831"/>
            <a:ext cx="712177" cy="12656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Convert to exergy</a:t>
            </a:r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F05E49C8-7F97-96B9-A9FA-0ACB5FF445AB}"/>
              </a:ext>
            </a:extLst>
          </p:cNvPr>
          <p:cNvSpPr/>
          <p:nvPr/>
        </p:nvSpPr>
        <p:spPr>
          <a:xfrm>
            <a:off x="8906297" y="859971"/>
            <a:ext cx="817961" cy="26531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C00000"/>
                </a:solidFill>
              </a:rPr>
              <a:t>B</a:t>
            </a:r>
            <a:r>
              <a:rPr lang="en-US" sz="1000" dirty="0">
                <a:solidFill>
                  <a:schemeClr val="tx1"/>
                </a:solidFill>
              </a:rPr>
              <a:t>+</a:t>
            </a:r>
            <a:r>
              <a:rPr lang="en-US" sz="1000" b="1" dirty="0">
                <a:solidFill>
                  <a:srgbClr val="C00000"/>
                </a:solidFill>
              </a:rPr>
              <a:t>X</a:t>
            </a:r>
            <a:endParaRPr lang="en-US" sz="1000" baseline="-25000" dirty="0">
              <a:solidFill>
                <a:schemeClr val="accent6"/>
              </a:solidFill>
            </a:endParaRPr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09695F77-B81F-CE6B-BA1C-032F5F19BBC2}"/>
              </a:ext>
            </a:extLst>
          </p:cNvPr>
          <p:cNvSpPr/>
          <p:nvPr/>
        </p:nvSpPr>
        <p:spPr>
          <a:xfrm>
            <a:off x="10545401" y="1910709"/>
            <a:ext cx="869072" cy="5508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Endogenize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exergy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imbalance</a:t>
            </a:r>
          </a:p>
        </p:txBody>
      </p: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C0EB31B5-B36B-8BC7-1F1C-40F108799B7E}"/>
              </a:ext>
            </a:extLst>
          </p:cNvPr>
          <p:cNvCxnSpPr>
            <a:cxnSpLocks/>
          </p:cNvCxnSpPr>
          <p:nvPr/>
        </p:nvCxnSpPr>
        <p:spPr>
          <a:xfrm flipH="1">
            <a:off x="4259631" y="2450703"/>
            <a:ext cx="3375577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8780A8F4-F1C6-FD32-7516-AD5514CCCA5A}"/>
              </a:ext>
            </a:extLst>
          </p:cNvPr>
          <p:cNvSpPr txBox="1"/>
          <p:nvPr/>
        </p:nvSpPr>
        <p:spPr>
          <a:xfrm>
            <a:off x="4504798" y="2179035"/>
            <a:ext cx="2709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Material conversion chain (MCC)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D7DE80B8-F166-8659-C038-5207DC8A9297}"/>
              </a:ext>
            </a:extLst>
          </p:cNvPr>
          <p:cNvSpPr txBox="1"/>
          <p:nvPr/>
        </p:nvSpPr>
        <p:spPr>
          <a:xfrm>
            <a:off x="4511424" y="2410946"/>
            <a:ext cx="25535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Energy conversion chain (ECC)</a:t>
            </a:r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342A3DAB-B230-5228-53A9-BE3A1235FCD6}"/>
              </a:ext>
            </a:extLst>
          </p:cNvPr>
          <p:cNvCxnSpPr>
            <a:cxnSpLocks/>
          </p:cNvCxnSpPr>
          <p:nvPr/>
        </p:nvCxnSpPr>
        <p:spPr>
          <a:xfrm flipV="1">
            <a:off x="4553986" y="2215614"/>
            <a:ext cx="0" cy="207161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53625D90-958B-5CC4-A83E-9AB18511185A}"/>
              </a:ext>
            </a:extLst>
          </p:cNvPr>
          <p:cNvCxnSpPr>
            <a:cxnSpLocks/>
          </p:cNvCxnSpPr>
          <p:nvPr/>
        </p:nvCxnSpPr>
        <p:spPr>
          <a:xfrm>
            <a:off x="4553986" y="2480656"/>
            <a:ext cx="0" cy="207161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id="{2E9F2017-AAF2-EFD4-DDCB-C96F729A326E}"/>
              </a:ext>
            </a:extLst>
          </p:cNvPr>
          <p:cNvSpPr txBox="1"/>
          <p:nvPr/>
        </p:nvSpPr>
        <p:spPr>
          <a:xfrm>
            <a:off x="9806273" y="2767449"/>
            <a:ext cx="2346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Unified material and energy 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conversion chain (BXCC)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F9920D-BAF9-7ED3-F71D-1B70095E795C}"/>
              </a:ext>
            </a:extLst>
          </p:cNvPr>
          <p:cNvSpPr txBox="1"/>
          <p:nvPr/>
        </p:nvSpPr>
        <p:spPr>
          <a:xfrm>
            <a:off x="6058057" y="305096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7923B8-3C51-804F-561C-3BB1B3A232F5}"/>
              </a:ext>
            </a:extLst>
          </p:cNvPr>
          <p:cNvSpPr txBox="1"/>
          <p:nvPr/>
        </p:nvSpPr>
        <p:spPr>
          <a:xfrm>
            <a:off x="7209636" y="2706445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FEE21E5-F04C-A2B4-AE7D-E72AA95C8F32}"/>
              </a:ext>
            </a:extLst>
          </p:cNvPr>
          <p:cNvSpPr txBox="1"/>
          <p:nvPr/>
        </p:nvSpPr>
        <p:spPr>
          <a:xfrm>
            <a:off x="1329209" y="86763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6BDA495-2920-C871-DAB3-054110ED3E21}"/>
              </a:ext>
            </a:extLst>
          </p:cNvPr>
          <p:cNvSpPr txBox="1"/>
          <p:nvPr/>
        </p:nvSpPr>
        <p:spPr>
          <a:xfrm>
            <a:off x="2759347" y="219011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15D49BE-8200-C7AF-3AFF-3B453810D46A}"/>
              </a:ext>
            </a:extLst>
          </p:cNvPr>
          <p:cNvSpPr txBox="1"/>
          <p:nvPr/>
        </p:nvSpPr>
        <p:spPr>
          <a:xfrm>
            <a:off x="5540868" y="58274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6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06D8B14-ABA0-9E96-33FD-8623F4451D2E}"/>
              </a:ext>
            </a:extLst>
          </p:cNvPr>
          <p:cNvSpPr txBox="1"/>
          <p:nvPr/>
        </p:nvSpPr>
        <p:spPr>
          <a:xfrm>
            <a:off x="11178426" y="1870398"/>
            <a:ext cx="2936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/>
              <a:t>12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B6633B8-496C-6C24-92F8-24CCF80B5795}"/>
              </a:ext>
            </a:extLst>
          </p:cNvPr>
          <p:cNvSpPr txBox="1"/>
          <p:nvPr/>
        </p:nvSpPr>
        <p:spPr>
          <a:xfrm>
            <a:off x="9457895" y="910796"/>
            <a:ext cx="3064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11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EC2EFF6-035D-EF22-46C2-ADB0D8023E67}"/>
              </a:ext>
            </a:extLst>
          </p:cNvPr>
          <p:cNvSpPr/>
          <p:nvPr/>
        </p:nvSpPr>
        <p:spPr>
          <a:xfrm>
            <a:off x="3673443" y="212728"/>
            <a:ext cx="885857" cy="173354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C00000"/>
                </a:solidFill>
              </a:rPr>
              <a:t>E</a:t>
            </a:r>
            <a:r>
              <a:rPr lang="en-US" sz="1000" dirty="0">
                <a:solidFill>
                  <a:schemeClr val="tx1"/>
                </a:solidFill>
              </a:rPr>
              <a:t> + </a:t>
            </a:r>
            <a:r>
              <a:rPr lang="en-US" sz="1000" b="1" dirty="0" err="1">
                <a:solidFill>
                  <a:srgbClr val="C00000"/>
                </a:solidFill>
              </a:rPr>
              <a:t>E</a:t>
            </a:r>
            <a:r>
              <a:rPr lang="en-US" sz="1000" baseline="-25000" dirty="0" err="1">
                <a:solidFill>
                  <a:srgbClr val="C00000"/>
                </a:solidFill>
              </a:rPr>
              <a:t>massless</a:t>
            </a:r>
            <a:endParaRPr lang="en-US" sz="1000" baseline="-25000" dirty="0">
              <a:solidFill>
                <a:srgbClr val="C0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11EC54-612F-0F08-F0BF-123031CE3A52}"/>
              </a:ext>
            </a:extLst>
          </p:cNvPr>
          <p:cNvSpPr txBox="1"/>
          <p:nvPr/>
        </p:nvSpPr>
        <p:spPr>
          <a:xfrm>
            <a:off x="2015710" y="2612750"/>
            <a:ext cx="781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 err="1">
                <a:solidFill>
                  <a:srgbClr val="C00000"/>
                </a:solidFill>
              </a:rPr>
              <a:t>E</a:t>
            </a:r>
            <a:r>
              <a:rPr lang="en-US" sz="900" baseline="-25000" dirty="0" err="1">
                <a:solidFill>
                  <a:srgbClr val="C00000"/>
                </a:solidFill>
              </a:rPr>
              <a:t>massless</a:t>
            </a:r>
            <a:endParaRPr lang="en-US" sz="900" baseline="-25000" dirty="0">
              <a:solidFill>
                <a:srgbClr val="C00000"/>
              </a:solidFill>
            </a:endParaRPr>
          </a:p>
          <a:p>
            <a:pPr algn="ctr"/>
            <a:r>
              <a:rPr lang="en-US" sz="900" dirty="0"/>
              <a:t>(electricity)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B2670B38-16A3-1C92-6A92-53287799BD4D}"/>
              </a:ext>
            </a:extLst>
          </p:cNvPr>
          <p:cNvCxnSpPr>
            <a:cxnSpLocks/>
          </p:cNvCxnSpPr>
          <p:nvPr/>
        </p:nvCxnSpPr>
        <p:spPr>
          <a:xfrm flipV="1">
            <a:off x="2616582" y="1749425"/>
            <a:ext cx="1047368" cy="97814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B3AB2EF8-92F9-7944-8A49-3AA70E000767}"/>
              </a:ext>
            </a:extLst>
          </p:cNvPr>
          <p:cNvSpPr txBox="1"/>
          <p:nvPr/>
        </p:nvSpPr>
        <p:spPr>
          <a:xfrm>
            <a:off x="4340497" y="206311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5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9049AA9-0BB9-807E-EF76-9D50C04496A3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4559300" y="898527"/>
            <a:ext cx="229581" cy="80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744EA2F-5E24-1095-FEB0-6D25BB555BE8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5736332" y="899336"/>
            <a:ext cx="31521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510FB58-05A4-0E9B-BA3C-0A4A0A1999DE}"/>
              </a:ext>
            </a:extLst>
          </p:cNvPr>
          <p:cNvSpPr/>
          <p:nvPr/>
        </p:nvSpPr>
        <p:spPr>
          <a:xfrm>
            <a:off x="6058882" y="49239"/>
            <a:ext cx="738794" cy="5508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Convert to exergy</a:t>
            </a:r>
            <a:endParaRPr lang="en-US" sz="600" dirty="0">
              <a:solidFill>
                <a:schemeClr val="tx1"/>
              </a:solidFill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E303CE6-8B9F-F2CC-174C-AFFD846C3943}"/>
              </a:ext>
            </a:extLst>
          </p:cNvPr>
          <p:cNvCxnSpPr>
            <a:cxnSpLocks/>
          </p:cNvCxnSpPr>
          <p:nvPr/>
        </p:nvCxnSpPr>
        <p:spPr>
          <a:xfrm flipV="1">
            <a:off x="1921807" y="69850"/>
            <a:ext cx="0" cy="33444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201D79D-5091-4045-C298-98E6076C8F6B}"/>
              </a:ext>
            </a:extLst>
          </p:cNvPr>
          <p:cNvCxnSpPr>
            <a:cxnSpLocks/>
          </p:cNvCxnSpPr>
          <p:nvPr/>
        </p:nvCxnSpPr>
        <p:spPr>
          <a:xfrm>
            <a:off x="1924050" y="76200"/>
            <a:ext cx="3838575" cy="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374BF507-93EE-2FE9-B859-224647A296C6}"/>
              </a:ext>
            </a:extLst>
          </p:cNvPr>
          <p:cNvCxnSpPr>
            <a:cxnSpLocks/>
          </p:cNvCxnSpPr>
          <p:nvPr/>
        </p:nvCxnSpPr>
        <p:spPr>
          <a:xfrm>
            <a:off x="5756274" y="76198"/>
            <a:ext cx="292101" cy="193677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675FF90C-364D-855E-EC71-11145006A4B7}"/>
              </a:ext>
            </a:extLst>
          </p:cNvPr>
          <p:cNvSpPr/>
          <p:nvPr/>
        </p:nvSpPr>
        <p:spPr>
          <a:xfrm>
            <a:off x="6055707" y="738214"/>
            <a:ext cx="738794" cy="5508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Convert to exergy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D634E914-8CD5-B659-36B2-346774E9D7B1}"/>
              </a:ext>
            </a:extLst>
          </p:cNvPr>
          <p:cNvSpPr/>
          <p:nvPr/>
        </p:nvSpPr>
        <p:spPr>
          <a:xfrm>
            <a:off x="6055707" y="1371600"/>
            <a:ext cx="738794" cy="5508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Convert to exergy</a:t>
            </a:r>
            <a:endParaRPr lang="en-US" sz="600" dirty="0">
              <a:solidFill>
                <a:schemeClr val="tx1"/>
              </a:solidFill>
            </a:endParaRPr>
          </a:p>
        </p:txBody>
      </p:sp>
      <p:cxnSp>
        <p:nvCxnSpPr>
          <p:cNvPr id="132" name="Elbow Connector 131">
            <a:extLst>
              <a:ext uri="{FF2B5EF4-FFF2-40B4-BE49-F238E27FC236}">
                <a16:creationId xmlns:a16="http://schemas.microsoft.com/office/drawing/2014/main" id="{F841BA20-4DD1-5C64-CBB4-D5640E8E1D8A}"/>
              </a:ext>
            </a:extLst>
          </p:cNvPr>
          <p:cNvCxnSpPr>
            <a:cxnSpLocks/>
          </p:cNvCxnSpPr>
          <p:nvPr/>
        </p:nvCxnSpPr>
        <p:spPr>
          <a:xfrm flipV="1">
            <a:off x="3136900" y="1993900"/>
            <a:ext cx="1317625" cy="733425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Elbow Connector 136">
            <a:extLst>
              <a:ext uri="{FF2B5EF4-FFF2-40B4-BE49-F238E27FC236}">
                <a16:creationId xmlns:a16="http://schemas.microsoft.com/office/drawing/2014/main" id="{22B4A7DE-4BE6-BCDF-7C20-361B351E8776}"/>
              </a:ext>
            </a:extLst>
          </p:cNvPr>
          <p:cNvCxnSpPr>
            <a:cxnSpLocks/>
          </p:cNvCxnSpPr>
          <p:nvPr/>
        </p:nvCxnSpPr>
        <p:spPr>
          <a:xfrm flipV="1">
            <a:off x="4454525" y="1816100"/>
            <a:ext cx="1590675" cy="177800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502E37F0-F95D-D182-80FF-5E3C78D5C485}"/>
              </a:ext>
            </a:extLst>
          </p:cNvPr>
          <p:cNvGrpSpPr/>
          <p:nvPr/>
        </p:nvGrpSpPr>
        <p:grpSpPr>
          <a:xfrm>
            <a:off x="5447243" y="1524000"/>
            <a:ext cx="603152" cy="230832"/>
            <a:chOff x="3864936" y="1593639"/>
            <a:chExt cx="603152" cy="230832"/>
          </a:xfrm>
        </p:grpSpPr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2EB90D22-9805-A418-CFAE-719C2DBB644F}"/>
                </a:ext>
              </a:extLst>
            </p:cNvPr>
            <p:cNvCxnSpPr>
              <a:cxnSpLocks/>
            </p:cNvCxnSpPr>
            <p:nvPr/>
          </p:nvCxnSpPr>
          <p:spPr>
            <a:xfrm>
              <a:off x="3864936" y="1651071"/>
              <a:ext cx="603152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C1B3AF9-068E-69E2-EEC8-2039B6B6937B}"/>
                </a:ext>
              </a:extLst>
            </p:cNvPr>
            <p:cNvSpPr txBox="1"/>
            <p:nvPr/>
          </p:nvSpPr>
          <p:spPr>
            <a:xfrm>
              <a:off x="3957537" y="1593639"/>
              <a:ext cx="41069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 err="1">
                  <a:solidFill>
                    <a:schemeClr val="accent5"/>
                  </a:solidFill>
                  <a:latin typeface="Symbol" pitchFamily="2" charset="2"/>
                </a:rPr>
                <a:t>f</a:t>
              </a:r>
              <a:r>
                <a:rPr lang="en-US" sz="900" baseline="-25000" dirty="0" err="1">
                  <a:solidFill>
                    <a:schemeClr val="accent5"/>
                  </a:solidFill>
                  <a:latin typeface="Aptos" panose="020B0004020202020204" pitchFamily="34" charset="0"/>
                </a:rPr>
                <a:t>elect</a:t>
              </a:r>
              <a:endParaRPr lang="en-US" sz="900" b="1" dirty="0">
                <a:solidFill>
                  <a:schemeClr val="accent5"/>
                </a:solidFill>
                <a:latin typeface="Symbol" pitchFamily="2" charset="2"/>
              </a:endParaRPr>
            </a:p>
          </p:txBody>
        </p:sp>
      </p:grp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8F22C655-F351-4E05-89A8-91296B8A12DE}"/>
              </a:ext>
            </a:extLst>
          </p:cNvPr>
          <p:cNvCxnSpPr>
            <a:cxnSpLocks/>
            <a:stCxn id="90" idx="3"/>
          </p:cNvCxnSpPr>
          <p:nvPr/>
        </p:nvCxnSpPr>
        <p:spPr>
          <a:xfrm>
            <a:off x="6797676" y="324661"/>
            <a:ext cx="38689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00DE2484-C997-AD28-8D52-6A143EFD34B8}"/>
              </a:ext>
            </a:extLst>
          </p:cNvPr>
          <p:cNvCxnSpPr>
            <a:cxnSpLocks/>
            <a:stCxn id="122" idx="3"/>
          </p:cNvCxnSpPr>
          <p:nvPr/>
        </p:nvCxnSpPr>
        <p:spPr>
          <a:xfrm>
            <a:off x="6794501" y="1013636"/>
            <a:ext cx="38462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3FF3069-F1E9-4080-DA06-1DADE7A844D7}"/>
              </a:ext>
            </a:extLst>
          </p:cNvPr>
          <p:cNvCxnSpPr>
            <a:cxnSpLocks/>
            <a:stCxn id="127" idx="3"/>
          </p:cNvCxnSpPr>
          <p:nvPr/>
        </p:nvCxnSpPr>
        <p:spPr>
          <a:xfrm>
            <a:off x="6794501" y="1647022"/>
            <a:ext cx="39007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ADC62CA8-75F0-4406-8384-EFB0A94DF445}"/>
              </a:ext>
            </a:extLst>
          </p:cNvPr>
          <p:cNvSpPr/>
          <p:nvPr/>
        </p:nvSpPr>
        <p:spPr>
          <a:xfrm>
            <a:off x="7186348" y="38098"/>
            <a:ext cx="1358937" cy="197575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rgbClr val="C00000"/>
                </a:solidFill>
              </a:rPr>
              <a:t>B</a:t>
            </a:r>
            <a:r>
              <a:rPr lang="en-US" sz="1000" b="1" baseline="-25000" dirty="0" err="1">
                <a:solidFill>
                  <a:srgbClr val="C00000"/>
                </a:solidFill>
              </a:rPr>
              <a:t>mass</a:t>
            </a:r>
            <a:r>
              <a:rPr lang="en-US" sz="1000" dirty="0" err="1">
                <a:solidFill>
                  <a:schemeClr val="tx1"/>
                </a:solidFill>
              </a:rPr>
              <a:t>+</a:t>
            </a:r>
            <a:r>
              <a:rPr lang="en-US" sz="1000" b="1" dirty="0" err="1">
                <a:solidFill>
                  <a:srgbClr val="C00000"/>
                </a:solidFill>
              </a:rPr>
              <a:t>B</a:t>
            </a:r>
            <a:r>
              <a:rPr lang="en-US" sz="1000" b="1" baseline="-25000" dirty="0" err="1">
                <a:solidFill>
                  <a:srgbClr val="C00000"/>
                </a:solidFill>
              </a:rPr>
              <a:t>Qloss</a:t>
            </a:r>
            <a:r>
              <a:rPr lang="en-US" sz="1000" b="1" dirty="0" err="1">
                <a:solidFill>
                  <a:schemeClr val="tx1"/>
                </a:solidFill>
              </a:rPr>
              <a:t>+</a:t>
            </a:r>
            <a:r>
              <a:rPr lang="en-US" sz="1000" b="1" dirty="0" err="1">
                <a:solidFill>
                  <a:srgbClr val="C00000"/>
                </a:solidFill>
              </a:rPr>
              <a:t>B</a:t>
            </a:r>
            <a:r>
              <a:rPr lang="en-US" sz="1000" b="1" baseline="-25000" dirty="0" err="1">
                <a:solidFill>
                  <a:srgbClr val="C00000"/>
                </a:solidFill>
              </a:rPr>
              <a:t>elect</a:t>
            </a:r>
            <a:endParaRPr lang="en-US" sz="1000" baseline="-25000" dirty="0">
              <a:solidFill>
                <a:schemeClr val="accent6"/>
              </a:solidFill>
            </a:endParaRP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CEDF4FD6-3401-DBF6-F076-61C326AC7484}"/>
              </a:ext>
            </a:extLst>
          </p:cNvPr>
          <p:cNvCxnSpPr>
            <a:cxnSpLocks/>
            <a:stCxn id="170" idx="3"/>
          </p:cNvCxnSpPr>
          <p:nvPr/>
        </p:nvCxnSpPr>
        <p:spPr>
          <a:xfrm>
            <a:off x="8545285" y="1025978"/>
            <a:ext cx="36467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1D35B9C1-5368-317B-B025-6F9B1556ED9A}"/>
              </a:ext>
            </a:extLst>
          </p:cNvPr>
          <p:cNvSpPr txBox="1"/>
          <p:nvPr/>
        </p:nvSpPr>
        <p:spPr>
          <a:xfrm>
            <a:off x="8249580" y="45381"/>
            <a:ext cx="3064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10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D9D5090C-002A-2A15-FBB4-0F2739356BD4}"/>
              </a:ext>
            </a:extLst>
          </p:cNvPr>
          <p:cNvSpPr txBox="1"/>
          <p:nvPr/>
        </p:nvSpPr>
        <p:spPr>
          <a:xfrm>
            <a:off x="6600395" y="10886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7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A61601C9-478B-25D1-DE06-EFEBA59935AE}"/>
              </a:ext>
            </a:extLst>
          </p:cNvPr>
          <p:cNvSpPr txBox="1"/>
          <p:nvPr/>
        </p:nvSpPr>
        <p:spPr>
          <a:xfrm>
            <a:off x="6600395" y="711177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8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BF300C41-8D56-B81F-7FF0-EC04651EC644}"/>
              </a:ext>
            </a:extLst>
          </p:cNvPr>
          <p:cNvSpPr txBox="1"/>
          <p:nvPr/>
        </p:nvSpPr>
        <p:spPr>
          <a:xfrm>
            <a:off x="6594952" y="1349828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9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A656FE70-4377-2F54-142F-8E54993D1BBA}"/>
              </a:ext>
            </a:extLst>
          </p:cNvPr>
          <p:cNvSpPr txBox="1"/>
          <p:nvPr/>
        </p:nvSpPr>
        <p:spPr>
          <a:xfrm>
            <a:off x="8243868" y="1167364"/>
            <a:ext cx="9328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 losses</a:t>
            </a:r>
          </a:p>
        </p:txBody>
      </p:sp>
    </p:spTree>
    <p:extLst>
      <p:ext uri="{BB962C8B-B14F-4D97-AF65-F5344CB8AC3E}">
        <p14:creationId xmlns:p14="http://schemas.microsoft.com/office/powerpoint/2010/main" val="4060269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688</Words>
  <Application>Microsoft Macintosh PowerPoint</Application>
  <PresentationFormat>Widescreen</PresentationFormat>
  <Paragraphs>229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Symbol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Heun</dc:creator>
  <cp:lastModifiedBy>Matthew Heun</cp:lastModifiedBy>
  <cp:revision>188</cp:revision>
  <cp:lastPrinted>2026-04-06T18:22:53Z</cp:lastPrinted>
  <dcterms:created xsi:type="dcterms:W3CDTF">2026-03-24T23:06:53Z</dcterms:created>
  <dcterms:modified xsi:type="dcterms:W3CDTF">2026-06-23T14:47:42Z</dcterms:modified>
</cp:coreProperties>
</file>