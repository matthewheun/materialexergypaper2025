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"/>
  </p:notes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288"/>
    <p:restoredTop sz="94659"/>
  </p:normalViewPr>
  <p:slideViewPr>
    <p:cSldViewPr snapToGrid="0">
      <p:cViewPr>
        <p:scale>
          <a:sx n="400" d="100"/>
          <a:sy n="400" d="100"/>
        </p:scale>
        <p:origin x="-3584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9C1FBCA-E71A-1B44-9589-7C34CA44EA86}" type="datetimeFigureOut">
              <a:rPr lang="en-US" smtClean="0"/>
              <a:t>6/24/26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FF4A58C-1AA9-C941-9BEF-BEE99D288A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0186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F4A58C-1AA9-C941-9BEF-BEE99D288A2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36766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C083C-7BCE-034A-BC88-A6671E86C8B9}" type="datetimeFigureOut">
              <a:rPr lang="en-US" smtClean="0"/>
              <a:t>6/24/26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0729F-0FFE-A44B-9543-BC64356078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61516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C083C-7BCE-034A-BC88-A6671E86C8B9}" type="datetimeFigureOut">
              <a:rPr lang="en-US" smtClean="0"/>
              <a:t>6/24/26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0729F-0FFE-A44B-9543-BC64356078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68835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7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7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C083C-7BCE-034A-BC88-A6671E86C8B9}" type="datetimeFigureOut">
              <a:rPr lang="en-US" smtClean="0"/>
              <a:t>6/24/26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0729F-0FFE-A44B-9543-BC64356078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35573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369218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369218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C083C-7BCE-034A-BC88-A6671E86C8B9}" type="datetimeFigureOut">
              <a:rPr lang="en-US" smtClean="0"/>
              <a:t>6/24/26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0729F-0FFE-A44B-9543-BC64356078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7737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C083C-7BCE-034A-BC88-A6671E86C8B9}" type="datetimeFigureOut">
              <a:rPr lang="en-US" smtClean="0"/>
              <a:t>6/24/26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0729F-0FFE-A44B-9543-BC64356078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87579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C083C-7BCE-034A-BC88-A6671E86C8B9}" type="datetimeFigureOut">
              <a:rPr lang="en-US" smtClean="0"/>
              <a:t>6/24/26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0729F-0FFE-A44B-9543-BC64356078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99614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C083C-7BCE-034A-BC88-A6671E86C8B9}" type="datetimeFigureOut">
              <a:rPr lang="en-US" smtClean="0"/>
              <a:t>6/24/26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0729F-0FFE-A44B-9543-BC64356078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20185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C083C-7BCE-034A-BC88-A6671E86C8B9}" type="datetimeFigureOut">
              <a:rPr lang="en-US" smtClean="0"/>
              <a:t>6/24/26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0729F-0FFE-A44B-9543-BC64356078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69867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C083C-7BCE-034A-BC88-A6671E86C8B9}" type="datetimeFigureOut">
              <a:rPr lang="en-US" smtClean="0"/>
              <a:t>6/24/26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0729F-0FFE-A44B-9543-BC64356078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56343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C083C-7BCE-034A-BC88-A6671E86C8B9}" type="datetimeFigureOut">
              <a:rPr lang="en-US" smtClean="0"/>
              <a:t>6/24/26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0729F-0FFE-A44B-9543-BC64356078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68380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273843"/>
            <a:ext cx="1971675" cy="435887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273843"/>
            <a:ext cx="5800725" cy="435887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C083C-7BCE-034A-BC88-A6671E86C8B9}" type="datetimeFigureOut">
              <a:rPr lang="en-US" smtClean="0"/>
              <a:t>6/24/26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0729F-0FFE-A44B-9543-BC64356078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37899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69218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A8C083C-7BCE-034A-BC88-A6671E86C8B9}" type="datetimeFigureOut">
              <a:rPr lang="en-US" smtClean="0"/>
              <a:t>6/24/26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2A0729F-0FFE-A44B-9543-BC64356078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25449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TextBox 70">
            <a:extLst>
              <a:ext uri="{FF2B5EF4-FFF2-40B4-BE49-F238E27FC236}">
                <a16:creationId xmlns:a16="http://schemas.microsoft.com/office/drawing/2014/main" id="{F050807C-ADA5-EFBA-0397-AF35996D8CA2}"/>
              </a:ext>
            </a:extLst>
          </p:cNvPr>
          <p:cNvSpPr txBox="1"/>
          <p:nvPr/>
        </p:nvSpPr>
        <p:spPr>
          <a:xfrm>
            <a:off x="4143944" y="555851"/>
            <a:ext cx="469061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750" b="1" dirty="0" err="1">
                <a:solidFill>
                  <a:schemeClr val="accent5"/>
                </a:solidFill>
              </a:rPr>
              <a:t>q</a:t>
            </a:r>
            <a:r>
              <a:rPr lang="en-US" sz="750" baseline="-25000" dirty="0" err="1">
                <a:solidFill>
                  <a:schemeClr val="accent5"/>
                </a:solidFill>
              </a:rPr>
              <a:t>loss</a:t>
            </a:r>
            <a:endParaRPr lang="en-US" sz="750" baseline="-25000" dirty="0">
              <a:solidFill>
                <a:schemeClr val="accent5"/>
              </a:solidFill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18917BCE-9E85-7AF6-5E16-ED23BEB9E857}"/>
              </a:ext>
            </a:extLst>
          </p:cNvPr>
          <p:cNvCxnSpPr>
            <a:cxnSpLocks/>
            <a:stCxn id="32" idx="3"/>
            <a:endCxn id="39" idx="1"/>
          </p:cNvCxnSpPr>
          <p:nvPr/>
        </p:nvCxnSpPr>
        <p:spPr>
          <a:xfrm>
            <a:off x="2224905" y="609001"/>
            <a:ext cx="445069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8FE3165-2F59-C55E-352D-0FA32A9C1921}"/>
              </a:ext>
            </a:extLst>
          </p:cNvPr>
          <p:cNvCxnSpPr>
            <a:cxnSpLocks/>
            <a:stCxn id="4" idx="3"/>
          </p:cNvCxnSpPr>
          <p:nvPr/>
        </p:nvCxnSpPr>
        <p:spPr>
          <a:xfrm>
            <a:off x="1136556" y="907942"/>
            <a:ext cx="47358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0E05761-49A9-1488-688E-EBD0DD821AB8}"/>
              </a:ext>
            </a:extLst>
          </p:cNvPr>
          <p:cNvCxnSpPr>
            <a:cxnSpLocks/>
          </p:cNvCxnSpPr>
          <p:nvPr/>
        </p:nvCxnSpPr>
        <p:spPr>
          <a:xfrm>
            <a:off x="1118453" y="557551"/>
            <a:ext cx="474352" cy="0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7798742-1220-07E5-FF64-73B1F94EA316}"/>
              </a:ext>
            </a:extLst>
          </p:cNvPr>
          <p:cNvCxnSpPr>
            <a:cxnSpLocks/>
          </p:cNvCxnSpPr>
          <p:nvPr/>
        </p:nvCxnSpPr>
        <p:spPr>
          <a:xfrm>
            <a:off x="124271" y="916387"/>
            <a:ext cx="352353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FC3D8D9-0223-FB2E-887F-6B2510E6BDD6}"/>
              </a:ext>
            </a:extLst>
          </p:cNvPr>
          <p:cNvCxnSpPr>
            <a:cxnSpLocks/>
          </p:cNvCxnSpPr>
          <p:nvPr/>
        </p:nvCxnSpPr>
        <p:spPr>
          <a:xfrm>
            <a:off x="1123055" y="272030"/>
            <a:ext cx="469616" cy="0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7" name="Group 26">
            <a:extLst>
              <a:ext uri="{FF2B5EF4-FFF2-40B4-BE49-F238E27FC236}">
                <a16:creationId xmlns:a16="http://schemas.microsoft.com/office/drawing/2014/main" id="{6CED5AC2-D859-A649-A187-BA8057ED3C20}"/>
              </a:ext>
            </a:extLst>
          </p:cNvPr>
          <p:cNvGrpSpPr/>
          <p:nvPr/>
        </p:nvGrpSpPr>
        <p:grpSpPr>
          <a:xfrm>
            <a:off x="1025206" y="231337"/>
            <a:ext cx="696193" cy="268492"/>
            <a:chOff x="1788992" y="363682"/>
            <a:chExt cx="928257" cy="357990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D106A284-D047-9A7E-573B-C7037D0867BB}"/>
                </a:ext>
              </a:extLst>
            </p:cNvPr>
            <p:cNvSpPr txBox="1"/>
            <p:nvPr/>
          </p:nvSpPr>
          <p:spPr>
            <a:xfrm>
              <a:off x="2015752" y="363682"/>
              <a:ext cx="449269" cy="26161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75" b="1" dirty="0">
                  <a:solidFill>
                    <a:schemeClr val="accent6"/>
                  </a:solidFill>
                </a:rPr>
                <a:t>MW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E4A2926A-EA13-AC97-6078-C06FA510704A}"/>
                </a:ext>
              </a:extLst>
            </p:cNvPr>
            <p:cNvSpPr txBox="1"/>
            <p:nvPr/>
          </p:nvSpPr>
          <p:spPr>
            <a:xfrm>
              <a:off x="1788992" y="460061"/>
              <a:ext cx="928257" cy="26161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675" dirty="0"/>
                <a:t>w/ </a:t>
              </a:r>
              <a:r>
                <a:rPr lang="en-US" sz="675" i="1" dirty="0"/>
                <a:t>m</a:t>
              </a:r>
              <a:r>
                <a:rPr lang="en-US" sz="675" dirty="0"/>
                <a:t> losses</a:t>
              </a: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ABF6B9FB-F151-6532-CC25-0BDB875634A6}"/>
              </a:ext>
            </a:extLst>
          </p:cNvPr>
          <p:cNvGrpSpPr/>
          <p:nvPr/>
        </p:nvGrpSpPr>
        <p:grpSpPr>
          <a:xfrm>
            <a:off x="1025206" y="516859"/>
            <a:ext cx="682385" cy="262423"/>
            <a:chOff x="1788992" y="744377"/>
            <a:chExt cx="909847" cy="349898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123D985-9BC1-D60A-B306-77E032C6D8C6}"/>
                </a:ext>
              </a:extLst>
            </p:cNvPr>
            <p:cNvSpPr txBox="1"/>
            <p:nvPr/>
          </p:nvSpPr>
          <p:spPr>
            <a:xfrm>
              <a:off x="2069468" y="744377"/>
              <a:ext cx="329579" cy="26161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75" b="1" dirty="0">
                  <a:solidFill>
                    <a:schemeClr val="accent6"/>
                  </a:solidFill>
                </a:rPr>
                <a:t>H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8E99AFB-EB1B-729A-E33A-C80FB7F28C22}"/>
                </a:ext>
              </a:extLst>
            </p:cNvPr>
            <p:cNvSpPr txBox="1"/>
            <p:nvPr/>
          </p:nvSpPr>
          <p:spPr>
            <a:xfrm>
              <a:off x="1788992" y="832664"/>
              <a:ext cx="909847" cy="26161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675" dirty="0"/>
                <a:t>w/ </a:t>
              </a:r>
              <a:r>
                <a:rPr lang="en-US" sz="675" i="1" dirty="0"/>
                <a:t>m</a:t>
              </a:r>
              <a:r>
                <a:rPr lang="en-US" sz="675" dirty="0"/>
                <a:t> losses</a:t>
              </a: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874E3CD2-0830-EEC2-453A-12231FA7FB6D}"/>
              </a:ext>
            </a:extLst>
          </p:cNvPr>
          <p:cNvGrpSpPr/>
          <p:nvPr/>
        </p:nvGrpSpPr>
        <p:grpSpPr>
          <a:xfrm>
            <a:off x="993141" y="868336"/>
            <a:ext cx="659791" cy="335194"/>
            <a:chOff x="1807780" y="1157780"/>
            <a:chExt cx="879721" cy="446924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73AE417D-A158-7C25-3B74-D2CD1C3637A3}"/>
                </a:ext>
              </a:extLst>
            </p:cNvPr>
            <p:cNvSpPr txBox="1"/>
            <p:nvPr/>
          </p:nvSpPr>
          <p:spPr>
            <a:xfrm>
              <a:off x="2070432" y="1157780"/>
              <a:ext cx="340265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75" b="1" dirty="0">
                  <a:solidFill>
                    <a:srgbClr val="C00000"/>
                  </a:solidFill>
                </a:rPr>
                <a:t>M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B687D4C9-0499-0445-EA1E-A7F521F678BC}"/>
                </a:ext>
              </a:extLst>
            </p:cNvPr>
            <p:cNvSpPr txBox="1"/>
            <p:nvPr/>
          </p:nvSpPr>
          <p:spPr>
            <a:xfrm>
              <a:off x="1807780" y="1252064"/>
              <a:ext cx="874609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675" dirty="0"/>
                <a:t>w/ </a:t>
              </a:r>
              <a:r>
                <a:rPr lang="en-US" sz="675" i="1" dirty="0"/>
                <a:t>m</a:t>
              </a:r>
            </a:p>
          </p:txBody>
        </p:sp>
        <p:sp>
          <p:nvSpPr>
            <p:cNvPr id="189" name="TextBox 188">
              <a:extLst>
                <a:ext uri="{FF2B5EF4-FFF2-40B4-BE49-F238E27FC236}">
                  <a16:creationId xmlns:a16="http://schemas.microsoft.com/office/drawing/2014/main" id="{9EE80767-ED7D-9FBE-A2DE-49039CCF96D3}"/>
                </a:ext>
              </a:extLst>
            </p:cNvPr>
            <p:cNvSpPr txBox="1"/>
            <p:nvPr/>
          </p:nvSpPr>
          <p:spPr>
            <a:xfrm>
              <a:off x="1812892" y="1343094"/>
              <a:ext cx="874609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675" dirty="0"/>
                <a:t>losses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8423DAA3-B9A6-5CCF-D0DE-239167ACE142}"/>
              </a:ext>
            </a:extLst>
          </p:cNvPr>
          <p:cNvGrpSpPr/>
          <p:nvPr/>
        </p:nvGrpSpPr>
        <p:grpSpPr>
          <a:xfrm>
            <a:off x="-78190" y="874590"/>
            <a:ext cx="767554" cy="335762"/>
            <a:chOff x="196460" y="1166121"/>
            <a:chExt cx="1023405" cy="447683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476B909-2020-3BD0-056F-E2CD13EA06D1}"/>
                </a:ext>
              </a:extLst>
            </p:cNvPr>
            <p:cNvSpPr txBox="1"/>
            <p:nvPr/>
          </p:nvSpPr>
          <p:spPr>
            <a:xfrm>
              <a:off x="549053" y="1166121"/>
              <a:ext cx="340265" cy="26161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75" b="1" dirty="0">
                  <a:solidFill>
                    <a:srgbClr val="C00000"/>
                  </a:solidFill>
                </a:rPr>
                <a:t>M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F7F55E30-5751-C90D-4FAF-E797FCF231B5}"/>
                </a:ext>
              </a:extLst>
            </p:cNvPr>
            <p:cNvSpPr txBox="1"/>
            <p:nvPr/>
          </p:nvSpPr>
          <p:spPr>
            <a:xfrm>
              <a:off x="197485" y="1255026"/>
              <a:ext cx="1022380" cy="26161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675" dirty="0"/>
                <a:t>w/o </a:t>
              </a:r>
              <a:r>
                <a:rPr lang="en-US" sz="675" i="1" dirty="0"/>
                <a:t>m</a:t>
              </a:r>
            </a:p>
          </p:txBody>
        </p:sp>
        <p:sp>
          <p:nvSpPr>
            <p:cNvPr id="186" name="TextBox 185">
              <a:extLst>
                <a:ext uri="{FF2B5EF4-FFF2-40B4-BE49-F238E27FC236}">
                  <a16:creationId xmlns:a16="http://schemas.microsoft.com/office/drawing/2014/main" id="{86CF245D-965A-505D-01AA-643FD116E5AB}"/>
                </a:ext>
              </a:extLst>
            </p:cNvPr>
            <p:cNvSpPr txBox="1"/>
            <p:nvPr/>
          </p:nvSpPr>
          <p:spPr>
            <a:xfrm>
              <a:off x="196460" y="1352193"/>
              <a:ext cx="1022380" cy="26161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675" dirty="0"/>
                <a:t>losses</a:t>
              </a:r>
            </a:p>
          </p:txBody>
        </p: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05463D27-1868-E7E1-3E48-72AD26E3AC4C}"/>
              </a:ext>
            </a:extLst>
          </p:cNvPr>
          <p:cNvCxnSpPr>
            <a:cxnSpLocks/>
            <a:stCxn id="39" idx="3"/>
            <a:endCxn id="66" idx="1"/>
          </p:cNvCxnSpPr>
          <p:nvPr/>
        </p:nvCxnSpPr>
        <p:spPr>
          <a:xfrm>
            <a:off x="3380562" y="609001"/>
            <a:ext cx="352466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3" name="Group 52">
            <a:extLst>
              <a:ext uri="{FF2B5EF4-FFF2-40B4-BE49-F238E27FC236}">
                <a16:creationId xmlns:a16="http://schemas.microsoft.com/office/drawing/2014/main" id="{7D81F4AC-C378-C2B3-E43C-10260DEC3E10}"/>
              </a:ext>
            </a:extLst>
          </p:cNvPr>
          <p:cNvGrpSpPr/>
          <p:nvPr/>
        </p:nvGrpSpPr>
        <p:grpSpPr>
          <a:xfrm>
            <a:off x="3181855" y="571661"/>
            <a:ext cx="721214" cy="336241"/>
            <a:chOff x="3201912" y="757617"/>
            <a:chExt cx="961619" cy="448320"/>
          </a:xfrm>
        </p:grpSpPr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7151ABAE-75AD-4E09-ACB5-094BDD7D35C5}"/>
                </a:ext>
              </a:extLst>
            </p:cNvPr>
            <p:cNvSpPr txBox="1"/>
            <p:nvPr/>
          </p:nvSpPr>
          <p:spPr>
            <a:xfrm>
              <a:off x="3528168" y="757617"/>
              <a:ext cx="312480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75" b="1" dirty="0">
                  <a:solidFill>
                    <a:srgbClr val="C00000"/>
                  </a:solidFill>
                </a:rPr>
                <a:t>E</a:t>
              </a: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8105315-25D0-65B1-29FA-490D9007E289}"/>
                </a:ext>
              </a:extLst>
            </p:cNvPr>
            <p:cNvSpPr txBox="1"/>
            <p:nvPr/>
          </p:nvSpPr>
          <p:spPr>
            <a:xfrm>
              <a:off x="3306241" y="847656"/>
              <a:ext cx="780064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675" dirty="0"/>
                <a:t>w/ </a:t>
              </a:r>
              <a:r>
                <a:rPr lang="en-US" sz="675" i="1" dirty="0" err="1"/>
                <a:t>m</a:t>
              </a:r>
              <a:r>
                <a:rPr lang="en-US" sz="675" dirty="0" err="1"/>
                <a:t>&amp;</a:t>
              </a:r>
              <a:r>
                <a:rPr lang="en-US" sz="675" i="1" dirty="0" err="1"/>
                <a:t>Q</a:t>
              </a:r>
              <a:endParaRPr lang="en-US" sz="675" i="1" dirty="0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3D986FBF-3F72-FCCF-9339-A490281D029B}"/>
                </a:ext>
              </a:extLst>
            </p:cNvPr>
            <p:cNvSpPr txBox="1"/>
            <p:nvPr/>
          </p:nvSpPr>
          <p:spPr>
            <a:xfrm>
              <a:off x="3201912" y="944327"/>
              <a:ext cx="961619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675" dirty="0"/>
                <a:t>losses</a:t>
              </a:r>
            </a:p>
          </p:txBody>
        </p:sp>
      </p:grpSp>
      <p:grpSp>
        <p:nvGrpSpPr>
          <p:cNvPr id="191" name="Group 190">
            <a:extLst>
              <a:ext uri="{FF2B5EF4-FFF2-40B4-BE49-F238E27FC236}">
                <a16:creationId xmlns:a16="http://schemas.microsoft.com/office/drawing/2014/main" id="{15C71121-FA50-316B-C77A-2CB19C00C92C}"/>
              </a:ext>
            </a:extLst>
          </p:cNvPr>
          <p:cNvGrpSpPr/>
          <p:nvPr/>
        </p:nvGrpSpPr>
        <p:grpSpPr>
          <a:xfrm>
            <a:off x="4019398" y="1271427"/>
            <a:ext cx="550148" cy="196208"/>
            <a:chOff x="3734558" y="1695239"/>
            <a:chExt cx="733530" cy="261611"/>
          </a:xfrm>
        </p:grpSpPr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FE242509-2615-DFB6-4E84-E245CFA97EF6}"/>
                </a:ext>
              </a:extLst>
            </p:cNvPr>
            <p:cNvCxnSpPr>
              <a:cxnSpLocks/>
            </p:cNvCxnSpPr>
            <p:nvPr/>
          </p:nvCxnSpPr>
          <p:spPr>
            <a:xfrm>
              <a:off x="3734558" y="1749496"/>
              <a:ext cx="733530" cy="0"/>
            </a:xfrm>
            <a:prstGeom prst="straightConnector1">
              <a:avLst/>
            </a:prstGeom>
            <a:ln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CBD9FCF8-5B29-68AD-7AF9-B284E1E9A1A2}"/>
                </a:ext>
              </a:extLst>
            </p:cNvPr>
            <p:cNvSpPr txBox="1"/>
            <p:nvPr/>
          </p:nvSpPr>
          <p:spPr>
            <a:xfrm>
              <a:off x="3884645" y="1695239"/>
              <a:ext cx="372325" cy="26161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75" b="1" dirty="0" err="1">
                  <a:solidFill>
                    <a:schemeClr val="accent6"/>
                  </a:solidFill>
                  <a:latin typeface="Symbol" pitchFamily="2" charset="2"/>
                </a:rPr>
                <a:t>f</a:t>
              </a:r>
              <a:r>
                <a:rPr lang="en-US" sz="675" baseline="-25000" dirty="0" err="1">
                  <a:solidFill>
                    <a:schemeClr val="accent6"/>
                  </a:solidFill>
                  <a:latin typeface="Aptos" panose="020B0004020202020204" pitchFamily="34" charset="0"/>
                </a:rPr>
                <a:t>m</a:t>
              </a:r>
              <a:endParaRPr lang="en-US" sz="675" b="1" dirty="0">
                <a:solidFill>
                  <a:schemeClr val="accent6"/>
                </a:solidFill>
                <a:latin typeface="Symbol" pitchFamily="2" charset="2"/>
              </a:endParaRPr>
            </a:p>
          </p:txBody>
        </p:sp>
      </p:grpSp>
      <p:cxnSp>
        <p:nvCxnSpPr>
          <p:cNvPr id="63" name="Elbow Connector 62">
            <a:extLst>
              <a:ext uri="{FF2B5EF4-FFF2-40B4-BE49-F238E27FC236}">
                <a16:creationId xmlns:a16="http://schemas.microsoft.com/office/drawing/2014/main" id="{CD2D5509-44DC-A52C-57B7-A262636AE183}"/>
              </a:ext>
            </a:extLst>
          </p:cNvPr>
          <p:cNvCxnSpPr>
            <a:cxnSpLocks/>
            <a:endCxn id="57" idx="1"/>
          </p:cNvCxnSpPr>
          <p:nvPr/>
        </p:nvCxnSpPr>
        <p:spPr>
          <a:xfrm>
            <a:off x="1494227" y="908345"/>
            <a:ext cx="3081162" cy="282502"/>
          </a:xfrm>
          <a:prstGeom prst="bentConnector3">
            <a:avLst>
              <a:gd name="adj1" fmla="val 3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AC4E2DCE-5686-329A-DBCC-72BA175EC367}"/>
              </a:ext>
            </a:extLst>
          </p:cNvPr>
          <p:cNvCxnSpPr>
            <a:cxnSpLocks/>
            <a:stCxn id="66" idx="3"/>
          </p:cNvCxnSpPr>
          <p:nvPr/>
        </p:nvCxnSpPr>
        <p:spPr>
          <a:xfrm>
            <a:off x="4267161" y="609001"/>
            <a:ext cx="248072" cy="0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3" name="Group 72">
            <a:extLst>
              <a:ext uri="{FF2B5EF4-FFF2-40B4-BE49-F238E27FC236}">
                <a16:creationId xmlns:a16="http://schemas.microsoft.com/office/drawing/2014/main" id="{9859FD88-0D88-8E00-5BB6-F110772972EA}"/>
              </a:ext>
            </a:extLst>
          </p:cNvPr>
          <p:cNvGrpSpPr/>
          <p:nvPr/>
        </p:nvGrpSpPr>
        <p:grpSpPr>
          <a:xfrm>
            <a:off x="5043963" y="1167061"/>
            <a:ext cx="821882" cy="331639"/>
            <a:chOff x="3349371" y="757617"/>
            <a:chExt cx="1095843" cy="442186"/>
          </a:xfrm>
        </p:grpSpPr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1C2978C4-72C7-7965-F336-0A6B21A08528}"/>
                </a:ext>
              </a:extLst>
            </p:cNvPr>
            <p:cNvSpPr txBox="1"/>
            <p:nvPr/>
          </p:nvSpPr>
          <p:spPr>
            <a:xfrm>
              <a:off x="3733062" y="757617"/>
              <a:ext cx="316755" cy="26161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75" b="1" dirty="0">
                  <a:solidFill>
                    <a:srgbClr val="C00000"/>
                  </a:solidFill>
                </a:rPr>
                <a:t>B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09265C8C-A62C-C458-2FE6-19B9F28161F9}"/>
                </a:ext>
              </a:extLst>
            </p:cNvPr>
            <p:cNvSpPr txBox="1"/>
            <p:nvPr/>
          </p:nvSpPr>
          <p:spPr>
            <a:xfrm>
              <a:off x="3349371" y="847656"/>
              <a:ext cx="1095843" cy="26161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675" dirty="0"/>
                <a:t>w/ </a:t>
              </a:r>
              <a:r>
                <a:rPr lang="en-US" sz="675" i="1" dirty="0"/>
                <a:t>m</a:t>
              </a:r>
              <a:r>
                <a:rPr lang="en-US" sz="675" dirty="0"/>
                <a:t> losses</a:t>
              </a:r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28D06C71-883E-3D9C-5A39-2B69B377C71F}"/>
                </a:ext>
              </a:extLst>
            </p:cNvPr>
            <p:cNvSpPr txBox="1"/>
            <p:nvPr/>
          </p:nvSpPr>
          <p:spPr>
            <a:xfrm>
              <a:off x="3349372" y="938192"/>
              <a:ext cx="1095842" cy="26161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675" dirty="0"/>
                <a:t>w/o </a:t>
              </a:r>
              <a:r>
                <a:rPr lang="en-US" sz="675" i="1" dirty="0"/>
                <a:t>Q</a:t>
              </a:r>
              <a:r>
                <a:rPr lang="en-US" sz="675" dirty="0"/>
                <a:t> losses</a:t>
              </a:r>
            </a:p>
          </p:txBody>
        </p:sp>
      </p:grp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CEE5C2E9-570A-05C7-1659-7444E0850691}"/>
              </a:ext>
            </a:extLst>
          </p:cNvPr>
          <p:cNvCxnSpPr>
            <a:cxnSpLocks/>
            <a:stCxn id="57" idx="3"/>
          </p:cNvCxnSpPr>
          <p:nvPr/>
        </p:nvCxnSpPr>
        <p:spPr>
          <a:xfrm>
            <a:off x="5188859" y="1190846"/>
            <a:ext cx="522470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78D18046-9BCC-C93B-8C67-3AC49E8FCEC4}"/>
              </a:ext>
            </a:extLst>
          </p:cNvPr>
          <p:cNvCxnSpPr>
            <a:cxnSpLocks/>
          </p:cNvCxnSpPr>
          <p:nvPr/>
        </p:nvCxnSpPr>
        <p:spPr>
          <a:xfrm>
            <a:off x="6299646" y="826323"/>
            <a:ext cx="355836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8" name="Group 97">
            <a:extLst>
              <a:ext uri="{FF2B5EF4-FFF2-40B4-BE49-F238E27FC236}">
                <a16:creationId xmlns:a16="http://schemas.microsoft.com/office/drawing/2014/main" id="{C5A3228D-1CFC-C691-381E-B85CDB9E2150}"/>
              </a:ext>
            </a:extLst>
          </p:cNvPr>
          <p:cNvGrpSpPr/>
          <p:nvPr/>
        </p:nvGrpSpPr>
        <p:grpSpPr>
          <a:xfrm>
            <a:off x="6201651" y="791136"/>
            <a:ext cx="567092" cy="339326"/>
            <a:chOff x="7397360" y="1065725"/>
            <a:chExt cx="756123" cy="452435"/>
          </a:xfrm>
        </p:grpSpPr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4D68617E-80E7-56DA-C2C6-B96D04539616}"/>
                </a:ext>
              </a:extLst>
            </p:cNvPr>
            <p:cNvSpPr txBox="1"/>
            <p:nvPr/>
          </p:nvSpPr>
          <p:spPr>
            <a:xfrm>
              <a:off x="7581317" y="1065725"/>
              <a:ext cx="316755" cy="26161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75" b="1" dirty="0">
                  <a:solidFill>
                    <a:srgbClr val="C00000"/>
                  </a:solidFill>
                </a:rPr>
                <a:t>B</a:t>
              </a:r>
            </a:p>
          </p:txBody>
        </p: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8286DC3F-8726-D61B-428F-6965836C1E39}"/>
                </a:ext>
              </a:extLst>
            </p:cNvPr>
            <p:cNvSpPr txBox="1"/>
            <p:nvPr/>
          </p:nvSpPr>
          <p:spPr>
            <a:xfrm>
              <a:off x="7397360" y="1155764"/>
              <a:ext cx="756123" cy="26161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675" dirty="0"/>
                <a:t>w/ </a:t>
              </a:r>
              <a:r>
                <a:rPr lang="en-US" sz="675" i="1" dirty="0" err="1"/>
                <a:t>m</a:t>
              </a:r>
              <a:r>
                <a:rPr lang="en-US" sz="675" dirty="0" err="1"/>
                <a:t>&amp;</a:t>
              </a:r>
              <a:r>
                <a:rPr lang="en-US" sz="675" i="1" dirty="0" err="1"/>
                <a:t>Q</a:t>
              </a:r>
              <a:endParaRPr lang="en-US" sz="675" i="1" dirty="0"/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5DE0DB06-AC3B-6507-1BF8-76470739D8AC}"/>
                </a:ext>
              </a:extLst>
            </p:cNvPr>
            <p:cNvSpPr txBox="1"/>
            <p:nvPr/>
          </p:nvSpPr>
          <p:spPr>
            <a:xfrm>
              <a:off x="7422864" y="1256549"/>
              <a:ext cx="670238" cy="26161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675" dirty="0"/>
                <a:t>losses</a:t>
              </a:r>
            </a:p>
          </p:txBody>
        </p: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3679FBF2-885B-7686-F30C-287F05A69A32}"/>
              </a:ext>
            </a:extLst>
          </p:cNvPr>
          <p:cNvGrpSpPr/>
          <p:nvPr/>
        </p:nvGrpSpPr>
        <p:grpSpPr>
          <a:xfrm>
            <a:off x="4007918" y="181660"/>
            <a:ext cx="585048" cy="360620"/>
            <a:chOff x="1893322" y="363682"/>
            <a:chExt cx="780064" cy="480826"/>
          </a:xfrm>
        </p:grpSpPr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98146836-DED1-3C7D-0F76-BEC734FB6136}"/>
                </a:ext>
              </a:extLst>
            </p:cNvPr>
            <p:cNvSpPr txBox="1"/>
            <p:nvPr/>
          </p:nvSpPr>
          <p:spPr>
            <a:xfrm>
              <a:off x="2127655" y="363682"/>
              <a:ext cx="286831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75" b="1" dirty="0">
                  <a:solidFill>
                    <a:schemeClr val="accent5"/>
                  </a:solidFill>
                </a:rPr>
                <a:t>t</a:t>
              </a:r>
            </a:p>
          </p:txBody>
        </p: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4AD9DDD2-8FE0-FB14-224B-853E540AE261}"/>
                </a:ext>
              </a:extLst>
            </p:cNvPr>
            <p:cNvSpPr txBox="1"/>
            <p:nvPr/>
          </p:nvSpPr>
          <p:spPr>
            <a:xfrm>
              <a:off x="1893322" y="444399"/>
              <a:ext cx="780064" cy="40010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675" dirty="0"/>
                <a:t>of </a:t>
              </a:r>
              <a:r>
                <a:rPr lang="en-US" sz="675" i="1" dirty="0"/>
                <a:t>Q</a:t>
              </a:r>
              <a:r>
                <a:rPr lang="en-US" sz="675" dirty="0"/>
                <a:t> losses</a:t>
              </a:r>
            </a:p>
          </p:txBody>
        </p:sp>
      </p:grp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471F8AF1-202E-8DA4-1123-B569A0BAADDD}"/>
              </a:ext>
            </a:extLst>
          </p:cNvPr>
          <p:cNvCxnSpPr>
            <a:cxnSpLocks/>
          </p:cNvCxnSpPr>
          <p:nvPr/>
        </p:nvCxnSpPr>
        <p:spPr>
          <a:xfrm>
            <a:off x="4091786" y="217211"/>
            <a:ext cx="422226" cy="0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4F0E3065-FFEE-1BE7-F3EA-ADC58EE208DF}"/>
              </a:ext>
            </a:extLst>
          </p:cNvPr>
          <p:cNvCxnSpPr>
            <a:cxnSpLocks/>
            <a:stCxn id="104" idx="3"/>
          </p:cNvCxnSpPr>
          <p:nvPr/>
        </p:nvCxnSpPr>
        <p:spPr>
          <a:xfrm>
            <a:off x="5218971" y="412596"/>
            <a:ext cx="465344" cy="0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0AEDC2EA-B4BB-5001-563F-498949B7DF51}"/>
              </a:ext>
            </a:extLst>
          </p:cNvPr>
          <p:cNvGrpSpPr/>
          <p:nvPr/>
        </p:nvGrpSpPr>
        <p:grpSpPr>
          <a:xfrm>
            <a:off x="5163029" y="364848"/>
            <a:ext cx="585048" cy="390656"/>
            <a:chOff x="1844226" y="363682"/>
            <a:chExt cx="780064" cy="520874"/>
          </a:xfrm>
        </p:grpSpPr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7F75357B-D1BB-7DA0-4285-DBA8B741176B}"/>
                </a:ext>
              </a:extLst>
            </p:cNvPr>
            <p:cNvSpPr txBox="1"/>
            <p:nvPr/>
          </p:nvSpPr>
          <p:spPr>
            <a:xfrm>
              <a:off x="1990410" y="363682"/>
              <a:ext cx="438583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75" b="1" dirty="0" err="1">
                  <a:solidFill>
                    <a:schemeClr val="accent5"/>
                  </a:solidFill>
                </a:rPr>
                <a:t>x</a:t>
              </a:r>
              <a:r>
                <a:rPr lang="en-US" sz="675" baseline="-25000" dirty="0" err="1">
                  <a:solidFill>
                    <a:schemeClr val="accent5"/>
                  </a:solidFill>
                </a:rPr>
                <a:t>loss</a:t>
              </a:r>
              <a:endParaRPr lang="en-US" sz="675" baseline="-25000" dirty="0">
                <a:solidFill>
                  <a:schemeClr val="accent5"/>
                </a:solidFill>
              </a:endParaRPr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18A9D8F7-5334-688F-C757-FA1DE5D949B3}"/>
                </a:ext>
              </a:extLst>
            </p:cNvPr>
            <p:cNvSpPr txBox="1"/>
            <p:nvPr/>
          </p:nvSpPr>
          <p:spPr>
            <a:xfrm>
              <a:off x="1844226" y="484447"/>
              <a:ext cx="780064" cy="40010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675" dirty="0"/>
                <a:t>for </a:t>
              </a:r>
              <a:r>
                <a:rPr lang="en-US" sz="675" i="1" dirty="0"/>
                <a:t>Q</a:t>
              </a:r>
              <a:r>
                <a:rPr lang="en-US" sz="675" dirty="0"/>
                <a:t> losses</a:t>
              </a: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65A90940-1369-38A0-D947-C127256726C6}"/>
              </a:ext>
            </a:extLst>
          </p:cNvPr>
          <p:cNvSpPr txBox="1"/>
          <p:nvPr/>
        </p:nvSpPr>
        <p:spPr>
          <a:xfrm>
            <a:off x="-28575" y="1266473"/>
            <a:ext cx="821882" cy="196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675" i="1" dirty="0"/>
              <a:t>Key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64783A-FE5B-2419-B22F-08AC8C8C473C}"/>
              </a:ext>
            </a:extLst>
          </p:cNvPr>
          <p:cNvSpPr txBox="1"/>
          <p:nvPr/>
        </p:nvSpPr>
        <p:spPr>
          <a:xfrm>
            <a:off x="96135" y="1474376"/>
            <a:ext cx="1462260" cy="1962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75" b="1" dirty="0">
                <a:solidFill>
                  <a:srgbClr val="C00000"/>
                </a:solidFill>
              </a:rPr>
              <a:t>M</a:t>
            </a:r>
            <a:r>
              <a:rPr lang="en-US" sz="675" dirty="0"/>
              <a:t>: mass matrices for the MCC [kg]</a:t>
            </a:r>
            <a:endParaRPr lang="en-US" sz="675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AD35AD-8C2A-9DA8-FA49-EF606709E417}"/>
              </a:ext>
            </a:extLst>
          </p:cNvPr>
          <p:cNvSpPr txBox="1"/>
          <p:nvPr/>
        </p:nvSpPr>
        <p:spPr>
          <a:xfrm>
            <a:off x="105185" y="2062173"/>
            <a:ext cx="1537600" cy="1962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75" b="1" dirty="0">
                <a:solidFill>
                  <a:schemeClr val="accent6"/>
                </a:solidFill>
              </a:rPr>
              <a:t>H</a:t>
            </a:r>
            <a:r>
              <a:rPr lang="en-US" sz="675" dirty="0"/>
              <a:t>: enthalpies for MCC flows [kJ/mol]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2762292-8FDA-7158-E039-81C23C11E6E3}"/>
              </a:ext>
            </a:extLst>
          </p:cNvPr>
          <p:cNvSpPr txBox="1"/>
          <p:nvPr/>
        </p:nvSpPr>
        <p:spPr>
          <a:xfrm>
            <a:off x="17733" y="2149220"/>
            <a:ext cx="1931939" cy="1962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75" b="1" dirty="0">
                <a:solidFill>
                  <a:schemeClr val="accent6"/>
                </a:solidFill>
              </a:rPr>
              <a:t>MW</a:t>
            </a:r>
            <a:r>
              <a:rPr lang="en-US" sz="675" dirty="0"/>
              <a:t>: molecular weights for MCC flows [kg/mol]</a:t>
            </a:r>
            <a:endParaRPr lang="en-US" sz="675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7EB7E17-A1C8-4261-5D28-C320F98D380E}"/>
              </a:ext>
            </a:extLst>
          </p:cNvPr>
          <p:cNvSpPr txBox="1"/>
          <p:nvPr/>
        </p:nvSpPr>
        <p:spPr>
          <a:xfrm>
            <a:off x="5296" y="1380773"/>
            <a:ext cx="2168510" cy="196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675" dirty="0">
                <a:solidFill>
                  <a:srgbClr val="C00000"/>
                </a:solidFill>
              </a:rPr>
              <a:t>Flow </a:t>
            </a:r>
            <a:r>
              <a:rPr lang="en-US" sz="675" b="1" dirty="0">
                <a:solidFill>
                  <a:srgbClr val="C00000"/>
                </a:solidFill>
              </a:rPr>
              <a:t>RUVY</a:t>
            </a:r>
            <a:r>
              <a:rPr lang="en-US" sz="675" dirty="0">
                <a:solidFill>
                  <a:srgbClr val="C00000"/>
                </a:solidFill>
              </a:rPr>
              <a:t> matrices (exhibit intra-industry balance)</a:t>
            </a:r>
            <a:r>
              <a:rPr lang="en-US" sz="675" dirty="0"/>
              <a:t>: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F7B9F8E-BF30-0069-EBCC-DD3189696D2E}"/>
              </a:ext>
            </a:extLst>
          </p:cNvPr>
          <p:cNvSpPr txBox="1"/>
          <p:nvPr/>
        </p:nvSpPr>
        <p:spPr>
          <a:xfrm>
            <a:off x="5298" y="1962145"/>
            <a:ext cx="2285757" cy="196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675" dirty="0">
                <a:solidFill>
                  <a:schemeClr val="accent6"/>
                </a:solidFill>
              </a:rPr>
              <a:t>Property </a:t>
            </a:r>
            <a:r>
              <a:rPr lang="en-US" sz="675" b="1" dirty="0">
                <a:solidFill>
                  <a:schemeClr val="accent6"/>
                </a:solidFill>
              </a:rPr>
              <a:t>RUVY</a:t>
            </a:r>
            <a:r>
              <a:rPr lang="en-US" sz="675" dirty="0">
                <a:solidFill>
                  <a:schemeClr val="accent6"/>
                </a:solidFill>
              </a:rPr>
              <a:t> matrices (no intra-industry balance)</a:t>
            </a:r>
            <a:r>
              <a:rPr lang="en-US" sz="675" dirty="0"/>
              <a:t>: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B40A48A-B59F-84E0-7615-2D2C4BE169B7}"/>
              </a:ext>
            </a:extLst>
          </p:cNvPr>
          <p:cNvSpPr txBox="1"/>
          <p:nvPr/>
        </p:nvSpPr>
        <p:spPr>
          <a:xfrm>
            <a:off x="114546" y="1565910"/>
            <a:ext cx="1750800" cy="1962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75" b="1" dirty="0">
                <a:solidFill>
                  <a:srgbClr val="C00000"/>
                </a:solidFill>
              </a:rPr>
              <a:t>E</a:t>
            </a:r>
            <a:r>
              <a:rPr lang="en-US" sz="675" dirty="0"/>
              <a:t>: energy matrices for the MCC or ECC [kJ]</a:t>
            </a:r>
            <a:endParaRPr lang="en-US" sz="675" b="1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9F88E72-7AC8-7C87-4E27-6DA8E8D4BD13}"/>
              </a:ext>
            </a:extLst>
          </p:cNvPr>
          <p:cNvSpPr txBox="1"/>
          <p:nvPr/>
        </p:nvSpPr>
        <p:spPr>
          <a:xfrm>
            <a:off x="26714" y="2526848"/>
            <a:ext cx="1479892" cy="1962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75" b="1" dirty="0" err="1">
                <a:solidFill>
                  <a:schemeClr val="accent5"/>
                </a:solidFill>
              </a:rPr>
              <a:t>q</a:t>
            </a:r>
            <a:r>
              <a:rPr lang="en-US" sz="675" baseline="-25000" dirty="0" err="1">
                <a:solidFill>
                  <a:schemeClr val="accent5"/>
                </a:solidFill>
              </a:rPr>
              <a:t>loss</a:t>
            </a:r>
            <a:r>
              <a:rPr lang="en-US" sz="675" dirty="0"/>
              <a:t>: </a:t>
            </a:r>
            <a:r>
              <a:rPr lang="en-US" sz="675" i="1" dirty="0"/>
              <a:t>Q</a:t>
            </a:r>
            <a:r>
              <a:rPr lang="en-US" sz="675" dirty="0"/>
              <a:t> loss vector for the MCC [kg]</a:t>
            </a:r>
            <a:endParaRPr lang="en-US" sz="675" b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9F4C718-87C3-89FA-8F87-52323F8DEEC3}"/>
              </a:ext>
            </a:extLst>
          </p:cNvPr>
          <p:cNvSpPr txBox="1"/>
          <p:nvPr/>
        </p:nvSpPr>
        <p:spPr>
          <a:xfrm>
            <a:off x="142007" y="2619898"/>
            <a:ext cx="2085827" cy="1962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75" b="1" dirty="0">
                <a:solidFill>
                  <a:schemeClr val="accent5"/>
                </a:solidFill>
              </a:rPr>
              <a:t>t</a:t>
            </a:r>
            <a:r>
              <a:rPr lang="en-US" sz="675" dirty="0"/>
              <a:t>: temperature vector for </a:t>
            </a:r>
            <a:r>
              <a:rPr lang="en-US" sz="675" i="1" dirty="0"/>
              <a:t>Q</a:t>
            </a:r>
            <a:r>
              <a:rPr lang="en-US" sz="675" dirty="0"/>
              <a:t> losses from the MCC [K]</a:t>
            </a:r>
            <a:endParaRPr lang="en-US" sz="675" b="1" dirty="0"/>
          </a:p>
        </p:txBody>
      </p:sp>
      <p:sp>
        <p:nvSpPr>
          <p:cNvPr id="57" name="Rounded Rectangle 56">
            <a:extLst>
              <a:ext uri="{FF2B5EF4-FFF2-40B4-BE49-F238E27FC236}">
                <a16:creationId xmlns:a16="http://schemas.microsoft.com/office/drawing/2014/main" id="{3B76D526-7F14-08E4-5DE1-D7E07A882D4A}"/>
              </a:ext>
            </a:extLst>
          </p:cNvPr>
          <p:cNvSpPr/>
          <p:nvPr/>
        </p:nvSpPr>
        <p:spPr>
          <a:xfrm>
            <a:off x="4575389" y="978419"/>
            <a:ext cx="613471" cy="424854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50" b="1" dirty="0" err="1">
                <a:solidFill>
                  <a:srgbClr val="C00000"/>
                </a:solidFill>
              </a:rPr>
              <a:t>M</a:t>
            </a:r>
            <a:r>
              <a:rPr lang="en-US" sz="750" dirty="0" err="1">
                <a:solidFill>
                  <a:schemeClr val="tx1"/>
                </a:solidFill>
              </a:rPr>
              <a:t>×</a:t>
            </a:r>
            <a:r>
              <a:rPr lang="en-US" sz="750" b="1" dirty="0" err="1">
                <a:solidFill>
                  <a:schemeClr val="accent6"/>
                </a:solidFill>
                <a:latin typeface="Symbol" pitchFamily="2" charset="2"/>
              </a:rPr>
              <a:t>f</a:t>
            </a:r>
            <a:r>
              <a:rPr lang="en-US" sz="750" baseline="-25000" dirty="0" err="1">
                <a:solidFill>
                  <a:schemeClr val="accent6"/>
                </a:solidFill>
                <a:latin typeface="Aptos" panose="020B0004020202020204" pitchFamily="34" charset="0"/>
              </a:rPr>
              <a:t>m</a:t>
            </a:r>
            <a:endParaRPr lang="en-US" sz="750" baseline="-25000" dirty="0">
              <a:solidFill>
                <a:schemeClr val="accent6"/>
              </a:solidFill>
              <a:latin typeface="Aptos" panose="020B0004020202020204" pitchFamily="34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AA34799-8F46-1992-96CF-E78866BF00C4}"/>
              </a:ext>
            </a:extLst>
          </p:cNvPr>
          <p:cNvSpPr txBox="1"/>
          <p:nvPr/>
        </p:nvSpPr>
        <p:spPr>
          <a:xfrm>
            <a:off x="31317" y="2700120"/>
            <a:ext cx="2097049" cy="1962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75" b="1" dirty="0" err="1">
                <a:solidFill>
                  <a:schemeClr val="accent5"/>
                </a:solidFill>
              </a:rPr>
              <a:t>x</a:t>
            </a:r>
            <a:r>
              <a:rPr lang="en-US" sz="675" baseline="-25000" dirty="0" err="1">
                <a:solidFill>
                  <a:schemeClr val="accent5"/>
                </a:solidFill>
              </a:rPr>
              <a:t>loss</a:t>
            </a:r>
            <a:r>
              <a:rPr lang="en-US" sz="675" dirty="0"/>
              <a:t>: exergy of </a:t>
            </a:r>
            <a:r>
              <a:rPr lang="en-US" sz="675" i="1" dirty="0"/>
              <a:t>Q </a:t>
            </a:r>
            <a:r>
              <a:rPr lang="en-US" sz="675" dirty="0"/>
              <a:t>loss vector for the MCC or ECC [kg]</a:t>
            </a:r>
            <a:endParaRPr lang="en-US" sz="675" b="1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5EBC4EB-66BA-D35C-A880-D9C9728E8998}"/>
              </a:ext>
            </a:extLst>
          </p:cNvPr>
          <p:cNvSpPr txBox="1"/>
          <p:nvPr/>
        </p:nvSpPr>
        <p:spPr>
          <a:xfrm>
            <a:off x="114546" y="1657500"/>
            <a:ext cx="1465466" cy="1962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75" b="1" dirty="0">
                <a:solidFill>
                  <a:srgbClr val="C00000"/>
                </a:solidFill>
              </a:rPr>
              <a:t>B</a:t>
            </a:r>
            <a:r>
              <a:rPr lang="en-US" sz="675" dirty="0"/>
              <a:t>: exergy matrices for the MCC [kJ]</a:t>
            </a:r>
            <a:endParaRPr lang="en-US" sz="675" b="1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F216B87-8A15-83A9-9A41-3DD80A6A90F4}"/>
              </a:ext>
            </a:extLst>
          </p:cNvPr>
          <p:cNvSpPr txBox="1"/>
          <p:nvPr/>
        </p:nvSpPr>
        <p:spPr>
          <a:xfrm>
            <a:off x="72966" y="2233507"/>
            <a:ext cx="1879041" cy="1962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75" b="1" dirty="0" err="1">
                <a:solidFill>
                  <a:schemeClr val="accent6"/>
                </a:solidFill>
                <a:latin typeface="Symbol" pitchFamily="2" charset="2"/>
              </a:rPr>
              <a:t>f</a:t>
            </a:r>
            <a:r>
              <a:rPr lang="en-US" sz="675" baseline="-25000" dirty="0" err="1">
                <a:solidFill>
                  <a:schemeClr val="accent6"/>
                </a:solidFill>
                <a:latin typeface="Aptos" panose="020B0004020202020204" pitchFamily="34" charset="0"/>
              </a:rPr>
              <a:t>m</a:t>
            </a:r>
            <a:r>
              <a:rPr lang="en-US" sz="675" dirty="0"/>
              <a:t>: exergy-to-mass ratio for MCC flows [kJ/kg]</a:t>
            </a:r>
            <a:endParaRPr lang="en-US" sz="675" b="1" dirty="0"/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227EB4F7-EE38-8539-DA79-100B0A422010}"/>
              </a:ext>
            </a:extLst>
          </p:cNvPr>
          <p:cNvCxnSpPr>
            <a:cxnSpLocks/>
            <a:stCxn id="62" idx="3"/>
            <a:endCxn id="116" idx="1"/>
          </p:cNvCxnSpPr>
          <p:nvPr/>
        </p:nvCxnSpPr>
        <p:spPr>
          <a:xfrm>
            <a:off x="3400638" y="2326832"/>
            <a:ext cx="330175" cy="677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3237884B-E940-8219-3ADD-564183608D16}"/>
              </a:ext>
            </a:extLst>
          </p:cNvPr>
          <p:cNvCxnSpPr>
            <a:cxnSpLocks/>
            <a:endCxn id="62" idx="1"/>
          </p:cNvCxnSpPr>
          <p:nvPr/>
        </p:nvCxnSpPr>
        <p:spPr>
          <a:xfrm>
            <a:off x="2201217" y="2326832"/>
            <a:ext cx="468630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7" name="Group 66">
            <a:extLst>
              <a:ext uri="{FF2B5EF4-FFF2-40B4-BE49-F238E27FC236}">
                <a16:creationId xmlns:a16="http://schemas.microsoft.com/office/drawing/2014/main" id="{E5820FA2-9EC2-2E4B-9E46-BB466D2ECD5D}"/>
              </a:ext>
            </a:extLst>
          </p:cNvPr>
          <p:cNvGrpSpPr/>
          <p:nvPr/>
        </p:nvGrpSpPr>
        <p:grpSpPr>
          <a:xfrm>
            <a:off x="3210194" y="2287224"/>
            <a:ext cx="661672" cy="341216"/>
            <a:chOff x="1855393" y="1157780"/>
            <a:chExt cx="882229" cy="454955"/>
          </a:xfrm>
        </p:grpSpPr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9A69122B-A16F-DE93-D832-A4B3ECAAC96F}"/>
                </a:ext>
              </a:extLst>
            </p:cNvPr>
            <p:cNvSpPr txBox="1"/>
            <p:nvPr/>
          </p:nvSpPr>
          <p:spPr>
            <a:xfrm>
              <a:off x="2145694" y="1157780"/>
              <a:ext cx="312480" cy="26161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75" b="1" dirty="0">
                  <a:solidFill>
                    <a:srgbClr val="C00000"/>
                  </a:solidFill>
                </a:rPr>
                <a:t>E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AAF058A7-86B8-C4C3-03B0-9C16CC30515F}"/>
                </a:ext>
              </a:extLst>
            </p:cNvPr>
            <p:cNvSpPr txBox="1"/>
            <p:nvPr/>
          </p:nvSpPr>
          <p:spPr>
            <a:xfrm>
              <a:off x="1863013" y="1252064"/>
              <a:ext cx="874609" cy="26161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675" dirty="0"/>
                <a:t>w/ </a:t>
              </a:r>
              <a:r>
                <a:rPr lang="en-US" sz="675" i="1" dirty="0"/>
                <a:t>Q</a:t>
              </a:r>
            </a:p>
          </p:txBody>
        </p:sp>
        <p:sp>
          <p:nvSpPr>
            <p:cNvPr id="241" name="TextBox 240">
              <a:extLst>
                <a:ext uri="{FF2B5EF4-FFF2-40B4-BE49-F238E27FC236}">
                  <a16:creationId xmlns:a16="http://schemas.microsoft.com/office/drawing/2014/main" id="{BA021F87-E4E1-B90E-DCC2-4876C5C3B61E}"/>
                </a:ext>
              </a:extLst>
            </p:cNvPr>
            <p:cNvSpPr txBox="1"/>
            <p:nvPr/>
          </p:nvSpPr>
          <p:spPr>
            <a:xfrm>
              <a:off x="1855393" y="1351124"/>
              <a:ext cx="874609" cy="26161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675" dirty="0"/>
                <a:t>losses</a:t>
              </a:r>
            </a:p>
          </p:txBody>
        </p:sp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B21B9C41-D3A0-213F-76F4-D6988322A9F4}"/>
              </a:ext>
            </a:extLst>
          </p:cNvPr>
          <p:cNvGrpSpPr/>
          <p:nvPr/>
        </p:nvGrpSpPr>
        <p:grpSpPr>
          <a:xfrm>
            <a:off x="1961216" y="2293482"/>
            <a:ext cx="785840" cy="339510"/>
            <a:chOff x="18411" y="1166121"/>
            <a:chExt cx="1047786" cy="452679"/>
          </a:xfrm>
        </p:grpSpPr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2A4436A7-4D0C-FEC5-BF99-1C704105D585}"/>
                </a:ext>
              </a:extLst>
            </p:cNvPr>
            <p:cNvSpPr txBox="1"/>
            <p:nvPr/>
          </p:nvSpPr>
          <p:spPr>
            <a:xfrm>
              <a:off x="397246" y="1166121"/>
              <a:ext cx="312480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75" b="1" dirty="0">
                  <a:solidFill>
                    <a:srgbClr val="C00000"/>
                  </a:solidFill>
                </a:rPr>
                <a:t>E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258BC224-7CB0-7856-BA1E-88AF65BDB114}"/>
                </a:ext>
              </a:extLst>
            </p:cNvPr>
            <p:cNvSpPr txBox="1"/>
            <p:nvPr/>
          </p:nvSpPr>
          <p:spPr>
            <a:xfrm>
              <a:off x="25650" y="1261001"/>
              <a:ext cx="1040547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675" dirty="0"/>
                <a:t>w/o </a:t>
              </a:r>
              <a:r>
                <a:rPr lang="en-US" sz="675" i="1" dirty="0"/>
                <a:t>Q</a:t>
              </a:r>
              <a:endParaRPr lang="en-US" sz="675" dirty="0"/>
            </a:p>
          </p:txBody>
        </p:sp>
        <p:sp>
          <p:nvSpPr>
            <p:cNvPr id="171" name="TextBox 170">
              <a:extLst>
                <a:ext uri="{FF2B5EF4-FFF2-40B4-BE49-F238E27FC236}">
                  <a16:creationId xmlns:a16="http://schemas.microsoft.com/office/drawing/2014/main" id="{6F167800-6F83-8EAE-9B73-AADEFF3409D3}"/>
                </a:ext>
              </a:extLst>
            </p:cNvPr>
            <p:cNvSpPr txBox="1"/>
            <p:nvPr/>
          </p:nvSpPr>
          <p:spPr>
            <a:xfrm>
              <a:off x="18411" y="1357190"/>
              <a:ext cx="1040546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675" dirty="0"/>
                <a:t>losses</a:t>
              </a:r>
            </a:p>
          </p:txBody>
        </p:sp>
      </p:grpSp>
      <p:sp>
        <p:nvSpPr>
          <p:cNvPr id="82" name="TextBox 81">
            <a:extLst>
              <a:ext uri="{FF2B5EF4-FFF2-40B4-BE49-F238E27FC236}">
                <a16:creationId xmlns:a16="http://schemas.microsoft.com/office/drawing/2014/main" id="{64F6E5AC-4B60-EA26-0033-9C0550253EBE}"/>
              </a:ext>
            </a:extLst>
          </p:cNvPr>
          <p:cNvSpPr txBox="1"/>
          <p:nvPr/>
        </p:nvSpPr>
        <p:spPr>
          <a:xfrm>
            <a:off x="95980" y="2319434"/>
            <a:ext cx="1869423" cy="1962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75" b="1" dirty="0" err="1">
                <a:solidFill>
                  <a:schemeClr val="accent6"/>
                </a:solidFill>
                <a:latin typeface="Symbol" pitchFamily="2" charset="2"/>
              </a:rPr>
              <a:t>f</a:t>
            </a:r>
            <a:r>
              <a:rPr lang="en-US" sz="675" baseline="-25000" dirty="0" err="1">
                <a:solidFill>
                  <a:schemeClr val="accent6"/>
                </a:solidFill>
                <a:latin typeface="Aptos" panose="020B0004020202020204" pitchFamily="34" charset="0"/>
              </a:rPr>
              <a:t>e</a:t>
            </a:r>
            <a:r>
              <a:rPr lang="en-US" sz="675" dirty="0"/>
              <a:t>: exergy-to-energy ratio for ECC flows [kJ/kJ]</a:t>
            </a:r>
            <a:endParaRPr lang="en-US" sz="675" b="1" dirty="0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ED27A61D-EF4F-B366-6411-957D406CAF8E}"/>
              </a:ext>
            </a:extLst>
          </p:cNvPr>
          <p:cNvSpPr txBox="1"/>
          <p:nvPr/>
        </p:nvSpPr>
        <p:spPr>
          <a:xfrm>
            <a:off x="4137247" y="2282464"/>
            <a:ext cx="469061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750" b="1" dirty="0" err="1">
                <a:solidFill>
                  <a:schemeClr val="accent5"/>
                </a:solidFill>
              </a:rPr>
              <a:t>q</a:t>
            </a:r>
            <a:r>
              <a:rPr lang="en-US" sz="750" baseline="-25000" dirty="0" err="1">
                <a:solidFill>
                  <a:schemeClr val="accent5"/>
                </a:solidFill>
              </a:rPr>
              <a:t>loss</a:t>
            </a:r>
            <a:endParaRPr lang="en-US" sz="750" baseline="-25000" dirty="0">
              <a:solidFill>
                <a:schemeClr val="accent5"/>
              </a:solidFill>
            </a:endParaRPr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D755DF29-B31A-7D31-4316-D4520739ED0B}"/>
              </a:ext>
            </a:extLst>
          </p:cNvPr>
          <p:cNvCxnSpPr>
            <a:cxnSpLocks/>
            <a:stCxn id="116" idx="3"/>
          </p:cNvCxnSpPr>
          <p:nvPr/>
        </p:nvCxnSpPr>
        <p:spPr>
          <a:xfrm>
            <a:off x="4264945" y="2327509"/>
            <a:ext cx="235901" cy="0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69A7D992-7D3E-DA9F-E19B-6454C5B6E1C7}"/>
              </a:ext>
            </a:extLst>
          </p:cNvPr>
          <p:cNvGrpSpPr/>
          <p:nvPr/>
        </p:nvGrpSpPr>
        <p:grpSpPr>
          <a:xfrm>
            <a:off x="3973787" y="1902549"/>
            <a:ext cx="585048" cy="360460"/>
            <a:chOff x="1844226" y="366857"/>
            <a:chExt cx="780064" cy="480613"/>
          </a:xfrm>
        </p:grpSpPr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AB9DF732-2CAE-15AF-A737-94558AD7F1EE}"/>
                </a:ext>
              </a:extLst>
            </p:cNvPr>
            <p:cNvSpPr txBox="1"/>
            <p:nvPr/>
          </p:nvSpPr>
          <p:spPr>
            <a:xfrm>
              <a:off x="2096971" y="366857"/>
              <a:ext cx="286831" cy="26161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75" b="1" dirty="0">
                  <a:solidFill>
                    <a:schemeClr val="accent5"/>
                  </a:solidFill>
                </a:rPr>
                <a:t>t</a:t>
              </a:r>
            </a:p>
          </p:txBody>
        </p: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C7D97FFD-570F-AEB2-6D1C-72D59513038E}"/>
                </a:ext>
              </a:extLst>
            </p:cNvPr>
            <p:cNvSpPr txBox="1"/>
            <p:nvPr/>
          </p:nvSpPr>
          <p:spPr>
            <a:xfrm>
              <a:off x="1844226" y="447361"/>
              <a:ext cx="780064" cy="40010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675" dirty="0"/>
                <a:t>of </a:t>
              </a:r>
              <a:r>
                <a:rPr lang="en-US" sz="675" i="1" dirty="0"/>
                <a:t>Q</a:t>
              </a:r>
              <a:r>
                <a:rPr lang="en-US" sz="675" dirty="0"/>
                <a:t> losses</a:t>
              </a:r>
            </a:p>
          </p:txBody>
        </p:sp>
      </p:grp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DA3B3A91-6997-EB96-9E87-81D979E94315}"/>
              </a:ext>
            </a:extLst>
          </p:cNvPr>
          <p:cNvGrpSpPr/>
          <p:nvPr/>
        </p:nvGrpSpPr>
        <p:grpSpPr>
          <a:xfrm>
            <a:off x="5155842" y="2088325"/>
            <a:ext cx="585048" cy="381450"/>
            <a:chOff x="1844226" y="363682"/>
            <a:chExt cx="780064" cy="508601"/>
          </a:xfrm>
        </p:grpSpPr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2037CCDE-E62D-345E-2973-E1B3A7C107AF}"/>
                </a:ext>
              </a:extLst>
            </p:cNvPr>
            <p:cNvSpPr txBox="1"/>
            <p:nvPr/>
          </p:nvSpPr>
          <p:spPr>
            <a:xfrm>
              <a:off x="2021095" y="363682"/>
              <a:ext cx="438583" cy="26161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75" b="1" dirty="0" err="1">
                  <a:solidFill>
                    <a:schemeClr val="accent5"/>
                  </a:solidFill>
                </a:rPr>
                <a:t>x</a:t>
              </a:r>
              <a:r>
                <a:rPr lang="en-US" sz="675" baseline="-25000" dirty="0" err="1">
                  <a:solidFill>
                    <a:schemeClr val="accent5"/>
                  </a:solidFill>
                </a:rPr>
                <a:t>loss</a:t>
              </a:r>
              <a:endParaRPr lang="en-US" sz="675" baseline="-25000" dirty="0">
                <a:solidFill>
                  <a:schemeClr val="accent5"/>
                </a:solidFill>
              </a:endParaRPr>
            </a:p>
          </p:txBody>
        </p: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A1BB1B81-FEE3-C9A9-3B72-5E3F7F0BB765}"/>
                </a:ext>
              </a:extLst>
            </p:cNvPr>
            <p:cNvSpPr txBox="1"/>
            <p:nvPr/>
          </p:nvSpPr>
          <p:spPr>
            <a:xfrm>
              <a:off x="1844226" y="472173"/>
              <a:ext cx="780064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675" dirty="0"/>
                <a:t>for </a:t>
              </a:r>
              <a:r>
                <a:rPr lang="en-US" sz="675" i="1" dirty="0"/>
                <a:t>Q</a:t>
              </a:r>
              <a:r>
                <a:rPr lang="en-US" sz="675" dirty="0"/>
                <a:t> losses</a:t>
              </a:r>
            </a:p>
          </p:txBody>
        </p:sp>
      </p:grp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C6362180-5E7A-668B-1F74-8CF137BAA083}"/>
              </a:ext>
            </a:extLst>
          </p:cNvPr>
          <p:cNvCxnSpPr>
            <a:cxnSpLocks/>
          </p:cNvCxnSpPr>
          <p:nvPr/>
        </p:nvCxnSpPr>
        <p:spPr>
          <a:xfrm>
            <a:off x="4049684" y="1946510"/>
            <a:ext cx="459357" cy="0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Arrow Connector 118">
            <a:extLst>
              <a:ext uri="{FF2B5EF4-FFF2-40B4-BE49-F238E27FC236}">
                <a16:creationId xmlns:a16="http://schemas.microsoft.com/office/drawing/2014/main" id="{5BAB9071-F560-6588-899A-9F94DB848F58}"/>
              </a:ext>
            </a:extLst>
          </p:cNvPr>
          <p:cNvCxnSpPr>
            <a:cxnSpLocks/>
            <a:stCxn id="109" idx="3"/>
          </p:cNvCxnSpPr>
          <p:nvPr/>
        </p:nvCxnSpPr>
        <p:spPr>
          <a:xfrm>
            <a:off x="5212395" y="2131104"/>
            <a:ext cx="491811" cy="0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Elbow Connector 121">
            <a:extLst>
              <a:ext uri="{FF2B5EF4-FFF2-40B4-BE49-F238E27FC236}">
                <a16:creationId xmlns:a16="http://schemas.microsoft.com/office/drawing/2014/main" id="{95175A4F-E490-0804-7724-F5FE1C22590D}"/>
              </a:ext>
            </a:extLst>
          </p:cNvPr>
          <p:cNvCxnSpPr>
            <a:cxnSpLocks/>
          </p:cNvCxnSpPr>
          <p:nvPr/>
        </p:nvCxnSpPr>
        <p:spPr>
          <a:xfrm>
            <a:off x="2543364" y="2329903"/>
            <a:ext cx="2022192" cy="392999"/>
          </a:xfrm>
          <a:prstGeom prst="bentConnector3">
            <a:avLst>
              <a:gd name="adj1" fmla="val 365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Arrow Connector 127">
            <a:extLst>
              <a:ext uri="{FF2B5EF4-FFF2-40B4-BE49-F238E27FC236}">
                <a16:creationId xmlns:a16="http://schemas.microsoft.com/office/drawing/2014/main" id="{E7C12B45-F76C-77DE-A9A6-CE1193036B19}"/>
              </a:ext>
            </a:extLst>
          </p:cNvPr>
          <p:cNvCxnSpPr>
            <a:cxnSpLocks/>
          </p:cNvCxnSpPr>
          <p:nvPr/>
        </p:nvCxnSpPr>
        <p:spPr>
          <a:xfrm>
            <a:off x="4008406" y="2852674"/>
            <a:ext cx="550148" cy="0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>
            <a:extLst>
              <a:ext uri="{FF2B5EF4-FFF2-40B4-BE49-F238E27FC236}">
                <a16:creationId xmlns:a16="http://schemas.microsoft.com/office/drawing/2014/main" id="{288FD1C1-C201-A150-3751-DBB38A4D6A74}"/>
              </a:ext>
            </a:extLst>
          </p:cNvPr>
          <p:cNvSpPr txBox="1"/>
          <p:nvPr/>
        </p:nvSpPr>
        <p:spPr>
          <a:xfrm>
            <a:off x="4130589" y="2811981"/>
            <a:ext cx="260008" cy="1962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675" b="1" dirty="0" err="1">
                <a:solidFill>
                  <a:schemeClr val="accent6"/>
                </a:solidFill>
                <a:latin typeface="Symbol" pitchFamily="2" charset="2"/>
              </a:rPr>
              <a:t>f</a:t>
            </a:r>
            <a:r>
              <a:rPr lang="en-US" sz="675" baseline="-25000" dirty="0" err="1">
                <a:solidFill>
                  <a:schemeClr val="accent6"/>
                </a:solidFill>
                <a:latin typeface="Aptos" panose="020B0004020202020204" pitchFamily="34" charset="0"/>
              </a:rPr>
              <a:t>e</a:t>
            </a:r>
            <a:endParaRPr lang="en-US" sz="675" b="1" dirty="0">
              <a:solidFill>
                <a:schemeClr val="accent6"/>
              </a:solidFill>
              <a:latin typeface="Symbol" pitchFamily="2" charset="2"/>
            </a:endParaRPr>
          </a:p>
        </p:txBody>
      </p:sp>
      <p:grpSp>
        <p:nvGrpSpPr>
          <p:cNvPr id="130" name="Group 129">
            <a:extLst>
              <a:ext uri="{FF2B5EF4-FFF2-40B4-BE49-F238E27FC236}">
                <a16:creationId xmlns:a16="http://schemas.microsoft.com/office/drawing/2014/main" id="{95588E39-B6EC-F5CF-809D-3E0FD1DFC103}"/>
              </a:ext>
            </a:extLst>
          </p:cNvPr>
          <p:cNvGrpSpPr/>
          <p:nvPr/>
        </p:nvGrpSpPr>
        <p:grpSpPr>
          <a:xfrm>
            <a:off x="5018878" y="2699892"/>
            <a:ext cx="821882" cy="263737"/>
            <a:chOff x="3349371" y="757617"/>
            <a:chExt cx="1095843" cy="351650"/>
          </a:xfrm>
        </p:grpSpPr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C5147B40-F29A-F584-4AC2-3730D38ACE91}"/>
                </a:ext>
              </a:extLst>
            </p:cNvPr>
            <p:cNvSpPr txBox="1"/>
            <p:nvPr/>
          </p:nvSpPr>
          <p:spPr>
            <a:xfrm>
              <a:off x="3349371" y="847656"/>
              <a:ext cx="1095843" cy="26161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675" dirty="0"/>
                <a:t>w/o </a:t>
              </a:r>
              <a:r>
                <a:rPr lang="en-US" sz="675" i="1" dirty="0"/>
                <a:t>Q</a:t>
              </a:r>
              <a:r>
                <a:rPr lang="en-US" sz="675" dirty="0"/>
                <a:t> losses</a:t>
              </a:r>
            </a:p>
          </p:txBody>
        </p: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93492AE5-2ED5-AF89-B552-A3EEBE1653E7}"/>
                </a:ext>
              </a:extLst>
            </p:cNvPr>
            <p:cNvSpPr txBox="1"/>
            <p:nvPr/>
          </p:nvSpPr>
          <p:spPr>
            <a:xfrm>
              <a:off x="3734132" y="757617"/>
              <a:ext cx="314616" cy="26161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75" b="1" dirty="0">
                  <a:solidFill>
                    <a:srgbClr val="C00000"/>
                  </a:solidFill>
                </a:rPr>
                <a:t>X</a:t>
              </a:r>
            </a:p>
          </p:txBody>
        </p:sp>
      </p:grpSp>
      <p:cxnSp>
        <p:nvCxnSpPr>
          <p:cNvPr id="134" name="Straight Arrow Connector 133">
            <a:extLst>
              <a:ext uri="{FF2B5EF4-FFF2-40B4-BE49-F238E27FC236}">
                <a16:creationId xmlns:a16="http://schemas.microsoft.com/office/drawing/2014/main" id="{A53921C5-AF20-E641-7818-024DF8F46062}"/>
              </a:ext>
            </a:extLst>
          </p:cNvPr>
          <p:cNvCxnSpPr>
            <a:cxnSpLocks/>
            <a:stCxn id="124" idx="3"/>
          </p:cNvCxnSpPr>
          <p:nvPr/>
        </p:nvCxnSpPr>
        <p:spPr>
          <a:xfrm>
            <a:off x="5179027" y="2718360"/>
            <a:ext cx="51175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TextBox 148">
            <a:extLst>
              <a:ext uri="{FF2B5EF4-FFF2-40B4-BE49-F238E27FC236}">
                <a16:creationId xmlns:a16="http://schemas.microsoft.com/office/drawing/2014/main" id="{C7C7312D-36DC-190D-793D-01135C668247}"/>
              </a:ext>
            </a:extLst>
          </p:cNvPr>
          <p:cNvSpPr txBox="1"/>
          <p:nvPr/>
        </p:nvSpPr>
        <p:spPr>
          <a:xfrm>
            <a:off x="3244" y="2462126"/>
            <a:ext cx="1799416" cy="196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675" dirty="0">
                <a:solidFill>
                  <a:schemeClr val="accent5"/>
                </a:solidFill>
              </a:rPr>
              <a:t>Vectors</a:t>
            </a:r>
            <a:r>
              <a:rPr lang="en-US" sz="675" dirty="0"/>
              <a:t>:</a:t>
            </a: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67D444FD-ED6D-F387-F5C0-0C45F2843BC1}"/>
              </a:ext>
            </a:extLst>
          </p:cNvPr>
          <p:cNvSpPr txBox="1"/>
          <p:nvPr/>
        </p:nvSpPr>
        <p:spPr>
          <a:xfrm>
            <a:off x="3244" y="2863097"/>
            <a:ext cx="1799416" cy="196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675" dirty="0"/>
              <a:t>Operators:</a:t>
            </a:r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A17330B0-DE29-8A97-A721-D9F70ABB8422}"/>
              </a:ext>
            </a:extLst>
          </p:cNvPr>
          <p:cNvSpPr txBox="1"/>
          <p:nvPr/>
        </p:nvSpPr>
        <p:spPr>
          <a:xfrm>
            <a:off x="132577" y="2935973"/>
            <a:ext cx="982961" cy="1962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75" dirty="0"/>
              <a:t>×: Hadamard product</a:t>
            </a:r>
            <a:endParaRPr lang="en-US" sz="675" b="1" dirty="0"/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CF6BEB72-7AC8-FB5A-C733-652EF02C2E21}"/>
              </a:ext>
            </a:extLst>
          </p:cNvPr>
          <p:cNvSpPr txBox="1"/>
          <p:nvPr/>
        </p:nvSpPr>
        <p:spPr>
          <a:xfrm>
            <a:off x="150988" y="3031862"/>
            <a:ext cx="1067921" cy="1962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75" dirty="0"/>
              <a:t>/: Element-wise division</a:t>
            </a:r>
            <a:endParaRPr lang="en-US" sz="675" b="1" dirty="0"/>
          </a:p>
        </p:txBody>
      </p:sp>
      <p:grpSp>
        <p:nvGrpSpPr>
          <p:cNvPr id="195" name="Group 194">
            <a:extLst>
              <a:ext uri="{FF2B5EF4-FFF2-40B4-BE49-F238E27FC236}">
                <a16:creationId xmlns:a16="http://schemas.microsoft.com/office/drawing/2014/main" id="{E3F1BDD4-2872-FE4F-B944-63472C50587D}"/>
              </a:ext>
            </a:extLst>
          </p:cNvPr>
          <p:cNvGrpSpPr/>
          <p:nvPr/>
        </p:nvGrpSpPr>
        <p:grpSpPr>
          <a:xfrm>
            <a:off x="2083054" y="572816"/>
            <a:ext cx="682385" cy="480264"/>
            <a:chOff x="2924693" y="757617"/>
            <a:chExt cx="909847" cy="640352"/>
          </a:xfrm>
        </p:grpSpPr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46BF3725-3A1B-F162-7EB5-5406A0DDB627}"/>
                </a:ext>
              </a:extLst>
            </p:cNvPr>
            <p:cNvGrpSpPr/>
            <p:nvPr/>
          </p:nvGrpSpPr>
          <p:grpSpPr>
            <a:xfrm>
              <a:off x="2987118" y="757617"/>
              <a:ext cx="786201" cy="640352"/>
              <a:chOff x="3287831" y="757617"/>
              <a:chExt cx="786201" cy="640352"/>
            </a:xfrm>
          </p:grpSpPr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F0CC2D39-D873-C899-9579-7F292843F68C}"/>
                  </a:ext>
                </a:extLst>
              </p:cNvPr>
              <p:cNvSpPr txBox="1"/>
              <p:nvPr/>
            </p:nvSpPr>
            <p:spPr>
              <a:xfrm>
                <a:off x="3528168" y="757617"/>
                <a:ext cx="312480" cy="26161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675" b="1" dirty="0">
                    <a:solidFill>
                      <a:srgbClr val="C00000"/>
                    </a:solidFill>
                  </a:rPr>
                  <a:t>E</a:t>
                </a:r>
              </a:p>
            </p:txBody>
          </p: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BC09D8EA-E06D-BB0D-9FDA-161A1B06D7CB}"/>
                  </a:ext>
                </a:extLst>
              </p:cNvPr>
              <p:cNvSpPr txBox="1"/>
              <p:nvPr/>
            </p:nvSpPr>
            <p:spPr>
              <a:xfrm>
                <a:off x="3287831" y="1042646"/>
                <a:ext cx="780064" cy="2616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675" dirty="0"/>
                  <a:t>w/o </a:t>
                </a:r>
                <a:r>
                  <a:rPr lang="en-US" sz="675" i="1" dirty="0"/>
                  <a:t>Q</a:t>
                </a:r>
                <a:endParaRPr lang="en-US" sz="675" dirty="0"/>
              </a:p>
            </p:txBody>
          </p: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731D1B16-E67D-1050-33AB-9DD0D08A53B7}"/>
                  </a:ext>
                </a:extLst>
              </p:cNvPr>
              <p:cNvSpPr txBox="1"/>
              <p:nvPr/>
            </p:nvSpPr>
            <p:spPr>
              <a:xfrm>
                <a:off x="3293968" y="1136358"/>
                <a:ext cx="780064" cy="2616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675" dirty="0"/>
                  <a:t>losses</a:t>
                </a:r>
              </a:p>
            </p:txBody>
          </p:sp>
        </p:grpSp>
        <p:sp>
          <p:nvSpPr>
            <p:cNvPr id="153" name="TextBox 152">
              <a:extLst>
                <a:ext uri="{FF2B5EF4-FFF2-40B4-BE49-F238E27FC236}">
                  <a16:creationId xmlns:a16="http://schemas.microsoft.com/office/drawing/2014/main" id="{5ACC2C55-7EE3-4DB2-9761-4A7AA62B58B6}"/>
                </a:ext>
              </a:extLst>
            </p:cNvPr>
            <p:cNvSpPr txBox="1"/>
            <p:nvPr/>
          </p:nvSpPr>
          <p:spPr>
            <a:xfrm>
              <a:off x="2924693" y="850053"/>
              <a:ext cx="909847" cy="26161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675" dirty="0"/>
                <a:t>w/ </a:t>
              </a:r>
              <a:r>
                <a:rPr lang="en-US" sz="675" i="1" dirty="0"/>
                <a:t>m</a:t>
              </a:r>
              <a:endParaRPr lang="en-US" sz="675" dirty="0"/>
            </a:p>
          </p:txBody>
        </p:sp>
        <p:sp>
          <p:nvSpPr>
            <p:cNvPr id="155" name="TextBox 154">
              <a:extLst>
                <a:ext uri="{FF2B5EF4-FFF2-40B4-BE49-F238E27FC236}">
                  <a16:creationId xmlns:a16="http://schemas.microsoft.com/office/drawing/2014/main" id="{68C5C4C1-8D1E-8F03-659A-A9B96DE3564C}"/>
                </a:ext>
              </a:extLst>
            </p:cNvPr>
            <p:cNvSpPr txBox="1"/>
            <p:nvPr/>
          </p:nvSpPr>
          <p:spPr>
            <a:xfrm>
              <a:off x="3043904" y="944526"/>
              <a:ext cx="711882" cy="26161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675" dirty="0"/>
                <a:t>losses;</a:t>
              </a:r>
            </a:p>
          </p:txBody>
        </p:sp>
      </p:grp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46ADCBFA-84F8-F91A-EFC2-8D3E37048A31}"/>
              </a:ext>
            </a:extLst>
          </p:cNvPr>
          <p:cNvCxnSpPr>
            <a:cxnSpLocks/>
            <a:stCxn id="143" idx="3"/>
          </p:cNvCxnSpPr>
          <p:nvPr/>
        </p:nvCxnSpPr>
        <p:spPr>
          <a:xfrm>
            <a:off x="6310945" y="2453611"/>
            <a:ext cx="335600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63" name="Group 162">
            <a:extLst>
              <a:ext uri="{FF2B5EF4-FFF2-40B4-BE49-F238E27FC236}">
                <a16:creationId xmlns:a16="http://schemas.microsoft.com/office/drawing/2014/main" id="{082430F0-3644-E57A-8AF1-863FB3FB746A}"/>
              </a:ext>
            </a:extLst>
          </p:cNvPr>
          <p:cNvGrpSpPr/>
          <p:nvPr/>
        </p:nvGrpSpPr>
        <p:grpSpPr>
          <a:xfrm>
            <a:off x="6123526" y="2432455"/>
            <a:ext cx="705323" cy="336920"/>
            <a:chOff x="7371586" y="1157780"/>
            <a:chExt cx="940430" cy="449227"/>
          </a:xfrm>
        </p:grpSpPr>
        <p:sp>
          <p:nvSpPr>
            <p:cNvPr id="164" name="TextBox 163">
              <a:extLst>
                <a:ext uri="{FF2B5EF4-FFF2-40B4-BE49-F238E27FC236}">
                  <a16:creationId xmlns:a16="http://schemas.microsoft.com/office/drawing/2014/main" id="{1456B8FC-660C-C29D-5FBC-B28AE0D344F3}"/>
                </a:ext>
              </a:extLst>
            </p:cNvPr>
            <p:cNvSpPr txBox="1"/>
            <p:nvPr/>
          </p:nvSpPr>
          <p:spPr>
            <a:xfrm>
              <a:off x="7686716" y="1157780"/>
              <a:ext cx="314616" cy="26161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75" b="1" dirty="0">
                  <a:solidFill>
                    <a:srgbClr val="C00000"/>
                  </a:solidFill>
                </a:rPr>
                <a:t>X</a:t>
              </a:r>
            </a:p>
          </p:txBody>
        </p:sp>
        <p:sp>
          <p:nvSpPr>
            <p:cNvPr id="165" name="TextBox 164">
              <a:extLst>
                <a:ext uri="{FF2B5EF4-FFF2-40B4-BE49-F238E27FC236}">
                  <a16:creationId xmlns:a16="http://schemas.microsoft.com/office/drawing/2014/main" id="{97E50366-1E9B-4A57-53E1-3B54CA1CDCB0}"/>
                </a:ext>
              </a:extLst>
            </p:cNvPr>
            <p:cNvSpPr txBox="1"/>
            <p:nvPr/>
          </p:nvSpPr>
          <p:spPr>
            <a:xfrm>
              <a:off x="7379206" y="1253956"/>
              <a:ext cx="932810" cy="26161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675" dirty="0"/>
                <a:t>w/ </a:t>
              </a:r>
              <a:r>
                <a:rPr lang="en-US" sz="675" i="1" dirty="0"/>
                <a:t>Q</a:t>
              </a:r>
            </a:p>
          </p:txBody>
        </p:sp>
        <p:sp>
          <p:nvSpPr>
            <p:cNvPr id="232" name="TextBox 231">
              <a:extLst>
                <a:ext uri="{FF2B5EF4-FFF2-40B4-BE49-F238E27FC236}">
                  <a16:creationId xmlns:a16="http://schemas.microsoft.com/office/drawing/2014/main" id="{DC31F17F-11FD-CFB7-964D-709A6482465A}"/>
                </a:ext>
              </a:extLst>
            </p:cNvPr>
            <p:cNvSpPr txBox="1"/>
            <p:nvPr/>
          </p:nvSpPr>
          <p:spPr>
            <a:xfrm>
              <a:off x="7371586" y="1345396"/>
              <a:ext cx="932810" cy="26161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675" dirty="0"/>
                <a:t> losses</a:t>
              </a:r>
            </a:p>
          </p:txBody>
        </p:sp>
      </p:grpSp>
      <p:cxnSp>
        <p:nvCxnSpPr>
          <p:cNvPr id="175" name="Straight Arrow Connector 174">
            <a:extLst>
              <a:ext uri="{FF2B5EF4-FFF2-40B4-BE49-F238E27FC236}">
                <a16:creationId xmlns:a16="http://schemas.microsoft.com/office/drawing/2014/main" id="{1C1F4B65-C549-CD6F-020F-7AAF0DC7519B}"/>
              </a:ext>
            </a:extLst>
          </p:cNvPr>
          <p:cNvCxnSpPr>
            <a:cxnSpLocks/>
            <a:stCxn id="173" idx="3"/>
            <a:endCxn id="179" idx="1"/>
          </p:cNvCxnSpPr>
          <p:nvPr/>
        </p:nvCxnSpPr>
        <p:spPr>
          <a:xfrm>
            <a:off x="7270045" y="1649244"/>
            <a:ext cx="592045" cy="33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Arrow Connector 181">
            <a:extLst>
              <a:ext uri="{FF2B5EF4-FFF2-40B4-BE49-F238E27FC236}">
                <a16:creationId xmlns:a16="http://schemas.microsoft.com/office/drawing/2014/main" id="{0296FC40-2B58-B9A7-5085-E35BF084EC81}"/>
              </a:ext>
            </a:extLst>
          </p:cNvPr>
          <p:cNvCxnSpPr>
            <a:cxnSpLocks/>
            <a:stCxn id="179" idx="3"/>
          </p:cNvCxnSpPr>
          <p:nvPr/>
        </p:nvCxnSpPr>
        <p:spPr>
          <a:xfrm>
            <a:off x="8513894" y="1649277"/>
            <a:ext cx="534983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9" name="TextBox 218">
            <a:extLst>
              <a:ext uri="{FF2B5EF4-FFF2-40B4-BE49-F238E27FC236}">
                <a16:creationId xmlns:a16="http://schemas.microsoft.com/office/drawing/2014/main" id="{B474DAF3-7F6A-3753-8E3F-CB3F3050740F}"/>
              </a:ext>
            </a:extLst>
          </p:cNvPr>
          <p:cNvSpPr txBox="1"/>
          <p:nvPr/>
        </p:nvSpPr>
        <p:spPr>
          <a:xfrm>
            <a:off x="137180" y="3123148"/>
            <a:ext cx="962123" cy="1962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75" dirty="0"/>
              <a:t>+: Element-wise sum</a:t>
            </a:r>
            <a:endParaRPr lang="en-US" sz="675" b="1" dirty="0"/>
          </a:p>
        </p:txBody>
      </p:sp>
      <p:sp>
        <p:nvSpPr>
          <p:cNvPr id="220" name="TextBox 219">
            <a:extLst>
              <a:ext uri="{FF2B5EF4-FFF2-40B4-BE49-F238E27FC236}">
                <a16:creationId xmlns:a16="http://schemas.microsoft.com/office/drawing/2014/main" id="{E6527A35-6708-4FD8-FEC9-2B93047ED99E}"/>
              </a:ext>
            </a:extLst>
          </p:cNvPr>
          <p:cNvSpPr txBox="1"/>
          <p:nvPr/>
        </p:nvSpPr>
        <p:spPr>
          <a:xfrm>
            <a:off x="114546" y="1737360"/>
            <a:ext cx="1443024" cy="1962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75" b="1" dirty="0">
                <a:solidFill>
                  <a:srgbClr val="C00000"/>
                </a:solidFill>
              </a:rPr>
              <a:t>X</a:t>
            </a:r>
            <a:r>
              <a:rPr lang="en-US" sz="675" dirty="0"/>
              <a:t>: exergy matrices for the ECC [kJ]</a:t>
            </a:r>
            <a:endParaRPr lang="en-US" sz="675" b="1" dirty="0"/>
          </a:p>
        </p:txBody>
      </p:sp>
      <p:sp>
        <p:nvSpPr>
          <p:cNvPr id="221" name="TextBox 220">
            <a:extLst>
              <a:ext uri="{FF2B5EF4-FFF2-40B4-BE49-F238E27FC236}">
                <a16:creationId xmlns:a16="http://schemas.microsoft.com/office/drawing/2014/main" id="{44B3915E-CD4A-DD7C-3F02-8FD81922B174}"/>
              </a:ext>
            </a:extLst>
          </p:cNvPr>
          <p:cNvSpPr txBox="1"/>
          <p:nvPr/>
        </p:nvSpPr>
        <p:spPr>
          <a:xfrm>
            <a:off x="59314" y="1824044"/>
            <a:ext cx="2117887" cy="1962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75" b="1" dirty="0">
                <a:solidFill>
                  <a:srgbClr val="C00000"/>
                </a:solidFill>
              </a:rPr>
              <a:t>BX</a:t>
            </a:r>
            <a:r>
              <a:rPr lang="en-US" sz="675" dirty="0"/>
              <a:t>: exergy matrices for combined MCC and ECC [kJ]</a:t>
            </a:r>
            <a:endParaRPr lang="en-US" sz="675" b="1" dirty="0"/>
          </a:p>
        </p:txBody>
      </p:sp>
      <p:grpSp>
        <p:nvGrpSpPr>
          <p:cNvPr id="224" name="Group 223">
            <a:extLst>
              <a:ext uri="{FF2B5EF4-FFF2-40B4-BE49-F238E27FC236}">
                <a16:creationId xmlns:a16="http://schemas.microsoft.com/office/drawing/2014/main" id="{52A5C4E1-0C24-3A8C-A847-AA361A96BCB7}"/>
              </a:ext>
            </a:extLst>
          </p:cNvPr>
          <p:cNvGrpSpPr/>
          <p:nvPr/>
        </p:nvGrpSpPr>
        <p:grpSpPr>
          <a:xfrm>
            <a:off x="7147121" y="1610300"/>
            <a:ext cx="834923" cy="488281"/>
            <a:chOff x="9529495" y="2048006"/>
            <a:chExt cx="1113230" cy="651040"/>
          </a:xfrm>
        </p:grpSpPr>
        <p:grpSp>
          <p:nvGrpSpPr>
            <p:cNvPr id="208" name="Group 207">
              <a:extLst>
                <a:ext uri="{FF2B5EF4-FFF2-40B4-BE49-F238E27FC236}">
                  <a16:creationId xmlns:a16="http://schemas.microsoft.com/office/drawing/2014/main" id="{5D7DA325-0C97-A7E5-9A65-A6D343BF8613}"/>
                </a:ext>
              </a:extLst>
            </p:cNvPr>
            <p:cNvGrpSpPr/>
            <p:nvPr/>
          </p:nvGrpSpPr>
          <p:grpSpPr>
            <a:xfrm>
              <a:off x="9529495" y="2048006"/>
              <a:ext cx="1113230" cy="651040"/>
              <a:chOff x="9474262" y="1895811"/>
              <a:chExt cx="1113230" cy="651040"/>
            </a:xfrm>
          </p:grpSpPr>
          <p:sp>
            <p:nvSpPr>
              <p:cNvPr id="185" name="TextBox 184">
                <a:extLst>
                  <a:ext uri="{FF2B5EF4-FFF2-40B4-BE49-F238E27FC236}">
                    <a16:creationId xmlns:a16="http://schemas.microsoft.com/office/drawing/2014/main" id="{D5D84000-A971-4978-4554-F9D844974BDB}"/>
                  </a:ext>
                </a:extLst>
              </p:cNvPr>
              <p:cNvSpPr txBox="1"/>
              <p:nvPr/>
            </p:nvSpPr>
            <p:spPr>
              <a:xfrm>
                <a:off x="9822964" y="1895811"/>
                <a:ext cx="385149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675" b="1" dirty="0">
                    <a:solidFill>
                      <a:srgbClr val="C00000"/>
                    </a:solidFill>
                  </a:rPr>
                  <a:t>BX</a:t>
                </a:r>
              </a:p>
            </p:txBody>
          </p:sp>
          <p:sp>
            <p:nvSpPr>
              <p:cNvPr id="206" name="TextBox 205">
                <a:extLst>
                  <a:ext uri="{FF2B5EF4-FFF2-40B4-BE49-F238E27FC236}">
                    <a16:creationId xmlns:a16="http://schemas.microsoft.com/office/drawing/2014/main" id="{869500F5-37D7-32AB-AFF7-0838BB1379CA}"/>
                  </a:ext>
                </a:extLst>
              </p:cNvPr>
              <p:cNvSpPr txBox="1"/>
              <p:nvPr/>
            </p:nvSpPr>
            <p:spPr>
              <a:xfrm>
                <a:off x="9474262" y="2188073"/>
                <a:ext cx="1095842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675" dirty="0"/>
                  <a:t>w/o</a:t>
                </a:r>
              </a:p>
            </p:txBody>
          </p:sp>
          <p:sp>
            <p:nvSpPr>
              <p:cNvPr id="207" name="TextBox 206">
                <a:extLst>
                  <a:ext uri="{FF2B5EF4-FFF2-40B4-BE49-F238E27FC236}">
                    <a16:creationId xmlns:a16="http://schemas.microsoft.com/office/drawing/2014/main" id="{C1371546-A5A6-A127-26F2-226DAA2FAB5C}"/>
                  </a:ext>
                </a:extLst>
              </p:cNvPr>
              <p:cNvSpPr txBox="1"/>
              <p:nvPr/>
            </p:nvSpPr>
            <p:spPr>
              <a:xfrm>
                <a:off x="9491650" y="2285241"/>
                <a:ext cx="1095842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675" dirty="0" err="1"/>
                  <a:t>irreversibilities</a:t>
                </a:r>
                <a:endParaRPr lang="en-US" sz="675" dirty="0"/>
              </a:p>
            </p:txBody>
          </p:sp>
        </p:grpSp>
        <p:sp>
          <p:nvSpPr>
            <p:cNvPr id="222" name="TextBox 221">
              <a:extLst>
                <a:ext uri="{FF2B5EF4-FFF2-40B4-BE49-F238E27FC236}">
                  <a16:creationId xmlns:a16="http://schemas.microsoft.com/office/drawing/2014/main" id="{3032AB47-F763-D99D-1785-FCD61914E759}"/>
                </a:ext>
              </a:extLst>
            </p:cNvPr>
            <p:cNvSpPr txBox="1"/>
            <p:nvPr/>
          </p:nvSpPr>
          <p:spPr>
            <a:xfrm>
              <a:off x="9701427" y="2150728"/>
              <a:ext cx="756124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675" dirty="0"/>
                <a:t>w/ </a:t>
              </a:r>
              <a:r>
                <a:rPr lang="en-US" sz="675" i="1" dirty="0" err="1"/>
                <a:t>m</a:t>
              </a:r>
              <a:r>
                <a:rPr lang="en-US" sz="675" dirty="0" err="1"/>
                <a:t>&amp;</a:t>
              </a:r>
              <a:r>
                <a:rPr lang="en-US" sz="675" i="1" dirty="0" err="1"/>
                <a:t>Q</a:t>
              </a:r>
              <a:endParaRPr lang="en-US" sz="675" i="1" dirty="0"/>
            </a:p>
          </p:txBody>
        </p:sp>
        <p:sp>
          <p:nvSpPr>
            <p:cNvPr id="223" name="TextBox 222">
              <a:extLst>
                <a:ext uri="{FF2B5EF4-FFF2-40B4-BE49-F238E27FC236}">
                  <a16:creationId xmlns:a16="http://schemas.microsoft.com/office/drawing/2014/main" id="{896CC2B9-78BE-7296-C3C8-9CB89BE3F0FE}"/>
                </a:ext>
              </a:extLst>
            </p:cNvPr>
            <p:cNvSpPr txBox="1"/>
            <p:nvPr/>
          </p:nvSpPr>
          <p:spPr>
            <a:xfrm>
              <a:off x="9749791" y="2251514"/>
              <a:ext cx="670238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675" dirty="0"/>
                <a:t>losses;</a:t>
              </a:r>
            </a:p>
          </p:txBody>
        </p:sp>
      </p:grpSp>
      <p:grpSp>
        <p:nvGrpSpPr>
          <p:cNvPr id="225" name="Group 224">
            <a:extLst>
              <a:ext uri="{FF2B5EF4-FFF2-40B4-BE49-F238E27FC236}">
                <a16:creationId xmlns:a16="http://schemas.microsoft.com/office/drawing/2014/main" id="{91AC4CAF-3EA5-70B7-2777-642D9600645A}"/>
              </a:ext>
            </a:extLst>
          </p:cNvPr>
          <p:cNvGrpSpPr/>
          <p:nvPr/>
        </p:nvGrpSpPr>
        <p:grpSpPr>
          <a:xfrm>
            <a:off x="8355330" y="1611631"/>
            <a:ext cx="834923" cy="488281"/>
            <a:chOff x="9529495" y="2048006"/>
            <a:chExt cx="1113230" cy="651040"/>
          </a:xfrm>
        </p:grpSpPr>
        <p:grpSp>
          <p:nvGrpSpPr>
            <p:cNvPr id="226" name="Group 225">
              <a:extLst>
                <a:ext uri="{FF2B5EF4-FFF2-40B4-BE49-F238E27FC236}">
                  <a16:creationId xmlns:a16="http://schemas.microsoft.com/office/drawing/2014/main" id="{F171D231-C244-C0D4-D137-C9F3566674A0}"/>
                </a:ext>
              </a:extLst>
            </p:cNvPr>
            <p:cNvGrpSpPr/>
            <p:nvPr/>
          </p:nvGrpSpPr>
          <p:grpSpPr>
            <a:xfrm>
              <a:off x="9529495" y="2048006"/>
              <a:ext cx="1113230" cy="651040"/>
              <a:chOff x="9474262" y="1895811"/>
              <a:chExt cx="1113230" cy="651040"/>
            </a:xfrm>
          </p:grpSpPr>
          <p:sp>
            <p:nvSpPr>
              <p:cNvPr id="229" name="TextBox 228">
                <a:extLst>
                  <a:ext uri="{FF2B5EF4-FFF2-40B4-BE49-F238E27FC236}">
                    <a16:creationId xmlns:a16="http://schemas.microsoft.com/office/drawing/2014/main" id="{598D91EB-F452-1AFB-F06F-51E04CD833D6}"/>
                  </a:ext>
                </a:extLst>
              </p:cNvPr>
              <p:cNvSpPr txBox="1"/>
              <p:nvPr/>
            </p:nvSpPr>
            <p:spPr>
              <a:xfrm>
                <a:off x="9822964" y="1895811"/>
                <a:ext cx="385149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675" b="1" dirty="0">
                    <a:solidFill>
                      <a:srgbClr val="C00000"/>
                    </a:solidFill>
                  </a:rPr>
                  <a:t>BX</a:t>
                </a:r>
              </a:p>
            </p:txBody>
          </p:sp>
          <p:sp>
            <p:nvSpPr>
              <p:cNvPr id="230" name="TextBox 229">
                <a:extLst>
                  <a:ext uri="{FF2B5EF4-FFF2-40B4-BE49-F238E27FC236}">
                    <a16:creationId xmlns:a16="http://schemas.microsoft.com/office/drawing/2014/main" id="{862809A3-AABE-914A-5CFA-CC8F19B7BFE0}"/>
                  </a:ext>
                </a:extLst>
              </p:cNvPr>
              <p:cNvSpPr txBox="1"/>
              <p:nvPr/>
            </p:nvSpPr>
            <p:spPr>
              <a:xfrm>
                <a:off x="9474262" y="2188073"/>
                <a:ext cx="1095842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675" dirty="0"/>
                  <a:t>w/</a:t>
                </a:r>
              </a:p>
            </p:txBody>
          </p:sp>
          <p:sp>
            <p:nvSpPr>
              <p:cNvPr id="231" name="TextBox 230">
                <a:extLst>
                  <a:ext uri="{FF2B5EF4-FFF2-40B4-BE49-F238E27FC236}">
                    <a16:creationId xmlns:a16="http://schemas.microsoft.com/office/drawing/2014/main" id="{9BAE3CF6-3E40-D766-1A00-A45EC3A80038}"/>
                  </a:ext>
                </a:extLst>
              </p:cNvPr>
              <p:cNvSpPr txBox="1"/>
              <p:nvPr/>
            </p:nvSpPr>
            <p:spPr>
              <a:xfrm>
                <a:off x="9491650" y="2285241"/>
                <a:ext cx="1095842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675" dirty="0" err="1"/>
                  <a:t>irreversibilities</a:t>
                </a:r>
                <a:endParaRPr lang="en-US" sz="675" dirty="0"/>
              </a:p>
            </p:txBody>
          </p:sp>
        </p:grpSp>
        <p:sp>
          <p:nvSpPr>
            <p:cNvPr id="227" name="TextBox 226">
              <a:extLst>
                <a:ext uri="{FF2B5EF4-FFF2-40B4-BE49-F238E27FC236}">
                  <a16:creationId xmlns:a16="http://schemas.microsoft.com/office/drawing/2014/main" id="{59956DE3-DDD0-B6A8-FD8E-E1D84C419B82}"/>
                </a:ext>
              </a:extLst>
            </p:cNvPr>
            <p:cNvSpPr txBox="1"/>
            <p:nvPr/>
          </p:nvSpPr>
          <p:spPr>
            <a:xfrm>
              <a:off x="9701427" y="2150728"/>
              <a:ext cx="756124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675" dirty="0"/>
                <a:t>w/ </a:t>
              </a:r>
              <a:r>
                <a:rPr lang="en-US" sz="675" i="1" dirty="0" err="1"/>
                <a:t>m</a:t>
              </a:r>
              <a:r>
                <a:rPr lang="en-US" sz="675" dirty="0" err="1"/>
                <a:t>&amp;</a:t>
              </a:r>
              <a:r>
                <a:rPr lang="en-US" sz="675" i="1" dirty="0" err="1"/>
                <a:t>Q</a:t>
              </a:r>
              <a:endParaRPr lang="en-US" sz="675" i="1" dirty="0"/>
            </a:p>
          </p:txBody>
        </p:sp>
        <p:sp>
          <p:nvSpPr>
            <p:cNvPr id="228" name="TextBox 227">
              <a:extLst>
                <a:ext uri="{FF2B5EF4-FFF2-40B4-BE49-F238E27FC236}">
                  <a16:creationId xmlns:a16="http://schemas.microsoft.com/office/drawing/2014/main" id="{54947652-60FA-2D82-6852-DE0A86203E25}"/>
                </a:ext>
              </a:extLst>
            </p:cNvPr>
            <p:cNvSpPr txBox="1"/>
            <p:nvPr/>
          </p:nvSpPr>
          <p:spPr>
            <a:xfrm>
              <a:off x="9742171" y="2251514"/>
              <a:ext cx="670238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675" dirty="0"/>
                <a:t>losses;</a:t>
              </a:r>
            </a:p>
          </p:txBody>
        </p:sp>
      </p:grp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82367041-5763-6700-E30F-11E0DAFC464C}"/>
              </a:ext>
            </a:extLst>
          </p:cNvPr>
          <p:cNvSpPr/>
          <p:nvPr/>
        </p:nvSpPr>
        <p:spPr>
          <a:xfrm>
            <a:off x="484751" y="701375"/>
            <a:ext cx="651804" cy="413133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50" dirty="0">
                <a:solidFill>
                  <a:schemeClr val="tx1"/>
                </a:solidFill>
              </a:rPr>
              <a:t>Endogenize </a:t>
            </a:r>
          </a:p>
          <a:p>
            <a:pPr algn="ctr"/>
            <a:r>
              <a:rPr lang="en-US" sz="750" dirty="0">
                <a:solidFill>
                  <a:schemeClr val="tx1"/>
                </a:solidFill>
              </a:rPr>
              <a:t>mass </a:t>
            </a:r>
          </a:p>
          <a:p>
            <a:pPr algn="ctr"/>
            <a:r>
              <a:rPr lang="en-US" sz="750" dirty="0">
                <a:solidFill>
                  <a:schemeClr val="tx1"/>
                </a:solidFill>
              </a:rPr>
              <a:t>losses</a:t>
            </a: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ABC81215-1DDB-28DE-4E64-5DC8E4D02410}"/>
              </a:ext>
            </a:extLst>
          </p:cNvPr>
          <p:cNvSpPr/>
          <p:nvPr/>
        </p:nvSpPr>
        <p:spPr>
          <a:xfrm>
            <a:off x="1611434" y="178056"/>
            <a:ext cx="613471" cy="861890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50" b="1" dirty="0">
                <a:solidFill>
                  <a:srgbClr val="C00000"/>
                </a:solidFill>
              </a:rPr>
              <a:t>M</a:t>
            </a:r>
            <a:r>
              <a:rPr lang="en-US" sz="750" dirty="0">
                <a:solidFill>
                  <a:schemeClr val="tx1"/>
                </a:solidFill>
              </a:rPr>
              <a:t>×</a:t>
            </a:r>
            <a:r>
              <a:rPr lang="en-US" sz="750" b="1" dirty="0">
                <a:solidFill>
                  <a:schemeClr val="accent6"/>
                </a:solidFill>
              </a:rPr>
              <a:t>H</a:t>
            </a:r>
            <a:r>
              <a:rPr lang="en-US" sz="750" dirty="0">
                <a:solidFill>
                  <a:schemeClr val="tx1"/>
                </a:solidFill>
              </a:rPr>
              <a:t>/</a:t>
            </a:r>
            <a:r>
              <a:rPr lang="en-US" sz="750" b="1" dirty="0">
                <a:solidFill>
                  <a:schemeClr val="accent6"/>
                </a:solidFill>
              </a:rPr>
              <a:t>MW</a:t>
            </a:r>
          </a:p>
        </p:txBody>
      </p:sp>
      <p:sp>
        <p:nvSpPr>
          <p:cNvPr id="104" name="Rounded Rectangle 103">
            <a:extLst>
              <a:ext uri="{FF2B5EF4-FFF2-40B4-BE49-F238E27FC236}">
                <a16:creationId xmlns:a16="http://schemas.microsoft.com/office/drawing/2014/main" id="{785CB3C6-68D7-1006-C893-F2D46CE40DC2}"/>
              </a:ext>
            </a:extLst>
          </p:cNvPr>
          <p:cNvSpPr/>
          <p:nvPr/>
        </p:nvSpPr>
        <p:spPr>
          <a:xfrm>
            <a:off x="4518614" y="136756"/>
            <a:ext cx="700356" cy="551681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50" dirty="0">
                <a:solidFill>
                  <a:schemeClr val="tx1"/>
                </a:solidFill>
              </a:rPr>
              <a:t>Calculate </a:t>
            </a:r>
          </a:p>
          <a:p>
            <a:pPr algn="ctr"/>
            <a:r>
              <a:rPr lang="en-US" sz="750" dirty="0">
                <a:solidFill>
                  <a:schemeClr val="tx1"/>
                </a:solidFill>
              </a:rPr>
              <a:t>exergy </a:t>
            </a:r>
          </a:p>
          <a:p>
            <a:pPr algn="ctr"/>
            <a:r>
              <a:rPr lang="en-US" sz="750" dirty="0">
                <a:solidFill>
                  <a:schemeClr val="tx1"/>
                </a:solidFill>
              </a:rPr>
              <a:t>of </a:t>
            </a:r>
            <a:r>
              <a:rPr lang="en-US" sz="750" i="1" dirty="0">
                <a:solidFill>
                  <a:schemeClr val="tx1"/>
                </a:solidFill>
              </a:rPr>
              <a:t>Q</a:t>
            </a:r>
            <a:r>
              <a:rPr lang="en-US" sz="750" dirty="0">
                <a:solidFill>
                  <a:schemeClr val="tx1"/>
                </a:solidFill>
              </a:rPr>
              <a:t> losses</a:t>
            </a:r>
            <a:endParaRPr lang="en-US" sz="750" baseline="-25000" dirty="0">
              <a:solidFill>
                <a:schemeClr val="tx1"/>
              </a:solidFill>
            </a:endParaRPr>
          </a:p>
        </p:txBody>
      </p:sp>
      <p:sp>
        <p:nvSpPr>
          <p:cNvPr id="66" name="Rounded Rectangle 65">
            <a:extLst>
              <a:ext uri="{FF2B5EF4-FFF2-40B4-BE49-F238E27FC236}">
                <a16:creationId xmlns:a16="http://schemas.microsoft.com/office/drawing/2014/main" id="{41AF8C47-0C2C-9B40-75C5-92E418970AAF}"/>
              </a:ext>
            </a:extLst>
          </p:cNvPr>
          <p:cNvSpPr/>
          <p:nvPr/>
        </p:nvSpPr>
        <p:spPr>
          <a:xfrm>
            <a:off x="3733028" y="402434"/>
            <a:ext cx="534133" cy="413133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50" dirty="0">
                <a:solidFill>
                  <a:schemeClr val="tx1"/>
                </a:solidFill>
              </a:rPr>
              <a:t>Extract </a:t>
            </a:r>
          </a:p>
          <a:p>
            <a:pPr algn="ctr"/>
            <a:r>
              <a:rPr lang="en-US" sz="750" i="1" dirty="0">
                <a:solidFill>
                  <a:schemeClr val="tx1"/>
                </a:solidFill>
              </a:rPr>
              <a:t>Q</a:t>
            </a:r>
            <a:r>
              <a:rPr lang="en-US" sz="750" dirty="0">
                <a:solidFill>
                  <a:schemeClr val="tx1"/>
                </a:solidFill>
              </a:rPr>
              <a:t> losses</a:t>
            </a:r>
          </a:p>
        </p:txBody>
      </p:sp>
      <p:sp>
        <p:nvSpPr>
          <p:cNvPr id="87" name="Rounded Rectangle 86">
            <a:extLst>
              <a:ext uri="{FF2B5EF4-FFF2-40B4-BE49-F238E27FC236}">
                <a16:creationId xmlns:a16="http://schemas.microsoft.com/office/drawing/2014/main" id="{F6BCF1E6-7055-D534-5A8D-96A37113606E}"/>
              </a:ext>
            </a:extLst>
          </p:cNvPr>
          <p:cNvSpPr/>
          <p:nvPr/>
        </p:nvSpPr>
        <p:spPr>
          <a:xfrm>
            <a:off x="5686176" y="299455"/>
            <a:ext cx="613471" cy="1026119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50" b="1" dirty="0" err="1">
                <a:solidFill>
                  <a:srgbClr val="C00000"/>
                </a:solidFill>
              </a:rPr>
              <a:t>B</a:t>
            </a:r>
            <a:r>
              <a:rPr lang="en-US" sz="750" dirty="0" err="1">
                <a:solidFill>
                  <a:schemeClr val="tx1"/>
                </a:solidFill>
              </a:rPr>
              <a:t>+</a:t>
            </a:r>
            <a:r>
              <a:rPr lang="en-US" sz="750" b="1" dirty="0" err="1">
                <a:solidFill>
                  <a:schemeClr val="accent5"/>
                </a:solidFill>
              </a:rPr>
              <a:t>x</a:t>
            </a:r>
            <a:r>
              <a:rPr lang="en-US" sz="750" baseline="-25000" dirty="0" err="1">
                <a:solidFill>
                  <a:schemeClr val="accent5"/>
                </a:solidFill>
              </a:rPr>
              <a:t>loss</a:t>
            </a:r>
            <a:endParaRPr lang="en-US" sz="750" baseline="-25000" dirty="0">
              <a:solidFill>
                <a:schemeClr val="accent5"/>
              </a:solidFill>
            </a:endParaRP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ACD4E78A-2E5F-319F-5D81-9EA1B040B5B2}"/>
              </a:ext>
            </a:extLst>
          </p:cNvPr>
          <p:cNvSpPr/>
          <p:nvPr/>
        </p:nvSpPr>
        <p:spPr>
          <a:xfrm>
            <a:off x="2669974" y="402434"/>
            <a:ext cx="710588" cy="413133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50" dirty="0">
                <a:solidFill>
                  <a:schemeClr val="tx1"/>
                </a:solidFill>
              </a:rPr>
              <a:t>Endogenize </a:t>
            </a:r>
          </a:p>
          <a:p>
            <a:pPr algn="ctr"/>
            <a:r>
              <a:rPr lang="en-US" sz="750" dirty="0">
                <a:solidFill>
                  <a:schemeClr val="tx1"/>
                </a:solidFill>
              </a:rPr>
              <a:t>energy </a:t>
            </a:r>
          </a:p>
          <a:p>
            <a:pPr algn="ctr"/>
            <a:r>
              <a:rPr lang="en-US" sz="750" dirty="0">
                <a:solidFill>
                  <a:schemeClr val="tx1"/>
                </a:solidFill>
              </a:rPr>
              <a:t>losses</a:t>
            </a:r>
          </a:p>
        </p:txBody>
      </p:sp>
      <p:sp>
        <p:nvSpPr>
          <p:cNvPr id="62" name="Rounded Rectangle 61">
            <a:extLst>
              <a:ext uri="{FF2B5EF4-FFF2-40B4-BE49-F238E27FC236}">
                <a16:creationId xmlns:a16="http://schemas.microsoft.com/office/drawing/2014/main" id="{022FB8DA-841D-FE1A-F35A-09E4261B0B89}"/>
              </a:ext>
            </a:extLst>
          </p:cNvPr>
          <p:cNvSpPr/>
          <p:nvPr/>
        </p:nvSpPr>
        <p:spPr>
          <a:xfrm>
            <a:off x="2669848" y="2120265"/>
            <a:ext cx="730790" cy="413133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50" dirty="0">
                <a:solidFill>
                  <a:schemeClr val="tx1"/>
                </a:solidFill>
              </a:rPr>
              <a:t>Endogenize </a:t>
            </a:r>
          </a:p>
          <a:p>
            <a:pPr algn="ctr"/>
            <a:r>
              <a:rPr lang="en-US" sz="750" dirty="0">
                <a:solidFill>
                  <a:schemeClr val="tx1"/>
                </a:solidFill>
              </a:rPr>
              <a:t>energy </a:t>
            </a:r>
          </a:p>
          <a:p>
            <a:pPr algn="ctr"/>
            <a:r>
              <a:rPr lang="en-US" sz="750" dirty="0">
                <a:solidFill>
                  <a:schemeClr val="tx1"/>
                </a:solidFill>
              </a:rPr>
              <a:t>losses</a:t>
            </a:r>
          </a:p>
        </p:txBody>
      </p:sp>
      <p:sp>
        <p:nvSpPr>
          <p:cNvPr id="116" name="Rounded Rectangle 115">
            <a:extLst>
              <a:ext uri="{FF2B5EF4-FFF2-40B4-BE49-F238E27FC236}">
                <a16:creationId xmlns:a16="http://schemas.microsoft.com/office/drawing/2014/main" id="{88A7EB5D-BC8B-1BD6-FB29-0AA50385D914}"/>
              </a:ext>
            </a:extLst>
          </p:cNvPr>
          <p:cNvSpPr/>
          <p:nvPr/>
        </p:nvSpPr>
        <p:spPr>
          <a:xfrm>
            <a:off x="3730812" y="2120942"/>
            <a:ext cx="534133" cy="413133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50" dirty="0">
                <a:solidFill>
                  <a:schemeClr val="tx1"/>
                </a:solidFill>
              </a:rPr>
              <a:t>Extract </a:t>
            </a:r>
          </a:p>
          <a:p>
            <a:pPr algn="ctr"/>
            <a:r>
              <a:rPr lang="en-US" sz="750" i="1" dirty="0">
                <a:solidFill>
                  <a:schemeClr val="tx1"/>
                </a:solidFill>
              </a:rPr>
              <a:t>Q</a:t>
            </a:r>
            <a:r>
              <a:rPr lang="en-US" sz="750" dirty="0">
                <a:solidFill>
                  <a:schemeClr val="tx1"/>
                </a:solidFill>
              </a:rPr>
              <a:t> losses</a:t>
            </a:r>
          </a:p>
        </p:txBody>
      </p:sp>
      <p:sp>
        <p:nvSpPr>
          <p:cNvPr id="109" name="Rounded Rectangle 108">
            <a:extLst>
              <a:ext uri="{FF2B5EF4-FFF2-40B4-BE49-F238E27FC236}">
                <a16:creationId xmlns:a16="http://schemas.microsoft.com/office/drawing/2014/main" id="{A92129E4-1179-9742-4964-7E5601F940C2}"/>
              </a:ext>
            </a:extLst>
          </p:cNvPr>
          <p:cNvSpPr/>
          <p:nvPr/>
        </p:nvSpPr>
        <p:spPr>
          <a:xfrm>
            <a:off x="4512039" y="1855264"/>
            <a:ext cx="700356" cy="551681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50" dirty="0">
                <a:solidFill>
                  <a:schemeClr val="tx1"/>
                </a:solidFill>
              </a:rPr>
              <a:t>Calculate </a:t>
            </a:r>
          </a:p>
          <a:p>
            <a:pPr algn="ctr"/>
            <a:r>
              <a:rPr lang="en-US" sz="750" dirty="0">
                <a:solidFill>
                  <a:schemeClr val="tx1"/>
                </a:solidFill>
              </a:rPr>
              <a:t>exergy </a:t>
            </a:r>
          </a:p>
          <a:p>
            <a:pPr algn="ctr"/>
            <a:r>
              <a:rPr lang="en-US" sz="750" dirty="0">
                <a:solidFill>
                  <a:schemeClr val="tx1"/>
                </a:solidFill>
              </a:rPr>
              <a:t>of </a:t>
            </a:r>
            <a:r>
              <a:rPr lang="en-US" sz="750" i="1" dirty="0">
                <a:solidFill>
                  <a:schemeClr val="tx1"/>
                </a:solidFill>
              </a:rPr>
              <a:t>Q</a:t>
            </a:r>
            <a:r>
              <a:rPr lang="en-US" sz="750" dirty="0">
                <a:solidFill>
                  <a:schemeClr val="tx1"/>
                </a:solidFill>
              </a:rPr>
              <a:t> losses</a:t>
            </a:r>
            <a:endParaRPr lang="en-US" sz="750" baseline="-25000" dirty="0">
              <a:solidFill>
                <a:schemeClr val="tx1"/>
              </a:solidFill>
            </a:endParaRPr>
          </a:p>
        </p:txBody>
      </p:sp>
      <p:sp>
        <p:nvSpPr>
          <p:cNvPr id="124" name="Rounded Rectangle 123">
            <a:extLst>
              <a:ext uri="{FF2B5EF4-FFF2-40B4-BE49-F238E27FC236}">
                <a16:creationId xmlns:a16="http://schemas.microsoft.com/office/drawing/2014/main" id="{DD8B9EFF-3A7E-6642-DD42-B25AFBD08028}"/>
              </a:ext>
            </a:extLst>
          </p:cNvPr>
          <p:cNvSpPr/>
          <p:nvPr/>
        </p:nvSpPr>
        <p:spPr>
          <a:xfrm>
            <a:off x="4565556" y="2505933"/>
            <a:ext cx="613471" cy="424854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50" b="1" dirty="0" err="1">
                <a:solidFill>
                  <a:srgbClr val="C00000"/>
                </a:solidFill>
              </a:rPr>
              <a:t>E</a:t>
            </a:r>
            <a:r>
              <a:rPr lang="en-US" sz="750" dirty="0" err="1">
                <a:solidFill>
                  <a:schemeClr val="tx1"/>
                </a:solidFill>
              </a:rPr>
              <a:t>×</a:t>
            </a:r>
            <a:r>
              <a:rPr lang="en-US" sz="750" b="1" dirty="0" err="1">
                <a:solidFill>
                  <a:schemeClr val="accent6"/>
                </a:solidFill>
                <a:latin typeface="Symbol" pitchFamily="2" charset="2"/>
              </a:rPr>
              <a:t>f</a:t>
            </a:r>
            <a:r>
              <a:rPr lang="en-US" sz="750" baseline="-25000" dirty="0" err="1">
                <a:solidFill>
                  <a:schemeClr val="accent6"/>
                </a:solidFill>
                <a:latin typeface="Aptos" panose="020B0004020202020204" pitchFamily="34" charset="0"/>
              </a:rPr>
              <a:t>e</a:t>
            </a:r>
            <a:endParaRPr lang="en-US" sz="750" baseline="-25000" dirty="0">
              <a:solidFill>
                <a:schemeClr val="accent6"/>
              </a:solidFill>
              <a:latin typeface="Aptos" panose="020B0004020202020204" pitchFamily="34" charset="0"/>
            </a:endParaRPr>
          </a:p>
        </p:txBody>
      </p:sp>
      <p:sp>
        <p:nvSpPr>
          <p:cNvPr id="143" name="Rounded Rectangle 142">
            <a:extLst>
              <a:ext uri="{FF2B5EF4-FFF2-40B4-BE49-F238E27FC236}">
                <a16:creationId xmlns:a16="http://schemas.microsoft.com/office/drawing/2014/main" id="{8A622D71-046D-38BC-867B-D593DCB89071}"/>
              </a:ext>
            </a:extLst>
          </p:cNvPr>
          <p:cNvSpPr/>
          <p:nvPr/>
        </p:nvSpPr>
        <p:spPr>
          <a:xfrm>
            <a:off x="5697474" y="1969711"/>
            <a:ext cx="613471" cy="967799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50" b="1" dirty="0" err="1">
                <a:solidFill>
                  <a:srgbClr val="C00000"/>
                </a:solidFill>
              </a:rPr>
              <a:t>X</a:t>
            </a:r>
            <a:r>
              <a:rPr lang="en-US" sz="750" dirty="0" err="1">
                <a:solidFill>
                  <a:schemeClr val="tx1"/>
                </a:solidFill>
              </a:rPr>
              <a:t>+</a:t>
            </a:r>
            <a:r>
              <a:rPr lang="en-US" sz="750" b="1" dirty="0" err="1">
                <a:solidFill>
                  <a:schemeClr val="accent5"/>
                </a:solidFill>
              </a:rPr>
              <a:t>x</a:t>
            </a:r>
            <a:r>
              <a:rPr lang="en-US" sz="750" baseline="-25000" dirty="0" err="1">
                <a:solidFill>
                  <a:schemeClr val="accent5"/>
                </a:solidFill>
              </a:rPr>
              <a:t>loss</a:t>
            </a:r>
            <a:endParaRPr lang="en-US" sz="750" baseline="-25000" dirty="0">
              <a:solidFill>
                <a:schemeClr val="accent5"/>
              </a:solidFill>
            </a:endParaRPr>
          </a:p>
        </p:txBody>
      </p:sp>
      <p:sp>
        <p:nvSpPr>
          <p:cNvPr id="173" name="Rounded Rectangle 172">
            <a:extLst>
              <a:ext uri="{FF2B5EF4-FFF2-40B4-BE49-F238E27FC236}">
                <a16:creationId xmlns:a16="http://schemas.microsoft.com/office/drawing/2014/main" id="{54CC7EEE-7BF9-E35A-3941-6811F8EFD231}"/>
              </a:ext>
            </a:extLst>
          </p:cNvPr>
          <p:cNvSpPr/>
          <p:nvPr/>
        </p:nvSpPr>
        <p:spPr>
          <a:xfrm>
            <a:off x="6656574" y="726738"/>
            <a:ext cx="613471" cy="1845013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50" b="1" dirty="0">
                <a:solidFill>
                  <a:srgbClr val="C00000"/>
                </a:solidFill>
              </a:rPr>
              <a:t>B</a:t>
            </a:r>
            <a:r>
              <a:rPr lang="en-US" sz="750" dirty="0">
                <a:solidFill>
                  <a:schemeClr val="tx1"/>
                </a:solidFill>
              </a:rPr>
              <a:t>+</a:t>
            </a:r>
            <a:r>
              <a:rPr lang="en-US" sz="750" b="1" dirty="0">
                <a:solidFill>
                  <a:srgbClr val="C00000"/>
                </a:solidFill>
              </a:rPr>
              <a:t>X</a:t>
            </a:r>
            <a:endParaRPr lang="en-US" sz="750" baseline="-25000" dirty="0">
              <a:solidFill>
                <a:schemeClr val="accent6"/>
              </a:solidFill>
            </a:endParaRPr>
          </a:p>
        </p:txBody>
      </p:sp>
      <p:sp>
        <p:nvSpPr>
          <p:cNvPr id="179" name="Rounded Rectangle 178">
            <a:extLst>
              <a:ext uri="{FF2B5EF4-FFF2-40B4-BE49-F238E27FC236}">
                <a16:creationId xmlns:a16="http://schemas.microsoft.com/office/drawing/2014/main" id="{61C69B5C-E89B-3811-8AB2-E2DED543A388}"/>
              </a:ext>
            </a:extLst>
          </p:cNvPr>
          <p:cNvSpPr/>
          <p:nvPr/>
        </p:nvSpPr>
        <p:spPr>
          <a:xfrm>
            <a:off x="7862090" y="1442711"/>
            <a:ext cx="651804" cy="413133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50" dirty="0">
                <a:solidFill>
                  <a:schemeClr val="tx1"/>
                </a:solidFill>
              </a:rPr>
              <a:t>Endogenize </a:t>
            </a:r>
          </a:p>
          <a:p>
            <a:pPr algn="ctr"/>
            <a:r>
              <a:rPr lang="en-US" sz="750" dirty="0">
                <a:solidFill>
                  <a:schemeClr val="tx1"/>
                </a:solidFill>
              </a:rPr>
              <a:t>exergy </a:t>
            </a:r>
          </a:p>
          <a:p>
            <a:pPr algn="ctr"/>
            <a:r>
              <a:rPr lang="en-US" sz="750" dirty="0">
                <a:solidFill>
                  <a:schemeClr val="tx1"/>
                </a:solidFill>
              </a:rPr>
              <a:t>imbalance</a:t>
            </a:r>
          </a:p>
        </p:txBody>
      </p:sp>
      <p:cxnSp>
        <p:nvCxnSpPr>
          <p:cNvPr id="259" name="Straight Connector 258">
            <a:extLst>
              <a:ext uri="{FF2B5EF4-FFF2-40B4-BE49-F238E27FC236}">
                <a16:creationId xmlns:a16="http://schemas.microsoft.com/office/drawing/2014/main" id="{3F0048C0-BC6F-55FF-153B-7D674F9B9FE4}"/>
              </a:ext>
            </a:extLst>
          </p:cNvPr>
          <p:cNvCxnSpPr>
            <a:cxnSpLocks/>
          </p:cNvCxnSpPr>
          <p:nvPr/>
        </p:nvCxnSpPr>
        <p:spPr>
          <a:xfrm flipH="1">
            <a:off x="2047461" y="1649896"/>
            <a:ext cx="4462669" cy="0"/>
          </a:xfrm>
          <a:prstGeom prst="line">
            <a:avLst/>
          </a:prstGeom>
          <a:ln w="6350">
            <a:solidFill>
              <a:schemeClr val="bg1">
                <a:lumMod val="50000"/>
              </a:schemeClr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0" name="TextBox 259">
            <a:extLst>
              <a:ext uri="{FF2B5EF4-FFF2-40B4-BE49-F238E27FC236}">
                <a16:creationId xmlns:a16="http://schemas.microsoft.com/office/drawing/2014/main" id="{BD0935E8-DDD3-F0E4-4FF2-2E1F977CE5F3}"/>
              </a:ext>
            </a:extLst>
          </p:cNvPr>
          <p:cNvSpPr txBox="1"/>
          <p:nvPr/>
        </p:nvSpPr>
        <p:spPr>
          <a:xfrm>
            <a:off x="2231337" y="1446145"/>
            <a:ext cx="2076209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dirty="0">
                <a:solidFill>
                  <a:schemeClr val="bg1">
                    <a:lumMod val="50000"/>
                  </a:schemeClr>
                </a:solidFill>
              </a:rPr>
              <a:t>Material conversion chain (MCC)</a:t>
            </a: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DFA1C4A4-5FB3-7A3D-7442-AA7ABD0C0848}"/>
              </a:ext>
            </a:extLst>
          </p:cNvPr>
          <p:cNvSpPr txBox="1"/>
          <p:nvPr/>
        </p:nvSpPr>
        <p:spPr>
          <a:xfrm>
            <a:off x="2236306" y="1620078"/>
            <a:ext cx="196079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dirty="0">
                <a:solidFill>
                  <a:schemeClr val="bg1">
                    <a:lumMod val="50000"/>
                  </a:schemeClr>
                </a:solidFill>
              </a:rPr>
              <a:t>Energy conversion chain (ECC)</a:t>
            </a:r>
          </a:p>
        </p:txBody>
      </p:sp>
      <p:cxnSp>
        <p:nvCxnSpPr>
          <p:cNvPr id="265" name="Straight Arrow Connector 264">
            <a:extLst>
              <a:ext uri="{FF2B5EF4-FFF2-40B4-BE49-F238E27FC236}">
                <a16:creationId xmlns:a16="http://schemas.microsoft.com/office/drawing/2014/main" id="{CE036691-6600-C905-3A70-092300AE5B01}"/>
              </a:ext>
            </a:extLst>
          </p:cNvPr>
          <p:cNvCxnSpPr>
            <a:cxnSpLocks/>
          </p:cNvCxnSpPr>
          <p:nvPr/>
        </p:nvCxnSpPr>
        <p:spPr>
          <a:xfrm flipV="1">
            <a:off x="2268227" y="1475961"/>
            <a:ext cx="0" cy="155371"/>
          </a:xfrm>
          <a:prstGeom prst="straightConnector1">
            <a:avLst/>
          </a:prstGeom>
          <a:ln w="635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Straight Arrow Connector 267">
            <a:extLst>
              <a:ext uri="{FF2B5EF4-FFF2-40B4-BE49-F238E27FC236}">
                <a16:creationId xmlns:a16="http://schemas.microsoft.com/office/drawing/2014/main" id="{EA53A5B3-B92F-4DA1-ACD9-CC675F2053B8}"/>
              </a:ext>
            </a:extLst>
          </p:cNvPr>
          <p:cNvCxnSpPr>
            <a:cxnSpLocks/>
          </p:cNvCxnSpPr>
          <p:nvPr/>
        </p:nvCxnSpPr>
        <p:spPr>
          <a:xfrm>
            <a:off x="2268227" y="1674742"/>
            <a:ext cx="0" cy="155371"/>
          </a:xfrm>
          <a:prstGeom prst="straightConnector1">
            <a:avLst/>
          </a:prstGeom>
          <a:ln w="635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0" name="TextBox 269">
            <a:extLst>
              <a:ext uri="{FF2B5EF4-FFF2-40B4-BE49-F238E27FC236}">
                <a16:creationId xmlns:a16="http://schemas.microsoft.com/office/drawing/2014/main" id="{12AD1569-19FE-BF4F-C7DD-176334D998A6}"/>
              </a:ext>
            </a:extLst>
          </p:cNvPr>
          <p:cNvSpPr txBox="1"/>
          <p:nvPr/>
        </p:nvSpPr>
        <p:spPr>
          <a:xfrm>
            <a:off x="7286600" y="2064854"/>
            <a:ext cx="1802096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50" dirty="0">
                <a:solidFill>
                  <a:schemeClr val="bg1">
                    <a:lumMod val="50000"/>
                  </a:schemeClr>
                </a:solidFill>
              </a:rPr>
              <a:t>Unified material and energy </a:t>
            </a:r>
          </a:p>
          <a:p>
            <a:pPr algn="ctr"/>
            <a:r>
              <a:rPr lang="en-US" sz="1050" dirty="0">
                <a:solidFill>
                  <a:schemeClr val="bg1">
                    <a:lumMod val="50000"/>
                  </a:schemeClr>
                </a:solidFill>
              </a:rPr>
              <a:t>conversion chain (BXCC)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05332A6-5A90-DFD9-7088-F584A123CA3F}"/>
              </a:ext>
            </a:extLst>
          </p:cNvPr>
          <p:cNvSpPr txBox="1"/>
          <p:nvPr/>
        </p:nvSpPr>
        <p:spPr>
          <a:xfrm>
            <a:off x="3251873" y="2098276"/>
            <a:ext cx="231154" cy="1962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75" i="1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C257610-4B71-50E5-15D2-6F87839FC46F}"/>
              </a:ext>
            </a:extLst>
          </p:cNvPr>
          <p:cNvSpPr txBox="1"/>
          <p:nvPr/>
        </p:nvSpPr>
        <p:spPr>
          <a:xfrm>
            <a:off x="4115557" y="2094491"/>
            <a:ext cx="231154" cy="1962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75" i="1" dirty="0"/>
              <a:t>2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CF3FDF9-966E-E42A-FAD5-D60D902ACB95}"/>
              </a:ext>
            </a:extLst>
          </p:cNvPr>
          <p:cNvSpPr txBox="1"/>
          <p:nvPr/>
        </p:nvSpPr>
        <p:spPr>
          <a:xfrm>
            <a:off x="5056450" y="1836370"/>
            <a:ext cx="231154" cy="1962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75" i="1" dirty="0"/>
              <a:t>3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D79FA8EA-10C3-15DD-195B-5AEAADE1B290}"/>
              </a:ext>
            </a:extLst>
          </p:cNvPr>
          <p:cNvSpPr txBox="1"/>
          <p:nvPr/>
        </p:nvSpPr>
        <p:spPr>
          <a:xfrm>
            <a:off x="5034499" y="2486593"/>
            <a:ext cx="231154" cy="1962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75" i="1" dirty="0"/>
              <a:t>4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F2B55F2B-0099-FC45-37BC-65D48EA18F32}"/>
              </a:ext>
            </a:extLst>
          </p:cNvPr>
          <p:cNvSpPr txBox="1"/>
          <p:nvPr/>
        </p:nvSpPr>
        <p:spPr>
          <a:xfrm>
            <a:off x="6156304" y="1955212"/>
            <a:ext cx="231154" cy="1962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75" i="1" dirty="0"/>
              <a:t>5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8967195C-0556-D8DE-6ED0-F6CE82F86BD3}"/>
              </a:ext>
            </a:extLst>
          </p:cNvPr>
          <p:cNvSpPr txBox="1"/>
          <p:nvPr/>
        </p:nvSpPr>
        <p:spPr>
          <a:xfrm>
            <a:off x="996907" y="672174"/>
            <a:ext cx="231154" cy="1962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75" i="1" dirty="0"/>
              <a:t>6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4D0FB2B-C46F-8E20-D9AB-C002EC09160E}"/>
              </a:ext>
            </a:extLst>
          </p:cNvPr>
          <p:cNvSpPr txBox="1"/>
          <p:nvPr/>
        </p:nvSpPr>
        <p:spPr>
          <a:xfrm>
            <a:off x="2069510" y="164258"/>
            <a:ext cx="231154" cy="1962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75" i="1" dirty="0"/>
              <a:t>7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9BD157B3-6FFB-955F-3C8C-FBCB403DEA4E}"/>
              </a:ext>
            </a:extLst>
          </p:cNvPr>
          <p:cNvSpPr txBox="1"/>
          <p:nvPr/>
        </p:nvSpPr>
        <p:spPr>
          <a:xfrm>
            <a:off x="3232948" y="373935"/>
            <a:ext cx="231154" cy="1962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75" i="1" dirty="0"/>
              <a:t>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11B55D1D-6752-A171-3593-95A5154425D9}"/>
              </a:ext>
            </a:extLst>
          </p:cNvPr>
          <p:cNvSpPr txBox="1"/>
          <p:nvPr/>
        </p:nvSpPr>
        <p:spPr>
          <a:xfrm>
            <a:off x="4123883" y="374693"/>
            <a:ext cx="231154" cy="1962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75" i="1" dirty="0"/>
              <a:t>9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4E612AE6-167A-B849-1513-7EF9BF82A341}"/>
              </a:ext>
            </a:extLst>
          </p:cNvPr>
          <p:cNvSpPr txBox="1"/>
          <p:nvPr/>
        </p:nvSpPr>
        <p:spPr>
          <a:xfrm>
            <a:off x="5023899" y="121113"/>
            <a:ext cx="277640" cy="1962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75" i="1" dirty="0"/>
              <a:t>10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42163375-6BC0-F665-8410-0A2BA8655395}"/>
              </a:ext>
            </a:extLst>
          </p:cNvPr>
          <p:cNvSpPr txBox="1"/>
          <p:nvPr/>
        </p:nvSpPr>
        <p:spPr>
          <a:xfrm>
            <a:off x="5011032" y="962466"/>
            <a:ext cx="277640" cy="1962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75" i="1" dirty="0"/>
              <a:t>11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F6A1862B-48B9-A030-20B8-257B1C8959A1}"/>
              </a:ext>
            </a:extLst>
          </p:cNvPr>
          <p:cNvSpPr txBox="1"/>
          <p:nvPr/>
        </p:nvSpPr>
        <p:spPr>
          <a:xfrm>
            <a:off x="6098776" y="283855"/>
            <a:ext cx="277640" cy="1962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75" i="1" dirty="0"/>
              <a:t>12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6DB5840-047E-874A-4EC2-20D735A5A740}"/>
              </a:ext>
            </a:extLst>
          </p:cNvPr>
          <p:cNvSpPr txBox="1"/>
          <p:nvPr/>
        </p:nvSpPr>
        <p:spPr>
          <a:xfrm>
            <a:off x="7076003" y="716075"/>
            <a:ext cx="277640" cy="1962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75" i="1" dirty="0"/>
              <a:t>13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3D00565E-CFCA-127F-8093-B3C6B48E0524}"/>
              </a:ext>
            </a:extLst>
          </p:cNvPr>
          <p:cNvSpPr txBox="1"/>
          <p:nvPr/>
        </p:nvSpPr>
        <p:spPr>
          <a:xfrm>
            <a:off x="8334816" y="1412477"/>
            <a:ext cx="268022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" i="1" dirty="0"/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5710843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8C2151-2E8F-5CFF-07E1-4734DEE0A4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TextBox 192">
            <a:extLst>
              <a:ext uri="{FF2B5EF4-FFF2-40B4-BE49-F238E27FC236}">
                <a16:creationId xmlns:a16="http://schemas.microsoft.com/office/drawing/2014/main" id="{93F8363A-1002-41C4-02F0-FB2795880B43}"/>
              </a:ext>
            </a:extLst>
          </p:cNvPr>
          <p:cNvSpPr txBox="1"/>
          <p:nvPr/>
        </p:nvSpPr>
        <p:spPr>
          <a:xfrm>
            <a:off x="6446316" y="743714"/>
            <a:ext cx="237566" cy="1962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675" b="1" dirty="0">
                <a:solidFill>
                  <a:srgbClr val="C00000"/>
                </a:solidFill>
              </a:rPr>
              <a:t>B</a:t>
            </a:r>
            <a:endParaRPr lang="en-US" sz="675" b="1" baseline="-25000" dirty="0">
              <a:solidFill>
                <a:srgbClr val="C00000"/>
              </a:solidFill>
            </a:endParaRPr>
          </a:p>
        </p:txBody>
      </p:sp>
      <p:sp>
        <p:nvSpPr>
          <p:cNvPr id="202" name="TextBox 201">
            <a:extLst>
              <a:ext uri="{FF2B5EF4-FFF2-40B4-BE49-F238E27FC236}">
                <a16:creationId xmlns:a16="http://schemas.microsoft.com/office/drawing/2014/main" id="{A656FE70-4377-2F54-142F-8E54993D1BBA}"/>
              </a:ext>
            </a:extLst>
          </p:cNvPr>
          <p:cNvSpPr txBox="1"/>
          <p:nvPr/>
        </p:nvSpPr>
        <p:spPr>
          <a:xfrm>
            <a:off x="6217826" y="875523"/>
            <a:ext cx="699608" cy="196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675" dirty="0"/>
              <a:t> losses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6A6CC19-F228-2A94-6085-C1933ACD4E6D}"/>
              </a:ext>
            </a:extLst>
          </p:cNvPr>
          <p:cNvSpPr txBox="1"/>
          <p:nvPr/>
        </p:nvSpPr>
        <p:spPr>
          <a:xfrm>
            <a:off x="98360" y="3431979"/>
            <a:ext cx="2167167" cy="1962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75" b="1" dirty="0" err="1">
                <a:solidFill>
                  <a:schemeClr val="accent5"/>
                </a:solidFill>
                <a:latin typeface="Symbol" pitchFamily="2" charset="2"/>
              </a:rPr>
              <a:t>f</a:t>
            </a:r>
            <a:r>
              <a:rPr lang="en-US" sz="675" baseline="-25000" dirty="0" err="1">
                <a:solidFill>
                  <a:schemeClr val="accent5"/>
                </a:solidFill>
                <a:latin typeface="Aptos" panose="020B0004020202020204" pitchFamily="34" charset="0"/>
              </a:rPr>
              <a:t>e</a:t>
            </a:r>
            <a:r>
              <a:rPr lang="en-US" sz="675" dirty="0"/>
              <a:t>: exergy-to-energy ratio for ECC flows [kJ/kJ]</a:t>
            </a:r>
            <a:endParaRPr lang="en-US" sz="675" b="1" dirty="0"/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87627FAF-1342-C0E5-E936-F13C2E78C70F}"/>
              </a:ext>
            </a:extLst>
          </p:cNvPr>
          <p:cNvSpPr txBox="1"/>
          <p:nvPr/>
        </p:nvSpPr>
        <p:spPr>
          <a:xfrm>
            <a:off x="6221273" y="811025"/>
            <a:ext cx="699608" cy="196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675" dirty="0"/>
              <a:t>w/ </a:t>
            </a:r>
            <a:r>
              <a:rPr lang="en-US" sz="675" i="1" dirty="0"/>
              <a:t>Q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9B6F98D7-89C1-2120-3824-094CC1240159}"/>
              </a:ext>
            </a:extLst>
          </p:cNvPr>
          <p:cNvSpPr txBox="1"/>
          <p:nvPr/>
        </p:nvSpPr>
        <p:spPr>
          <a:xfrm>
            <a:off x="5064993" y="1200150"/>
            <a:ext cx="372218" cy="1962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675" b="1" dirty="0" err="1">
                <a:solidFill>
                  <a:srgbClr val="C00000"/>
                </a:solidFill>
              </a:rPr>
              <a:t>B</a:t>
            </a:r>
            <a:r>
              <a:rPr lang="en-US" sz="675" b="1" baseline="-25000" dirty="0" err="1">
                <a:solidFill>
                  <a:srgbClr val="C00000"/>
                </a:solidFill>
              </a:rPr>
              <a:t>elect</a:t>
            </a:r>
            <a:endParaRPr lang="en-US" sz="675" b="1" baseline="-25000" dirty="0">
              <a:solidFill>
                <a:srgbClr val="C00000"/>
              </a:solidFill>
            </a:endParaRPr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9027FDA1-B51A-B735-7D2C-9BCAFE9B7A90}"/>
              </a:ext>
            </a:extLst>
          </p:cNvPr>
          <p:cNvSpPr txBox="1"/>
          <p:nvPr/>
        </p:nvSpPr>
        <p:spPr>
          <a:xfrm>
            <a:off x="5016473" y="742950"/>
            <a:ext cx="393056" cy="1962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675" b="1" dirty="0" err="1">
                <a:solidFill>
                  <a:srgbClr val="C00000"/>
                </a:solidFill>
              </a:rPr>
              <a:t>B</a:t>
            </a:r>
            <a:r>
              <a:rPr lang="en-US" sz="675" b="1" baseline="-25000" dirty="0" err="1">
                <a:solidFill>
                  <a:srgbClr val="C00000"/>
                </a:solidFill>
              </a:rPr>
              <a:t>Qloss</a:t>
            </a:r>
            <a:endParaRPr lang="en-US" sz="675" b="1" baseline="-25000" dirty="0">
              <a:solidFill>
                <a:srgbClr val="C00000"/>
              </a:solidFill>
            </a:endParaRPr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87FE7C56-BD8F-4AD4-408C-5968818CFE08}"/>
              </a:ext>
            </a:extLst>
          </p:cNvPr>
          <p:cNvSpPr txBox="1"/>
          <p:nvPr/>
        </p:nvSpPr>
        <p:spPr>
          <a:xfrm>
            <a:off x="5037052" y="208951"/>
            <a:ext cx="381836" cy="1962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675" b="1" dirty="0" err="1">
                <a:solidFill>
                  <a:srgbClr val="C00000"/>
                </a:solidFill>
              </a:rPr>
              <a:t>B</a:t>
            </a:r>
            <a:r>
              <a:rPr lang="en-US" sz="675" b="1" baseline="-25000" dirty="0" err="1">
                <a:solidFill>
                  <a:srgbClr val="C00000"/>
                </a:solidFill>
              </a:rPr>
              <a:t>mass</a:t>
            </a:r>
            <a:endParaRPr lang="en-US" sz="675" b="1" baseline="-25000" dirty="0">
              <a:solidFill>
                <a:srgbClr val="C00000"/>
              </a:solidFill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D25B1856-AF8F-B16E-2A1B-3E878AB0AC9D}"/>
              </a:ext>
            </a:extLst>
          </p:cNvPr>
          <p:cNvSpPr txBox="1"/>
          <p:nvPr/>
        </p:nvSpPr>
        <p:spPr>
          <a:xfrm>
            <a:off x="4241927" y="642338"/>
            <a:ext cx="360997" cy="1962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675" b="1" dirty="0" err="1">
                <a:solidFill>
                  <a:srgbClr val="C00000"/>
                </a:solidFill>
              </a:rPr>
              <a:t>Q</a:t>
            </a:r>
            <a:r>
              <a:rPr lang="en-US" sz="675" b="1" baseline="-25000" dirty="0" err="1">
                <a:solidFill>
                  <a:srgbClr val="C00000"/>
                </a:solidFill>
              </a:rPr>
              <a:t>loss</a:t>
            </a:r>
            <a:endParaRPr lang="en-US" sz="675" b="1" baseline="-25000" dirty="0">
              <a:solidFill>
                <a:srgbClr val="C00000"/>
              </a:solidFill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BF344C8E-8FB1-4C06-83BC-6877A3266E26}"/>
              </a:ext>
            </a:extLst>
          </p:cNvPr>
          <p:cNvCxnSpPr>
            <a:cxnSpLocks/>
            <a:stCxn id="32" idx="3"/>
          </p:cNvCxnSpPr>
          <p:nvPr/>
        </p:nvCxnSpPr>
        <p:spPr>
          <a:xfrm>
            <a:off x="2224905" y="609001"/>
            <a:ext cx="523058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BFAB214-03D4-0F96-C5D2-2CA055E0E026}"/>
              </a:ext>
            </a:extLst>
          </p:cNvPr>
          <p:cNvCxnSpPr>
            <a:cxnSpLocks/>
            <a:stCxn id="4" idx="3"/>
          </p:cNvCxnSpPr>
          <p:nvPr/>
        </p:nvCxnSpPr>
        <p:spPr>
          <a:xfrm flipV="1">
            <a:off x="1136555" y="305390"/>
            <a:ext cx="473585" cy="1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CFAE256A-3CB0-5872-1576-631F2DCD77DE}"/>
              </a:ext>
            </a:extLst>
          </p:cNvPr>
          <p:cNvCxnSpPr>
            <a:cxnSpLocks/>
          </p:cNvCxnSpPr>
          <p:nvPr/>
        </p:nvCxnSpPr>
        <p:spPr>
          <a:xfrm>
            <a:off x="1126963" y="864849"/>
            <a:ext cx="474352" cy="0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8787F74-6058-1FB3-1CFA-D793DCC266D8}"/>
              </a:ext>
            </a:extLst>
          </p:cNvPr>
          <p:cNvCxnSpPr>
            <a:cxnSpLocks/>
          </p:cNvCxnSpPr>
          <p:nvPr/>
        </p:nvCxnSpPr>
        <p:spPr>
          <a:xfrm>
            <a:off x="69679" y="309285"/>
            <a:ext cx="352353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5564BED-A970-CA5F-FF69-8D26135C76B6}"/>
              </a:ext>
            </a:extLst>
          </p:cNvPr>
          <p:cNvCxnSpPr>
            <a:cxnSpLocks/>
          </p:cNvCxnSpPr>
          <p:nvPr/>
        </p:nvCxnSpPr>
        <p:spPr>
          <a:xfrm>
            <a:off x="1132932" y="571833"/>
            <a:ext cx="469616" cy="0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7" name="Group 26">
            <a:extLst>
              <a:ext uri="{FF2B5EF4-FFF2-40B4-BE49-F238E27FC236}">
                <a16:creationId xmlns:a16="http://schemas.microsoft.com/office/drawing/2014/main" id="{72CDF57E-385F-7CBA-0E25-280477F061BC}"/>
              </a:ext>
            </a:extLst>
          </p:cNvPr>
          <p:cNvGrpSpPr/>
          <p:nvPr/>
        </p:nvGrpSpPr>
        <p:grpSpPr>
          <a:xfrm>
            <a:off x="998973" y="538636"/>
            <a:ext cx="696193" cy="268492"/>
            <a:chOff x="1788992" y="363682"/>
            <a:chExt cx="928257" cy="357990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7C91B6C9-4F7E-0A98-F6E1-249A7C04EE14}"/>
                </a:ext>
              </a:extLst>
            </p:cNvPr>
            <p:cNvSpPr txBox="1"/>
            <p:nvPr/>
          </p:nvSpPr>
          <p:spPr>
            <a:xfrm>
              <a:off x="2015752" y="363682"/>
              <a:ext cx="449269" cy="26161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75" b="1" dirty="0">
                  <a:solidFill>
                    <a:schemeClr val="accent6"/>
                  </a:solidFill>
                </a:rPr>
                <a:t>MW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650CDFBD-671E-BF04-EAD1-C64898DC6867}"/>
                </a:ext>
              </a:extLst>
            </p:cNvPr>
            <p:cNvSpPr txBox="1"/>
            <p:nvPr/>
          </p:nvSpPr>
          <p:spPr>
            <a:xfrm>
              <a:off x="1788992" y="460061"/>
              <a:ext cx="928257" cy="26161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675" dirty="0"/>
                <a:t>w/ </a:t>
              </a:r>
              <a:r>
                <a:rPr lang="en-US" sz="675" i="1" dirty="0"/>
                <a:t>m</a:t>
              </a:r>
              <a:r>
                <a:rPr lang="en-US" sz="675" dirty="0"/>
                <a:t> losses</a:t>
              </a: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6FA11646-2E87-0BAF-B254-2268995CC29B}"/>
              </a:ext>
            </a:extLst>
          </p:cNvPr>
          <p:cNvGrpSpPr/>
          <p:nvPr/>
        </p:nvGrpSpPr>
        <p:grpSpPr>
          <a:xfrm>
            <a:off x="998974" y="824157"/>
            <a:ext cx="682385" cy="262423"/>
            <a:chOff x="1788992" y="744377"/>
            <a:chExt cx="909847" cy="349898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6522107-57B4-504D-5599-D54B7C08ABDC}"/>
                </a:ext>
              </a:extLst>
            </p:cNvPr>
            <p:cNvSpPr txBox="1"/>
            <p:nvPr/>
          </p:nvSpPr>
          <p:spPr>
            <a:xfrm>
              <a:off x="2069468" y="744377"/>
              <a:ext cx="329579" cy="26161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75" b="1" dirty="0">
                  <a:solidFill>
                    <a:schemeClr val="accent6"/>
                  </a:solidFill>
                </a:rPr>
                <a:t>H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514DC55B-F1C5-A981-37E9-1D5DEB534685}"/>
                </a:ext>
              </a:extLst>
            </p:cNvPr>
            <p:cNvSpPr txBox="1"/>
            <p:nvPr/>
          </p:nvSpPr>
          <p:spPr>
            <a:xfrm>
              <a:off x="1788992" y="832664"/>
              <a:ext cx="909847" cy="26161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675" dirty="0"/>
                <a:t>w/ </a:t>
              </a:r>
              <a:r>
                <a:rPr lang="en-US" sz="675" i="1" dirty="0"/>
                <a:t>m</a:t>
              </a:r>
              <a:r>
                <a:rPr lang="en-US" sz="675" dirty="0"/>
                <a:t> losses</a:t>
              </a: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2705F3B9-7685-C0CB-E52B-BDFCC2D70E22}"/>
              </a:ext>
            </a:extLst>
          </p:cNvPr>
          <p:cNvGrpSpPr/>
          <p:nvPr/>
        </p:nvGrpSpPr>
        <p:grpSpPr>
          <a:xfrm>
            <a:off x="1021719" y="261234"/>
            <a:ext cx="659791" cy="335194"/>
            <a:chOff x="1845884" y="1157780"/>
            <a:chExt cx="879721" cy="446924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6F7295E-4F38-4606-E997-FB4382E800C3}"/>
                </a:ext>
              </a:extLst>
            </p:cNvPr>
            <p:cNvSpPr txBox="1"/>
            <p:nvPr/>
          </p:nvSpPr>
          <p:spPr>
            <a:xfrm>
              <a:off x="2108536" y="1157780"/>
              <a:ext cx="340265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75" b="1" dirty="0">
                  <a:solidFill>
                    <a:srgbClr val="C00000"/>
                  </a:solidFill>
                </a:rPr>
                <a:t>M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E11A8EB-985A-BDC7-E0D9-D6A9D1CC0E37}"/>
                </a:ext>
              </a:extLst>
            </p:cNvPr>
            <p:cNvSpPr txBox="1"/>
            <p:nvPr/>
          </p:nvSpPr>
          <p:spPr>
            <a:xfrm>
              <a:off x="1845884" y="1252064"/>
              <a:ext cx="874609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675" dirty="0"/>
                <a:t>w/ </a:t>
              </a:r>
              <a:r>
                <a:rPr lang="en-US" sz="675" i="1" dirty="0"/>
                <a:t>m</a:t>
              </a:r>
            </a:p>
          </p:txBody>
        </p:sp>
        <p:sp>
          <p:nvSpPr>
            <p:cNvPr id="189" name="TextBox 188">
              <a:extLst>
                <a:ext uri="{FF2B5EF4-FFF2-40B4-BE49-F238E27FC236}">
                  <a16:creationId xmlns:a16="http://schemas.microsoft.com/office/drawing/2014/main" id="{033B4CC7-0848-9708-7FA1-6857C747C99A}"/>
                </a:ext>
              </a:extLst>
            </p:cNvPr>
            <p:cNvSpPr txBox="1"/>
            <p:nvPr/>
          </p:nvSpPr>
          <p:spPr>
            <a:xfrm>
              <a:off x="1850996" y="1343094"/>
              <a:ext cx="874609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675" dirty="0"/>
                <a:t>losses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029488BE-C8B4-1907-9CC2-55297B9EAC58}"/>
              </a:ext>
            </a:extLst>
          </p:cNvPr>
          <p:cNvGrpSpPr/>
          <p:nvPr/>
        </p:nvGrpSpPr>
        <p:grpSpPr>
          <a:xfrm>
            <a:off x="-106768" y="267488"/>
            <a:ext cx="767554" cy="335762"/>
            <a:chOff x="158356" y="1166121"/>
            <a:chExt cx="1023405" cy="447683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076A9C-63C5-4372-DD7C-2B3B30B297DB}"/>
                </a:ext>
              </a:extLst>
            </p:cNvPr>
            <p:cNvSpPr txBox="1"/>
            <p:nvPr/>
          </p:nvSpPr>
          <p:spPr>
            <a:xfrm>
              <a:off x="510949" y="1166121"/>
              <a:ext cx="340265" cy="26161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75" b="1" dirty="0">
                  <a:solidFill>
                    <a:srgbClr val="C00000"/>
                  </a:solidFill>
                </a:rPr>
                <a:t>M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ACDD1ECC-02EF-941E-ACC1-BC3703F2A660}"/>
                </a:ext>
              </a:extLst>
            </p:cNvPr>
            <p:cNvSpPr txBox="1"/>
            <p:nvPr/>
          </p:nvSpPr>
          <p:spPr>
            <a:xfrm>
              <a:off x="159381" y="1255026"/>
              <a:ext cx="1022380" cy="26161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675" dirty="0"/>
                <a:t>w/o </a:t>
              </a:r>
              <a:r>
                <a:rPr lang="en-US" sz="675" i="1" dirty="0"/>
                <a:t>m</a:t>
              </a:r>
            </a:p>
          </p:txBody>
        </p:sp>
        <p:sp>
          <p:nvSpPr>
            <p:cNvPr id="186" name="TextBox 185">
              <a:extLst>
                <a:ext uri="{FF2B5EF4-FFF2-40B4-BE49-F238E27FC236}">
                  <a16:creationId xmlns:a16="http://schemas.microsoft.com/office/drawing/2014/main" id="{22030926-2519-BB56-9A68-56154B9C41E3}"/>
                </a:ext>
              </a:extLst>
            </p:cNvPr>
            <p:cNvSpPr txBox="1"/>
            <p:nvPr/>
          </p:nvSpPr>
          <p:spPr>
            <a:xfrm>
              <a:off x="158356" y="1352193"/>
              <a:ext cx="1022380" cy="26161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675" dirty="0"/>
                <a:t>losses</a:t>
              </a:r>
            </a:p>
          </p:txBody>
        </p:sp>
      </p:grpSp>
      <p:grpSp>
        <p:nvGrpSpPr>
          <p:cNvPr id="191" name="Group 190">
            <a:extLst>
              <a:ext uri="{FF2B5EF4-FFF2-40B4-BE49-F238E27FC236}">
                <a16:creationId xmlns:a16="http://schemas.microsoft.com/office/drawing/2014/main" id="{889487FE-9D28-4294-1B48-AC5E89C2D0AC}"/>
              </a:ext>
            </a:extLst>
          </p:cNvPr>
          <p:cNvGrpSpPr/>
          <p:nvPr/>
        </p:nvGrpSpPr>
        <p:grpSpPr>
          <a:xfrm>
            <a:off x="4085432" y="265132"/>
            <a:ext cx="452364" cy="196208"/>
            <a:chOff x="3864936" y="1593639"/>
            <a:chExt cx="603152" cy="261611"/>
          </a:xfrm>
        </p:grpSpPr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30EB7601-9623-224D-7855-98AD74C473ED}"/>
                </a:ext>
              </a:extLst>
            </p:cNvPr>
            <p:cNvCxnSpPr>
              <a:cxnSpLocks/>
            </p:cNvCxnSpPr>
            <p:nvPr/>
          </p:nvCxnSpPr>
          <p:spPr>
            <a:xfrm>
              <a:off x="3864936" y="1651071"/>
              <a:ext cx="603152" cy="0"/>
            </a:xfrm>
            <a:prstGeom prst="straightConnector1">
              <a:avLst/>
            </a:prstGeom>
            <a:ln>
              <a:solidFill>
                <a:schemeClr val="accent5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FC89BB78-88BC-9086-E906-0EA39790C770}"/>
                </a:ext>
              </a:extLst>
            </p:cNvPr>
            <p:cNvSpPr txBox="1"/>
            <p:nvPr/>
          </p:nvSpPr>
          <p:spPr>
            <a:xfrm>
              <a:off x="3976720" y="1593639"/>
              <a:ext cx="372325" cy="26161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75" b="1" dirty="0" err="1">
                  <a:solidFill>
                    <a:schemeClr val="accent5"/>
                  </a:solidFill>
                  <a:latin typeface="Symbol" pitchFamily="2" charset="2"/>
                </a:rPr>
                <a:t>f</a:t>
              </a:r>
              <a:r>
                <a:rPr lang="en-US" sz="675" baseline="-25000" dirty="0" err="1">
                  <a:solidFill>
                    <a:schemeClr val="accent5"/>
                  </a:solidFill>
                  <a:latin typeface="Aptos" panose="020B0004020202020204" pitchFamily="34" charset="0"/>
                </a:rPr>
                <a:t>m</a:t>
              </a:r>
              <a:endParaRPr lang="en-US" sz="675" b="1" dirty="0">
                <a:solidFill>
                  <a:schemeClr val="accent5"/>
                </a:solidFill>
                <a:latin typeface="Symbol" pitchFamily="2" charset="2"/>
              </a:endParaRPr>
            </a:p>
          </p:txBody>
        </p:sp>
      </p:grpSp>
      <p:grpSp>
        <p:nvGrpSpPr>
          <p:cNvPr id="135" name="Group 134">
            <a:extLst>
              <a:ext uri="{FF2B5EF4-FFF2-40B4-BE49-F238E27FC236}">
                <a16:creationId xmlns:a16="http://schemas.microsoft.com/office/drawing/2014/main" id="{6B85A7CC-EBEF-87FD-D818-57836AFCE8A3}"/>
              </a:ext>
            </a:extLst>
          </p:cNvPr>
          <p:cNvGrpSpPr/>
          <p:nvPr/>
        </p:nvGrpSpPr>
        <p:grpSpPr>
          <a:xfrm>
            <a:off x="4004744" y="880340"/>
            <a:ext cx="585048" cy="360620"/>
            <a:chOff x="451216" y="1299488"/>
            <a:chExt cx="780064" cy="480826"/>
          </a:xfrm>
        </p:grpSpPr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4D2A90D6-0269-D06B-E47E-2DDB045D7203}"/>
                </a:ext>
              </a:extLst>
            </p:cNvPr>
            <p:cNvGrpSpPr/>
            <p:nvPr/>
          </p:nvGrpSpPr>
          <p:grpSpPr>
            <a:xfrm>
              <a:off x="451216" y="1299488"/>
              <a:ext cx="780064" cy="480826"/>
              <a:chOff x="-1773803" y="1420957"/>
              <a:chExt cx="780064" cy="480826"/>
            </a:xfrm>
          </p:grpSpPr>
          <p:sp>
            <p:nvSpPr>
              <p:cNvPr id="101" name="TextBox 100">
                <a:extLst>
                  <a:ext uri="{FF2B5EF4-FFF2-40B4-BE49-F238E27FC236}">
                    <a16:creationId xmlns:a16="http://schemas.microsoft.com/office/drawing/2014/main" id="{056ECB3E-C646-ED9B-53E2-786619E3E908}"/>
                  </a:ext>
                </a:extLst>
              </p:cNvPr>
              <p:cNvSpPr txBox="1"/>
              <p:nvPr/>
            </p:nvSpPr>
            <p:spPr>
              <a:xfrm>
                <a:off x="-1773803" y="1501674"/>
                <a:ext cx="780064" cy="40010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675" dirty="0"/>
                  <a:t>of </a:t>
                </a:r>
                <a:r>
                  <a:rPr lang="en-US" sz="675" i="1" dirty="0"/>
                  <a:t>Q</a:t>
                </a:r>
                <a:r>
                  <a:rPr lang="en-US" sz="675" dirty="0"/>
                  <a:t> losses</a:t>
                </a:r>
              </a:p>
            </p:txBody>
          </p:sp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43A25E2A-A9A1-11FC-7F1A-F23AB7EBC5BF}"/>
                  </a:ext>
                </a:extLst>
              </p:cNvPr>
              <p:cNvSpPr txBox="1"/>
              <p:nvPr/>
            </p:nvSpPr>
            <p:spPr>
              <a:xfrm>
                <a:off x="-1545819" y="1420957"/>
                <a:ext cx="286831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675" b="1" dirty="0">
                    <a:solidFill>
                      <a:schemeClr val="accent5"/>
                    </a:solidFill>
                  </a:rPr>
                  <a:t>t</a:t>
                </a:r>
              </a:p>
            </p:txBody>
          </p:sp>
        </p:grpSp>
        <p:cxnSp>
          <p:nvCxnSpPr>
            <p:cNvPr id="102" name="Straight Arrow Connector 101">
              <a:extLst>
                <a:ext uri="{FF2B5EF4-FFF2-40B4-BE49-F238E27FC236}">
                  <a16:creationId xmlns:a16="http://schemas.microsoft.com/office/drawing/2014/main" id="{12D152C7-AE4E-12A8-1FB5-4DC7C84DF8F9}"/>
                </a:ext>
              </a:extLst>
            </p:cNvPr>
            <p:cNvCxnSpPr>
              <a:cxnSpLocks/>
            </p:cNvCxnSpPr>
            <p:nvPr/>
          </p:nvCxnSpPr>
          <p:spPr>
            <a:xfrm>
              <a:off x="555625" y="1356415"/>
              <a:ext cx="605307" cy="0"/>
            </a:xfrm>
            <a:prstGeom prst="straightConnector1">
              <a:avLst/>
            </a:prstGeom>
            <a:ln>
              <a:solidFill>
                <a:schemeClr val="accent5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B21AF678-42F7-4A58-7DB1-AFA6A139AB52}"/>
              </a:ext>
            </a:extLst>
          </p:cNvPr>
          <p:cNvSpPr txBox="1"/>
          <p:nvPr/>
        </p:nvSpPr>
        <p:spPr>
          <a:xfrm>
            <a:off x="-28575" y="2203357"/>
            <a:ext cx="320883" cy="196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675" i="1" dirty="0"/>
              <a:t>Key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EA3876-A9E9-8845-ACE0-AC1965BCD3A0}"/>
              </a:ext>
            </a:extLst>
          </p:cNvPr>
          <p:cNvSpPr txBox="1"/>
          <p:nvPr/>
        </p:nvSpPr>
        <p:spPr>
          <a:xfrm>
            <a:off x="96135" y="2411259"/>
            <a:ext cx="1462260" cy="1962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75" b="1" dirty="0">
                <a:solidFill>
                  <a:srgbClr val="C00000"/>
                </a:solidFill>
              </a:rPr>
              <a:t>M</a:t>
            </a:r>
            <a:r>
              <a:rPr lang="en-US" sz="675" dirty="0"/>
              <a:t>: mass matrices for the MCC [kg]</a:t>
            </a:r>
            <a:endParaRPr lang="en-US" sz="675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331589-6FEB-4F98-CA19-3D9BF36D87F5}"/>
              </a:ext>
            </a:extLst>
          </p:cNvPr>
          <p:cNvSpPr txBox="1"/>
          <p:nvPr/>
        </p:nvSpPr>
        <p:spPr>
          <a:xfrm>
            <a:off x="105185" y="2999057"/>
            <a:ext cx="1537600" cy="1962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75" b="1" dirty="0">
                <a:solidFill>
                  <a:schemeClr val="accent6"/>
                </a:solidFill>
              </a:rPr>
              <a:t>H</a:t>
            </a:r>
            <a:r>
              <a:rPr lang="en-US" sz="675" dirty="0"/>
              <a:t>: enthalpies for MCC flows [kJ/mol]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0BAABDC-25CF-828B-4074-CE82DA90184D}"/>
              </a:ext>
            </a:extLst>
          </p:cNvPr>
          <p:cNvSpPr txBox="1"/>
          <p:nvPr/>
        </p:nvSpPr>
        <p:spPr>
          <a:xfrm>
            <a:off x="17733" y="3086104"/>
            <a:ext cx="1931939" cy="1962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75" b="1" dirty="0">
                <a:solidFill>
                  <a:schemeClr val="accent6"/>
                </a:solidFill>
              </a:rPr>
              <a:t>MW</a:t>
            </a:r>
            <a:r>
              <a:rPr lang="en-US" sz="675" dirty="0"/>
              <a:t>: molecular weights for MCC flows [kg/mol]</a:t>
            </a:r>
            <a:endParaRPr lang="en-US" sz="675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5CCA1B4-1B53-CFA5-717F-EB91940B4CDB}"/>
              </a:ext>
            </a:extLst>
          </p:cNvPr>
          <p:cNvSpPr txBox="1"/>
          <p:nvPr/>
        </p:nvSpPr>
        <p:spPr>
          <a:xfrm>
            <a:off x="5296" y="2317657"/>
            <a:ext cx="2168510" cy="196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675" dirty="0">
                <a:solidFill>
                  <a:srgbClr val="C00000"/>
                </a:solidFill>
              </a:rPr>
              <a:t>Flow </a:t>
            </a:r>
            <a:r>
              <a:rPr lang="en-US" sz="675" b="1" dirty="0">
                <a:solidFill>
                  <a:srgbClr val="C00000"/>
                </a:solidFill>
              </a:rPr>
              <a:t>RUVY</a:t>
            </a:r>
            <a:r>
              <a:rPr lang="en-US" sz="675" dirty="0">
                <a:solidFill>
                  <a:srgbClr val="C00000"/>
                </a:solidFill>
              </a:rPr>
              <a:t> matrices</a:t>
            </a:r>
            <a:r>
              <a:rPr lang="en-US" sz="675" dirty="0"/>
              <a:t>: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9FD168E-3093-87DE-9CDA-513E0DCA12BE}"/>
              </a:ext>
            </a:extLst>
          </p:cNvPr>
          <p:cNvSpPr txBox="1"/>
          <p:nvPr/>
        </p:nvSpPr>
        <p:spPr>
          <a:xfrm>
            <a:off x="5298" y="2899028"/>
            <a:ext cx="2285757" cy="196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675" dirty="0">
                <a:solidFill>
                  <a:schemeClr val="accent6"/>
                </a:solidFill>
              </a:rPr>
              <a:t>Property </a:t>
            </a:r>
            <a:r>
              <a:rPr lang="en-US" sz="675" b="1" dirty="0">
                <a:solidFill>
                  <a:schemeClr val="accent6"/>
                </a:solidFill>
              </a:rPr>
              <a:t>RUVY</a:t>
            </a:r>
            <a:r>
              <a:rPr lang="en-US" sz="675" dirty="0">
                <a:solidFill>
                  <a:schemeClr val="accent6"/>
                </a:solidFill>
              </a:rPr>
              <a:t> matrices</a:t>
            </a:r>
            <a:r>
              <a:rPr lang="en-US" sz="675" dirty="0"/>
              <a:t>: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C0F81E1-3A6B-CAF2-C745-72FC42494CC1}"/>
              </a:ext>
            </a:extLst>
          </p:cNvPr>
          <p:cNvSpPr txBox="1"/>
          <p:nvPr/>
        </p:nvSpPr>
        <p:spPr>
          <a:xfrm>
            <a:off x="114546" y="2502794"/>
            <a:ext cx="1750800" cy="1962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75" b="1" dirty="0">
                <a:solidFill>
                  <a:srgbClr val="C00000"/>
                </a:solidFill>
              </a:rPr>
              <a:t>E</a:t>
            </a:r>
            <a:r>
              <a:rPr lang="en-US" sz="675" dirty="0"/>
              <a:t>: energy matrices for the MCC or ECC [kJ]</a:t>
            </a:r>
            <a:endParaRPr lang="en-US" sz="675" b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039964A-A781-B6A5-B001-8DB56A4C6CDE}"/>
              </a:ext>
            </a:extLst>
          </p:cNvPr>
          <p:cNvSpPr txBox="1"/>
          <p:nvPr/>
        </p:nvSpPr>
        <p:spPr>
          <a:xfrm>
            <a:off x="142006" y="3275794"/>
            <a:ext cx="1548822" cy="1962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75" b="1" dirty="0">
                <a:solidFill>
                  <a:schemeClr val="accent5"/>
                </a:solidFill>
              </a:rPr>
              <a:t>t</a:t>
            </a:r>
            <a:r>
              <a:rPr lang="en-US" sz="675" dirty="0"/>
              <a:t>: temperature vector for </a:t>
            </a:r>
            <a:r>
              <a:rPr lang="en-US" sz="675" i="1" dirty="0"/>
              <a:t>Q</a:t>
            </a:r>
            <a:r>
              <a:rPr lang="en-US" sz="675" dirty="0"/>
              <a:t> losses [K]</a:t>
            </a:r>
            <a:endParaRPr lang="en-US" sz="675" b="1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54E6FDE-F056-A140-201B-82941A23F2E9}"/>
              </a:ext>
            </a:extLst>
          </p:cNvPr>
          <p:cNvSpPr txBox="1"/>
          <p:nvPr/>
        </p:nvSpPr>
        <p:spPr>
          <a:xfrm>
            <a:off x="114546" y="2594384"/>
            <a:ext cx="1465466" cy="1962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75" b="1" dirty="0">
                <a:solidFill>
                  <a:srgbClr val="C00000"/>
                </a:solidFill>
              </a:rPr>
              <a:t>B</a:t>
            </a:r>
            <a:r>
              <a:rPr lang="en-US" sz="675" dirty="0"/>
              <a:t>: exergy matrices for the MCC [kJ]</a:t>
            </a:r>
            <a:endParaRPr lang="en-US" sz="675" b="1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E77D4E9-A606-E85B-CEBA-B5444E8A6C97}"/>
              </a:ext>
            </a:extLst>
          </p:cNvPr>
          <p:cNvSpPr txBox="1"/>
          <p:nvPr/>
        </p:nvSpPr>
        <p:spPr>
          <a:xfrm>
            <a:off x="80109" y="3350814"/>
            <a:ext cx="1976154" cy="1962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75" b="1" dirty="0" err="1">
                <a:solidFill>
                  <a:schemeClr val="accent5"/>
                </a:solidFill>
                <a:latin typeface="Symbol" pitchFamily="2" charset="2"/>
              </a:rPr>
              <a:t>f</a:t>
            </a:r>
            <a:r>
              <a:rPr lang="en-US" sz="675" baseline="-25000" dirty="0" err="1">
                <a:solidFill>
                  <a:schemeClr val="accent5"/>
                </a:solidFill>
                <a:latin typeface="Aptos" panose="020B0004020202020204" pitchFamily="34" charset="0"/>
              </a:rPr>
              <a:t>m</a:t>
            </a:r>
            <a:r>
              <a:rPr lang="en-US" sz="675" dirty="0"/>
              <a:t>: exergy-to-mass ratio for MCC flows [kJ/kg]</a:t>
            </a:r>
            <a:endParaRPr lang="en-US" sz="675" b="1" dirty="0"/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2BFD2E6E-3EA7-2CC4-D6EA-74D227A08D56}"/>
              </a:ext>
            </a:extLst>
          </p:cNvPr>
          <p:cNvCxnSpPr>
            <a:cxnSpLocks/>
            <a:stCxn id="62" idx="3"/>
            <a:endCxn id="116" idx="1"/>
          </p:cNvCxnSpPr>
          <p:nvPr/>
        </p:nvCxnSpPr>
        <p:spPr>
          <a:xfrm>
            <a:off x="4574029" y="2525683"/>
            <a:ext cx="448453" cy="801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62951456-BB9B-F3EF-6BD7-ECDEB0FB288D}"/>
              </a:ext>
            </a:extLst>
          </p:cNvPr>
          <p:cNvCxnSpPr>
            <a:cxnSpLocks/>
            <a:endCxn id="62" idx="1"/>
          </p:cNvCxnSpPr>
          <p:nvPr/>
        </p:nvCxnSpPr>
        <p:spPr>
          <a:xfrm>
            <a:off x="3374609" y="2525683"/>
            <a:ext cx="468630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7" name="Group 66">
            <a:extLst>
              <a:ext uri="{FF2B5EF4-FFF2-40B4-BE49-F238E27FC236}">
                <a16:creationId xmlns:a16="http://schemas.microsoft.com/office/drawing/2014/main" id="{2025EFC4-E097-A9B9-58C7-98F2C915A501}"/>
              </a:ext>
            </a:extLst>
          </p:cNvPr>
          <p:cNvGrpSpPr/>
          <p:nvPr/>
        </p:nvGrpSpPr>
        <p:grpSpPr>
          <a:xfrm>
            <a:off x="4501863" y="2486075"/>
            <a:ext cx="661672" cy="341216"/>
            <a:chOff x="1855393" y="1157780"/>
            <a:chExt cx="882229" cy="454955"/>
          </a:xfrm>
        </p:grpSpPr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45740B21-43C8-2C49-B83E-3BF1BAAB551A}"/>
                </a:ext>
              </a:extLst>
            </p:cNvPr>
            <p:cNvSpPr txBox="1"/>
            <p:nvPr/>
          </p:nvSpPr>
          <p:spPr>
            <a:xfrm>
              <a:off x="2145694" y="1157780"/>
              <a:ext cx="312480" cy="26161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75" b="1" dirty="0">
                  <a:solidFill>
                    <a:srgbClr val="C00000"/>
                  </a:solidFill>
                </a:rPr>
                <a:t>E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171A3AA7-578D-80D5-C51F-3DCB66CEC20E}"/>
                </a:ext>
              </a:extLst>
            </p:cNvPr>
            <p:cNvSpPr txBox="1"/>
            <p:nvPr/>
          </p:nvSpPr>
          <p:spPr>
            <a:xfrm>
              <a:off x="1863013" y="1252064"/>
              <a:ext cx="874609" cy="26161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675" dirty="0"/>
                <a:t>w/ </a:t>
              </a:r>
              <a:r>
                <a:rPr lang="en-US" sz="675" i="1" dirty="0"/>
                <a:t>Q</a:t>
              </a:r>
            </a:p>
          </p:txBody>
        </p:sp>
        <p:sp>
          <p:nvSpPr>
            <p:cNvPr id="241" name="TextBox 240">
              <a:extLst>
                <a:ext uri="{FF2B5EF4-FFF2-40B4-BE49-F238E27FC236}">
                  <a16:creationId xmlns:a16="http://schemas.microsoft.com/office/drawing/2014/main" id="{0903E9C3-5265-B9E2-15EC-93397D3A9C90}"/>
                </a:ext>
              </a:extLst>
            </p:cNvPr>
            <p:cNvSpPr txBox="1"/>
            <p:nvPr/>
          </p:nvSpPr>
          <p:spPr>
            <a:xfrm>
              <a:off x="1855393" y="1351124"/>
              <a:ext cx="874609" cy="26161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675" dirty="0"/>
                <a:t>losses</a:t>
              </a:r>
            </a:p>
          </p:txBody>
        </p:sp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E214D9B3-10A4-7033-A42A-ACE443388922}"/>
              </a:ext>
            </a:extLst>
          </p:cNvPr>
          <p:cNvGrpSpPr/>
          <p:nvPr/>
        </p:nvGrpSpPr>
        <p:grpSpPr>
          <a:xfrm>
            <a:off x="3176829" y="2499829"/>
            <a:ext cx="785840" cy="339510"/>
            <a:chOff x="56514" y="1166121"/>
            <a:chExt cx="1047786" cy="452679"/>
          </a:xfrm>
        </p:grpSpPr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636D7E21-5EE3-0278-CD36-AD8EDBD8E9E5}"/>
                </a:ext>
              </a:extLst>
            </p:cNvPr>
            <p:cNvSpPr txBox="1"/>
            <p:nvPr/>
          </p:nvSpPr>
          <p:spPr>
            <a:xfrm>
              <a:off x="435349" y="1166121"/>
              <a:ext cx="312480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75" b="1" dirty="0">
                  <a:solidFill>
                    <a:srgbClr val="C00000"/>
                  </a:solidFill>
                </a:rPr>
                <a:t>E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053E78B9-453E-5FFD-0BB7-BDEA48FC7A79}"/>
                </a:ext>
              </a:extLst>
            </p:cNvPr>
            <p:cNvSpPr txBox="1"/>
            <p:nvPr/>
          </p:nvSpPr>
          <p:spPr>
            <a:xfrm>
              <a:off x="63753" y="1261001"/>
              <a:ext cx="1040547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675" dirty="0"/>
                <a:t>w/o </a:t>
              </a:r>
              <a:r>
                <a:rPr lang="en-US" sz="675" i="1" dirty="0"/>
                <a:t>Q</a:t>
              </a:r>
              <a:endParaRPr lang="en-US" sz="675" dirty="0"/>
            </a:p>
          </p:txBody>
        </p:sp>
        <p:sp>
          <p:nvSpPr>
            <p:cNvPr id="171" name="TextBox 170">
              <a:extLst>
                <a:ext uri="{FF2B5EF4-FFF2-40B4-BE49-F238E27FC236}">
                  <a16:creationId xmlns:a16="http://schemas.microsoft.com/office/drawing/2014/main" id="{4A459D5D-15B8-1D0A-963D-FAB2CCEBA575}"/>
                </a:ext>
              </a:extLst>
            </p:cNvPr>
            <p:cNvSpPr txBox="1"/>
            <p:nvPr/>
          </p:nvSpPr>
          <p:spPr>
            <a:xfrm>
              <a:off x="56514" y="1357190"/>
              <a:ext cx="1040546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675" dirty="0"/>
                <a:t>losses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02725AF1-67EB-8B37-B7C5-2DA05A74ECA9}"/>
              </a:ext>
            </a:extLst>
          </p:cNvPr>
          <p:cNvGrpSpPr/>
          <p:nvPr/>
        </p:nvGrpSpPr>
        <p:grpSpPr>
          <a:xfrm>
            <a:off x="4486442" y="2101401"/>
            <a:ext cx="585048" cy="360460"/>
            <a:chOff x="4262871" y="2536732"/>
            <a:chExt cx="780064" cy="480613"/>
          </a:xfrm>
        </p:grpSpPr>
        <p:grpSp>
          <p:nvGrpSpPr>
            <p:cNvPr id="105" name="Group 104">
              <a:extLst>
                <a:ext uri="{FF2B5EF4-FFF2-40B4-BE49-F238E27FC236}">
                  <a16:creationId xmlns:a16="http://schemas.microsoft.com/office/drawing/2014/main" id="{05719447-790D-F733-649C-60380AEE3C7A}"/>
                </a:ext>
              </a:extLst>
            </p:cNvPr>
            <p:cNvGrpSpPr/>
            <p:nvPr/>
          </p:nvGrpSpPr>
          <p:grpSpPr>
            <a:xfrm>
              <a:off x="4262871" y="2536732"/>
              <a:ext cx="780064" cy="480613"/>
              <a:chOff x="1844226" y="366857"/>
              <a:chExt cx="780064" cy="480613"/>
            </a:xfrm>
          </p:grpSpPr>
          <p:sp>
            <p:nvSpPr>
              <p:cNvPr id="106" name="TextBox 105">
                <a:extLst>
                  <a:ext uri="{FF2B5EF4-FFF2-40B4-BE49-F238E27FC236}">
                    <a16:creationId xmlns:a16="http://schemas.microsoft.com/office/drawing/2014/main" id="{F9ABCCDD-6E9A-9D4F-495C-3C31B88491FC}"/>
                  </a:ext>
                </a:extLst>
              </p:cNvPr>
              <p:cNvSpPr txBox="1"/>
              <p:nvPr/>
            </p:nvSpPr>
            <p:spPr>
              <a:xfrm>
                <a:off x="2096971" y="366857"/>
                <a:ext cx="286831" cy="26161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675" b="1" dirty="0">
                    <a:solidFill>
                      <a:schemeClr val="accent5"/>
                    </a:solidFill>
                  </a:rPr>
                  <a:t>t</a:t>
                </a:r>
              </a:p>
            </p:txBody>
          </p:sp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D64EA1A3-0C0D-9C5C-3FEB-A53368157155}"/>
                  </a:ext>
                </a:extLst>
              </p:cNvPr>
              <p:cNvSpPr txBox="1"/>
              <p:nvPr/>
            </p:nvSpPr>
            <p:spPr>
              <a:xfrm>
                <a:off x="1844226" y="447361"/>
                <a:ext cx="780064" cy="40010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675" dirty="0"/>
                  <a:t>of </a:t>
                </a:r>
                <a:r>
                  <a:rPr lang="en-US" sz="675" i="1" dirty="0"/>
                  <a:t>Q</a:t>
                </a:r>
                <a:r>
                  <a:rPr lang="en-US" sz="675" dirty="0"/>
                  <a:t> losses</a:t>
                </a:r>
              </a:p>
            </p:txBody>
          </p:sp>
        </p:grpSp>
        <p:cxnSp>
          <p:nvCxnSpPr>
            <p:cNvPr id="118" name="Straight Arrow Connector 117">
              <a:extLst>
                <a:ext uri="{FF2B5EF4-FFF2-40B4-BE49-F238E27FC236}">
                  <a16:creationId xmlns:a16="http://schemas.microsoft.com/office/drawing/2014/main" id="{03134460-CE13-6071-94E4-2DC7ECA1A898}"/>
                </a:ext>
              </a:extLst>
            </p:cNvPr>
            <p:cNvCxnSpPr>
              <a:cxnSpLocks/>
            </p:cNvCxnSpPr>
            <p:nvPr/>
          </p:nvCxnSpPr>
          <p:spPr>
            <a:xfrm>
              <a:off x="4359275" y="2595346"/>
              <a:ext cx="607742" cy="0"/>
            </a:xfrm>
            <a:prstGeom prst="straightConnector1">
              <a:avLst/>
            </a:prstGeom>
            <a:ln>
              <a:solidFill>
                <a:schemeClr val="accent5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AC5735E4-AB44-E377-95CD-BC28B2D94996}"/>
              </a:ext>
            </a:extLst>
          </p:cNvPr>
          <p:cNvGrpSpPr/>
          <p:nvPr/>
        </p:nvGrpSpPr>
        <p:grpSpPr>
          <a:xfrm>
            <a:off x="4563508" y="2865572"/>
            <a:ext cx="451481" cy="196208"/>
            <a:chOff x="4349750" y="3749308"/>
            <a:chExt cx="601975" cy="261611"/>
          </a:xfrm>
        </p:grpSpPr>
        <p:cxnSp>
          <p:nvCxnSpPr>
            <p:cNvPr id="128" name="Straight Arrow Connector 127">
              <a:extLst>
                <a:ext uri="{FF2B5EF4-FFF2-40B4-BE49-F238E27FC236}">
                  <a16:creationId xmlns:a16="http://schemas.microsoft.com/office/drawing/2014/main" id="{F4C7CCCE-B20E-D3F0-4880-93B2D472BC21}"/>
                </a:ext>
              </a:extLst>
            </p:cNvPr>
            <p:cNvCxnSpPr>
              <a:cxnSpLocks/>
            </p:cNvCxnSpPr>
            <p:nvPr/>
          </p:nvCxnSpPr>
          <p:spPr>
            <a:xfrm>
              <a:off x="4349750" y="3803565"/>
              <a:ext cx="601975" cy="0"/>
            </a:xfrm>
            <a:prstGeom prst="straightConnector1">
              <a:avLst/>
            </a:prstGeom>
            <a:ln>
              <a:solidFill>
                <a:schemeClr val="accent5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C1EF66DF-7F50-23BD-C25E-46BE821FC51B}"/>
                </a:ext>
              </a:extLst>
            </p:cNvPr>
            <p:cNvSpPr txBox="1"/>
            <p:nvPr/>
          </p:nvSpPr>
          <p:spPr>
            <a:xfrm>
              <a:off x="4476355" y="3749308"/>
              <a:ext cx="346678" cy="26161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75" b="1" dirty="0" err="1">
                  <a:solidFill>
                    <a:schemeClr val="accent5"/>
                  </a:solidFill>
                  <a:latin typeface="Symbol" pitchFamily="2" charset="2"/>
                </a:rPr>
                <a:t>f</a:t>
              </a:r>
              <a:r>
                <a:rPr lang="en-US" sz="675" baseline="-25000" dirty="0" err="1">
                  <a:solidFill>
                    <a:schemeClr val="accent5"/>
                  </a:solidFill>
                  <a:latin typeface="Aptos" panose="020B0004020202020204" pitchFamily="34" charset="0"/>
                </a:rPr>
                <a:t>e</a:t>
              </a:r>
              <a:endParaRPr lang="en-US" sz="675" b="1" dirty="0">
                <a:solidFill>
                  <a:schemeClr val="accent5"/>
                </a:solidFill>
                <a:latin typeface="Symbol" pitchFamily="2" charset="2"/>
              </a:endParaRPr>
            </a:p>
          </p:txBody>
        </p:sp>
      </p:grpSp>
      <p:sp>
        <p:nvSpPr>
          <p:cNvPr id="149" name="TextBox 148">
            <a:extLst>
              <a:ext uri="{FF2B5EF4-FFF2-40B4-BE49-F238E27FC236}">
                <a16:creationId xmlns:a16="http://schemas.microsoft.com/office/drawing/2014/main" id="{BF5816CE-ED90-1034-CCC3-DF9BB5960CA3}"/>
              </a:ext>
            </a:extLst>
          </p:cNvPr>
          <p:cNvSpPr txBox="1"/>
          <p:nvPr/>
        </p:nvSpPr>
        <p:spPr>
          <a:xfrm>
            <a:off x="3244" y="3196604"/>
            <a:ext cx="1799416" cy="196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675" dirty="0">
                <a:solidFill>
                  <a:schemeClr val="accent5"/>
                </a:solidFill>
              </a:rPr>
              <a:t>Vectors</a:t>
            </a:r>
            <a:r>
              <a:rPr lang="en-US" sz="675" dirty="0"/>
              <a:t>:</a:t>
            </a: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CEB24655-2FC4-807E-2EEA-32A3DBC47CF9}"/>
              </a:ext>
            </a:extLst>
          </p:cNvPr>
          <p:cNvSpPr txBox="1"/>
          <p:nvPr/>
        </p:nvSpPr>
        <p:spPr>
          <a:xfrm>
            <a:off x="3244" y="3538043"/>
            <a:ext cx="1799416" cy="196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675" dirty="0"/>
              <a:t>Operators:</a:t>
            </a:r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87D894EF-805D-D714-1BB5-5AAF5EEA6E52}"/>
              </a:ext>
            </a:extLst>
          </p:cNvPr>
          <p:cNvSpPr txBox="1"/>
          <p:nvPr/>
        </p:nvSpPr>
        <p:spPr>
          <a:xfrm>
            <a:off x="132577" y="3610919"/>
            <a:ext cx="982961" cy="1962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75" dirty="0"/>
              <a:t>×: Hadamard product</a:t>
            </a:r>
            <a:endParaRPr lang="en-US" sz="675" b="1" dirty="0"/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C5305141-CA04-5909-307D-8D135D8F7269}"/>
              </a:ext>
            </a:extLst>
          </p:cNvPr>
          <p:cNvSpPr txBox="1"/>
          <p:nvPr/>
        </p:nvSpPr>
        <p:spPr>
          <a:xfrm>
            <a:off x="150988" y="3706808"/>
            <a:ext cx="1067921" cy="1962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75" dirty="0"/>
              <a:t>/: Element-wise division</a:t>
            </a:r>
            <a:endParaRPr lang="en-US" sz="675" b="1" dirty="0"/>
          </a:p>
        </p:txBody>
      </p:sp>
      <p:grpSp>
        <p:nvGrpSpPr>
          <p:cNvPr id="195" name="Group 194">
            <a:extLst>
              <a:ext uri="{FF2B5EF4-FFF2-40B4-BE49-F238E27FC236}">
                <a16:creationId xmlns:a16="http://schemas.microsoft.com/office/drawing/2014/main" id="{B8B32E9F-0413-FFBD-6078-27D72D6E1BC0}"/>
              </a:ext>
            </a:extLst>
          </p:cNvPr>
          <p:cNvGrpSpPr/>
          <p:nvPr/>
        </p:nvGrpSpPr>
        <p:grpSpPr>
          <a:xfrm>
            <a:off x="2083054" y="572816"/>
            <a:ext cx="682385" cy="548142"/>
            <a:chOff x="2924693" y="757617"/>
            <a:chExt cx="909847" cy="730856"/>
          </a:xfrm>
        </p:grpSpPr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E19CB137-09F9-471E-A6AB-7F856C93E756}"/>
                </a:ext>
              </a:extLst>
            </p:cNvPr>
            <p:cNvGrpSpPr/>
            <p:nvPr/>
          </p:nvGrpSpPr>
          <p:grpSpPr>
            <a:xfrm>
              <a:off x="2987118" y="757617"/>
              <a:ext cx="792764" cy="730856"/>
              <a:chOff x="3287831" y="757617"/>
              <a:chExt cx="792764" cy="730856"/>
            </a:xfrm>
          </p:grpSpPr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227628D8-AE5E-3A09-FB89-8F6A3CBC630F}"/>
                  </a:ext>
                </a:extLst>
              </p:cNvPr>
              <p:cNvSpPr txBox="1"/>
              <p:nvPr/>
            </p:nvSpPr>
            <p:spPr>
              <a:xfrm>
                <a:off x="3528168" y="757617"/>
                <a:ext cx="312480" cy="26161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675" b="1" dirty="0">
                    <a:solidFill>
                      <a:srgbClr val="C00000"/>
                    </a:solidFill>
                  </a:rPr>
                  <a:t>E</a:t>
                </a:r>
              </a:p>
            </p:txBody>
          </p: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BC6607F1-E111-5D9D-8570-5B14608F7050}"/>
                  </a:ext>
                </a:extLst>
              </p:cNvPr>
              <p:cNvSpPr txBox="1"/>
              <p:nvPr/>
            </p:nvSpPr>
            <p:spPr>
              <a:xfrm>
                <a:off x="3287831" y="1133150"/>
                <a:ext cx="780064" cy="2616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675" dirty="0"/>
                  <a:t>w/o </a:t>
                </a:r>
                <a:r>
                  <a:rPr lang="en-US" sz="675" i="1" dirty="0"/>
                  <a:t>Q</a:t>
                </a:r>
                <a:endParaRPr lang="en-US" sz="675" dirty="0"/>
              </a:p>
            </p:txBody>
          </p: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35290B96-D682-D015-8461-3378356FF338}"/>
                  </a:ext>
                </a:extLst>
              </p:cNvPr>
              <p:cNvSpPr txBox="1"/>
              <p:nvPr/>
            </p:nvSpPr>
            <p:spPr>
              <a:xfrm>
                <a:off x="3293968" y="1226862"/>
                <a:ext cx="780064" cy="2616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675" dirty="0"/>
                  <a:t>losses</a:t>
                </a: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34EC1D01-5554-C120-845E-CA961AD62E6D}"/>
                  </a:ext>
                </a:extLst>
              </p:cNvPr>
              <p:cNvSpPr txBox="1"/>
              <p:nvPr/>
            </p:nvSpPr>
            <p:spPr>
              <a:xfrm>
                <a:off x="3300531" y="1037900"/>
                <a:ext cx="780064" cy="2616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675" dirty="0"/>
                  <a:t>w/o elect;</a:t>
                </a:r>
              </a:p>
            </p:txBody>
          </p:sp>
        </p:grpSp>
        <p:sp>
          <p:nvSpPr>
            <p:cNvPr id="153" name="TextBox 152">
              <a:extLst>
                <a:ext uri="{FF2B5EF4-FFF2-40B4-BE49-F238E27FC236}">
                  <a16:creationId xmlns:a16="http://schemas.microsoft.com/office/drawing/2014/main" id="{D7655A8F-D94C-C512-DA8F-968A64B22FF3}"/>
                </a:ext>
              </a:extLst>
            </p:cNvPr>
            <p:cNvSpPr txBox="1"/>
            <p:nvPr/>
          </p:nvSpPr>
          <p:spPr>
            <a:xfrm>
              <a:off x="2924693" y="850053"/>
              <a:ext cx="909847" cy="26161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675" dirty="0"/>
                <a:t>w/ </a:t>
              </a:r>
              <a:r>
                <a:rPr lang="en-US" sz="675" i="1" dirty="0"/>
                <a:t>m</a:t>
              </a:r>
              <a:endParaRPr lang="en-US" sz="675" dirty="0"/>
            </a:p>
          </p:txBody>
        </p:sp>
        <p:sp>
          <p:nvSpPr>
            <p:cNvPr id="155" name="TextBox 154">
              <a:extLst>
                <a:ext uri="{FF2B5EF4-FFF2-40B4-BE49-F238E27FC236}">
                  <a16:creationId xmlns:a16="http://schemas.microsoft.com/office/drawing/2014/main" id="{91465E4B-B3CA-7540-3E48-67F1A26600C3}"/>
                </a:ext>
              </a:extLst>
            </p:cNvPr>
            <p:cNvSpPr txBox="1"/>
            <p:nvPr/>
          </p:nvSpPr>
          <p:spPr>
            <a:xfrm>
              <a:off x="3043904" y="944526"/>
              <a:ext cx="711882" cy="26161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675" dirty="0"/>
                <a:t>losses;</a:t>
              </a:r>
            </a:p>
          </p:txBody>
        </p:sp>
      </p:grp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4AC9D8DC-AC67-7CB9-DFDF-1320EA4FB5A8}"/>
              </a:ext>
            </a:extLst>
          </p:cNvPr>
          <p:cNvCxnSpPr>
            <a:cxnSpLocks/>
            <a:stCxn id="116" idx="3"/>
          </p:cNvCxnSpPr>
          <p:nvPr/>
        </p:nvCxnSpPr>
        <p:spPr>
          <a:xfrm>
            <a:off x="5556615" y="2526484"/>
            <a:ext cx="1144436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63" name="Group 162">
            <a:extLst>
              <a:ext uri="{FF2B5EF4-FFF2-40B4-BE49-F238E27FC236}">
                <a16:creationId xmlns:a16="http://schemas.microsoft.com/office/drawing/2014/main" id="{DA549490-CD9C-8563-F6B4-5F7A00D88CF9}"/>
              </a:ext>
            </a:extLst>
          </p:cNvPr>
          <p:cNvGrpSpPr/>
          <p:nvPr/>
        </p:nvGrpSpPr>
        <p:grpSpPr>
          <a:xfrm>
            <a:off x="5725702" y="2486050"/>
            <a:ext cx="705323" cy="336920"/>
            <a:chOff x="7481127" y="1157780"/>
            <a:chExt cx="940430" cy="449227"/>
          </a:xfrm>
        </p:grpSpPr>
        <p:sp>
          <p:nvSpPr>
            <p:cNvPr id="164" name="TextBox 163">
              <a:extLst>
                <a:ext uri="{FF2B5EF4-FFF2-40B4-BE49-F238E27FC236}">
                  <a16:creationId xmlns:a16="http://schemas.microsoft.com/office/drawing/2014/main" id="{28955AE4-2B94-4B89-BB3B-B44AB6FFFC6C}"/>
                </a:ext>
              </a:extLst>
            </p:cNvPr>
            <p:cNvSpPr txBox="1"/>
            <p:nvPr/>
          </p:nvSpPr>
          <p:spPr>
            <a:xfrm>
              <a:off x="7796257" y="1157780"/>
              <a:ext cx="314616" cy="26161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75" b="1" dirty="0">
                  <a:solidFill>
                    <a:srgbClr val="C00000"/>
                  </a:solidFill>
                </a:rPr>
                <a:t>X</a:t>
              </a:r>
            </a:p>
          </p:txBody>
        </p:sp>
        <p:sp>
          <p:nvSpPr>
            <p:cNvPr id="165" name="TextBox 164">
              <a:extLst>
                <a:ext uri="{FF2B5EF4-FFF2-40B4-BE49-F238E27FC236}">
                  <a16:creationId xmlns:a16="http://schemas.microsoft.com/office/drawing/2014/main" id="{6C45FE70-454D-3D3D-00A1-65F944B27543}"/>
                </a:ext>
              </a:extLst>
            </p:cNvPr>
            <p:cNvSpPr txBox="1"/>
            <p:nvPr/>
          </p:nvSpPr>
          <p:spPr>
            <a:xfrm>
              <a:off x="7488747" y="1253956"/>
              <a:ext cx="932810" cy="26161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675" dirty="0"/>
                <a:t>w/ </a:t>
              </a:r>
              <a:r>
                <a:rPr lang="en-US" sz="675" i="1" dirty="0"/>
                <a:t>Q</a:t>
              </a:r>
            </a:p>
          </p:txBody>
        </p:sp>
        <p:sp>
          <p:nvSpPr>
            <p:cNvPr id="232" name="TextBox 231">
              <a:extLst>
                <a:ext uri="{FF2B5EF4-FFF2-40B4-BE49-F238E27FC236}">
                  <a16:creationId xmlns:a16="http://schemas.microsoft.com/office/drawing/2014/main" id="{D1505940-B962-FECB-3499-407E43A25F6F}"/>
                </a:ext>
              </a:extLst>
            </p:cNvPr>
            <p:cNvSpPr txBox="1"/>
            <p:nvPr/>
          </p:nvSpPr>
          <p:spPr>
            <a:xfrm>
              <a:off x="7481127" y="1345396"/>
              <a:ext cx="932810" cy="26161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675" dirty="0"/>
                <a:t> losses</a:t>
              </a:r>
            </a:p>
          </p:txBody>
        </p:sp>
      </p:grpSp>
      <p:cxnSp>
        <p:nvCxnSpPr>
          <p:cNvPr id="175" name="Straight Arrow Connector 174">
            <a:extLst>
              <a:ext uri="{FF2B5EF4-FFF2-40B4-BE49-F238E27FC236}">
                <a16:creationId xmlns:a16="http://schemas.microsoft.com/office/drawing/2014/main" id="{79922E30-CF0E-57AB-4E2C-11B0305F9974}"/>
              </a:ext>
            </a:extLst>
          </p:cNvPr>
          <p:cNvCxnSpPr>
            <a:cxnSpLocks/>
            <a:stCxn id="173" idx="3"/>
            <a:endCxn id="179" idx="1"/>
          </p:cNvCxnSpPr>
          <p:nvPr/>
        </p:nvCxnSpPr>
        <p:spPr>
          <a:xfrm flipV="1">
            <a:off x="7329586" y="1639599"/>
            <a:ext cx="579465" cy="326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Arrow Connector 181">
            <a:extLst>
              <a:ext uri="{FF2B5EF4-FFF2-40B4-BE49-F238E27FC236}">
                <a16:creationId xmlns:a16="http://schemas.microsoft.com/office/drawing/2014/main" id="{5783DE25-BEB5-C1FF-9D31-575F3517B61E}"/>
              </a:ext>
            </a:extLst>
          </p:cNvPr>
          <p:cNvCxnSpPr>
            <a:cxnSpLocks/>
            <a:stCxn id="179" idx="3"/>
          </p:cNvCxnSpPr>
          <p:nvPr/>
        </p:nvCxnSpPr>
        <p:spPr>
          <a:xfrm flipV="1">
            <a:off x="8611737" y="1639598"/>
            <a:ext cx="484101" cy="1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9" name="TextBox 218">
            <a:extLst>
              <a:ext uri="{FF2B5EF4-FFF2-40B4-BE49-F238E27FC236}">
                <a16:creationId xmlns:a16="http://schemas.microsoft.com/office/drawing/2014/main" id="{CBFC88BF-347D-6E69-E7D2-1A32E980A67F}"/>
              </a:ext>
            </a:extLst>
          </p:cNvPr>
          <p:cNvSpPr txBox="1"/>
          <p:nvPr/>
        </p:nvSpPr>
        <p:spPr>
          <a:xfrm>
            <a:off x="137180" y="3798094"/>
            <a:ext cx="962123" cy="1962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75" dirty="0"/>
              <a:t>+: Element-wise sum</a:t>
            </a:r>
            <a:endParaRPr lang="en-US" sz="675" b="1" dirty="0"/>
          </a:p>
        </p:txBody>
      </p:sp>
      <p:sp>
        <p:nvSpPr>
          <p:cNvPr id="220" name="TextBox 219">
            <a:extLst>
              <a:ext uri="{FF2B5EF4-FFF2-40B4-BE49-F238E27FC236}">
                <a16:creationId xmlns:a16="http://schemas.microsoft.com/office/drawing/2014/main" id="{4473F377-FEB7-4DB5-40C9-76943681D13D}"/>
              </a:ext>
            </a:extLst>
          </p:cNvPr>
          <p:cNvSpPr txBox="1"/>
          <p:nvPr/>
        </p:nvSpPr>
        <p:spPr>
          <a:xfrm>
            <a:off x="114546" y="2674244"/>
            <a:ext cx="1443024" cy="1962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75" b="1" dirty="0">
                <a:solidFill>
                  <a:srgbClr val="C00000"/>
                </a:solidFill>
              </a:rPr>
              <a:t>X</a:t>
            </a:r>
            <a:r>
              <a:rPr lang="en-US" sz="675" dirty="0"/>
              <a:t>: exergy matrices for the ECC [kJ]</a:t>
            </a:r>
            <a:endParaRPr lang="en-US" sz="675" b="1" dirty="0"/>
          </a:p>
        </p:txBody>
      </p:sp>
      <p:sp>
        <p:nvSpPr>
          <p:cNvPr id="221" name="TextBox 220">
            <a:extLst>
              <a:ext uri="{FF2B5EF4-FFF2-40B4-BE49-F238E27FC236}">
                <a16:creationId xmlns:a16="http://schemas.microsoft.com/office/drawing/2014/main" id="{48F542FF-1401-EFC2-ADA0-970B7949A65A}"/>
              </a:ext>
            </a:extLst>
          </p:cNvPr>
          <p:cNvSpPr txBox="1"/>
          <p:nvPr/>
        </p:nvSpPr>
        <p:spPr>
          <a:xfrm>
            <a:off x="59314" y="2760927"/>
            <a:ext cx="2117887" cy="1962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75" b="1" dirty="0">
                <a:solidFill>
                  <a:srgbClr val="C00000"/>
                </a:solidFill>
              </a:rPr>
              <a:t>BX</a:t>
            </a:r>
            <a:r>
              <a:rPr lang="en-US" sz="675" dirty="0"/>
              <a:t>: exergy matrices for combined MCC and ECC [kJ]</a:t>
            </a:r>
            <a:endParaRPr lang="en-US" sz="675" b="1" dirty="0"/>
          </a:p>
        </p:txBody>
      </p:sp>
      <p:grpSp>
        <p:nvGrpSpPr>
          <p:cNvPr id="224" name="Group 223">
            <a:extLst>
              <a:ext uri="{FF2B5EF4-FFF2-40B4-BE49-F238E27FC236}">
                <a16:creationId xmlns:a16="http://schemas.microsoft.com/office/drawing/2014/main" id="{0EF30C9A-956E-AC85-1300-B21E27CD2E9C}"/>
              </a:ext>
            </a:extLst>
          </p:cNvPr>
          <p:cNvGrpSpPr/>
          <p:nvPr/>
        </p:nvGrpSpPr>
        <p:grpSpPr>
          <a:xfrm>
            <a:off x="7194082" y="1621033"/>
            <a:ext cx="834923" cy="488281"/>
            <a:chOff x="9529495" y="2048006"/>
            <a:chExt cx="1113230" cy="651040"/>
          </a:xfrm>
        </p:grpSpPr>
        <p:grpSp>
          <p:nvGrpSpPr>
            <p:cNvPr id="208" name="Group 207">
              <a:extLst>
                <a:ext uri="{FF2B5EF4-FFF2-40B4-BE49-F238E27FC236}">
                  <a16:creationId xmlns:a16="http://schemas.microsoft.com/office/drawing/2014/main" id="{47B0743B-7F5F-39A1-AFF3-DE23921060D8}"/>
                </a:ext>
              </a:extLst>
            </p:cNvPr>
            <p:cNvGrpSpPr/>
            <p:nvPr/>
          </p:nvGrpSpPr>
          <p:grpSpPr>
            <a:xfrm>
              <a:off x="9529495" y="2048006"/>
              <a:ext cx="1113230" cy="651040"/>
              <a:chOff x="9474262" y="1895811"/>
              <a:chExt cx="1113230" cy="651040"/>
            </a:xfrm>
          </p:grpSpPr>
          <p:sp>
            <p:nvSpPr>
              <p:cNvPr id="185" name="TextBox 184">
                <a:extLst>
                  <a:ext uri="{FF2B5EF4-FFF2-40B4-BE49-F238E27FC236}">
                    <a16:creationId xmlns:a16="http://schemas.microsoft.com/office/drawing/2014/main" id="{44D9D501-0A15-2FEA-1E7D-5E6C5EF2BF7A}"/>
                  </a:ext>
                </a:extLst>
              </p:cNvPr>
              <p:cNvSpPr txBox="1"/>
              <p:nvPr/>
            </p:nvSpPr>
            <p:spPr>
              <a:xfrm>
                <a:off x="9822964" y="1895811"/>
                <a:ext cx="385149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675" b="1" dirty="0">
                    <a:solidFill>
                      <a:srgbClr val="C00000"/>
                    </a:solidFill>
                  </a:rPr>
                  <a:t>BX</a:t>
                </a:r>
              </a:p>
            </p:txBody>
          </p:sp>
          <p:sp>
            <p:nvSpPr>
              <p:cNvPr id="206" name="TextBox 205">
                <a:extLst>
                  <a:ext uri="{FF2B5EF4-FFF2-40B4-BE49-F238E27FC236}">
                    <a16:creationId xmlns:a16="http://schemas.microsoft.com/office/drawing/2014/main" id="{F2BA05D1-0B27-A7EA-0396-4465DEC33139}"/>
                  </a:ext>
                </a:extLst>
              </p:cNvPr>
              <p:cNvSpPr txBox="1"/>
              <p:nvPr/>
            </p:nvSpPr>
            <p:spPr>
              <a:xfrm>
                <a:off x="9474262" y="2188073"/>
                <a:ext cx="1095842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675" dirty="0"/>
                  <a:t>w/o</a:t>
                </a:r>
              </a:p>
            </p:txBody>
          </p:sp>
          <p:sp>
            <p:nvSpPr>
              <p:cNvPr id="207" name="TextBox 206">
                <a:extLst>
                  <a:ext uri="{FF2B5EF4-FFF2-40B4-BE49-F238E27FC236}">
                    <a16:creationId xmlns:a16="http://schemas.microsoft.com/office/drawing/2014/main" id="{3275BEAD-6E45-5D3C-E3D8-F128E34DD599}"/>
                  </a:ext>
                </a:extLst>
              </p:cNvPr>
              <p:cNvSpPr txBox="1"/>
              <p:nvPr/>
            </p:nvSpPr>
            <p:spPr>
              <a:xfrm>
                <a:off x="9491650" y="2285241"/>
                <a:ext cx="1095842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675" dirty="0" err="1"/>
                  <a:t>irreversibilities</a:t>
                </a:r>
                <a:endParaRPr lang="en-US" sz="675" dirty="0"/>
              </a:p>
            </p:txBody>
          </p:sp>
        </p:grpSp>
        <p:sp>
          <p:nvSpPr>
            <p:cNvPr id="222" name="TextBox 221">
              <a:extLst>
                <a:ext uri="{FF2B5EF4-FFF2-40B4-BE49-F238E27FC236}">
                  <a16:creationId xmlns:a16="http://schemas.microsoft.com/office/drawing/2014/main" id="{3131E987-6A70-EFBC-FEA0-EC015FBEA030}"/>
                </a:ext>
              </a:extLst>
            </p:cNvPr>
            <p:cNvSpPr txBox="1"/>
            <p:nvPr/>
          </p:nvSpPr>
          <p:spPr>
            <a:xfrm>
              <a:off x="9701427" y="2150728"/>
              <a:ext cx="756124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675" dirty="0"/>
                <a:t>w/ </a:t>
              </a:r>
              <a:r>
                <a:rPr lang="en-US" sz="675" i="1" dirty="0" err="1"/>
                <a:t>m</a:t>
              </a:r>
              <a:r>
                <a:rPr lang="en-US" sz="675" dirty="0" err="1"/>
                <a:t>&amp;</a:t>
              </a:r>
              <a:r>
                <a:rPr lang="en-US" sz="675" i="1" dirty="0" err="1"/>
                <a:t>Q</a:t>
              </a:r>
              <a:endParaRPr lang="en-US" sz="675" i="1" dirty="0"/>
            </a:p>
          </p:txBody>
        </p:sp>
        <p:sp>
          <p:nvSpPr>
            <p:cNvPr id="223" name="TextBox 222">
              <a:extLst>
                <a:ext uri="{FF2B5EF4-FFF2-40B4-BE49-F238E27FC236}">
                  <a16:creationId xmlns:a16="http://schemas.microsoft.com/office/drawing/2014/main" id="{E9CD8D39-EA1D-5F8F-6991-EEE54F6727BC}"/>
                </a:ext>
              </a:extLst>
            </p:cNvPr>
            <p:cNvSpPr txBox="1"/>
            <p:nvPr/>
          </p:nvSpPr>
          <p:spPr>
            <a:xfrm>
              <a:off x="9749791" y="2251514"/>
              <a:ext cx="670238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675" dirty="0"/>
                <a:t>losses;</a:t>
              </a:r>
            </a:p>
          </p:txBody>
        </p:sp>
      </p:grpSp>
      <p:grpSp>
        <p:nvGrpSpPr>
          <p:cNvPr id="225" name="Group 224">
            <a:extLst>
              <a:ext uri="{FF2B5EF4-FFF2-40B4-BE49-F238E27FC236}">
                <a16:creationId xmlns:a16="http://schemas.microsoft.com/office/drawing/2014/main" id="{21A46740-0493-87EA-BBCE-913B0767DB99}"/>
              </a:ext>
            </a:extLst>
          </p:cNvPr>
          <p:cNvGrpSpPr/>
          <p:nvPr/>
        </p:nvGrpSpPr>
        <p:grpSpPr>
          <a:xfrm>
            <a:off x="8402291" y="1622363"/>
            <a:ext cx="834923" cy="488281"/>
            <a:chOff x="9529495" y="2048006"/>
            <a:chExt cx="1113230" cy="651040"/>
          </a:xfrm>
        </p:grpSpPr>
        <p:grpSp>
          <p:nvGrpSpPr>
            <p:cNvPr id="226" name="Group 225">
              <a:extLst>
                <a:ext uri="{FF2B5EF4-FFF2-40B4-BE49-F238E27FC236}">
                  <a16:creationId xmlns:a16="http://schemas.microsoft.com/office/drawing/2014/main" id="{C96E3613-7FBE-28FF-09C5-87C7FA6046D4}"/>
                </a:ext>
              </a:extLst>
            </p:cNvPr>
            <p:cNvGrpSpPr/>
            <p:nvPr/>
          </p:nvGrpSpPr>
          <p:grpSpPr>
            <a:xfrm>
              <a:off x="9529495" y="2048006"/>
              <a:ext cx="1113230" cy="651040"/>
              <a:chOff x="9474262" y="1895811"/>
              <a:chExt cx="1113230" cy="651040"/>
            </a:xfrm>
          </p:grpSpPr>
          <p:sp>
            <p:nvSpPr>
              <p:cNvPr id="229" name="TextBox 228">
                <a:extLst>
                  <a:ext uri="{FF2B5EF4-FFF2-40B4-BE49-F238E27FC236}">
                    <a16:creationId xmlns:a16="http://schemas.microsoft.com/office/drawing/2014/main" id="{311DD3A5-4FCA-911C-40D8-D538D70C5B4F}"/>
                  </a:ext>
                </a:extLst>
              </p:cNvPr>
              <p:cNvSpPr txBox="1"/>
              <p:nvPr/>
            </p:nvSpPr>
            <p:spPr>
              <a:xfrm>
                <a:off x="9822964" y="1895811"/>
                <a:ext cx="385149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675" b="1" dirty="0">
                    <a:solidFill>
                      <a:srgbClr val="C00000"/>
                    </a:solidFill>
                  </a:rPr>
                  <a:t>BX</a:t>
                </a:r>
              </a:p>
            </p:txBody>
          </p:sp>
          <p:sp>
            <p:nvSpPr>
              <p:cNvPr id="230" name="TextBox 229">
                <a:extLst>
                  <a:ext uri="{FF2B5EF4-FFF2-40B4-BE49-F238E27FC236}">
                    <a16:creationId xmlns:a16="http://schemas.microsoft.com/office/drawing/2014/main" id="{583D4629-D4FD-D812-DB50-1AF587615C59}"/>
                  </a:ext>
                </a:extLst>
              </p:cNvPr>
              <p:cNvSpPr txBox="1"/>
              <p:nvPr/>
            </p:nvSpPr>
            <p:spPr>
              <a:xfrm>
                <a:off x="9474262" y="2188073"/>
                <a:ext cx="1095842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675" dirty="0"/>
                  <a:t>w/</a:t>
                </a:r>
              </a:p>
            </p:txBody>
          </p:sp>
          <p:sp>
            <p:nvSpPr>
              <p:cNvPr id="231" name="TextBox 230">
                <a:extLst>
                  <a:ext uri="{FF2B5EF4-FFF2-40B4-BE49-F238E27FC236}">
                    <a16:creationId xmlns:a16="http://schemas.microsoft.com/office/drawing/2014/main" id="{9DF6326F-5F71-956B-7012-6687FB4D6715}"/>
                  </a:ext>
                </a:extLst>
              </p:cNvPr>
              <p:cNvSpPr txBox="1"/>
              <p:nvPr/>
            </p:nvSpPr>
            <p:spPr>
              <a:xfrm>
                <a:off x="9491650" y="2285241"/>
                <a:ext cx="1095842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675" dirty="0" err="1"/>
                  <a:t>irreversibilities</a:t>
                </a:r>
                <a:endParaRPr lang="en-US" sz="675" dirty="0"/>
              </a:p>
            </p:txBody>
          </p:sp>
        </p:grpSp>
        <p:sp>
          <p:nvSpPr>
            <p:cNvPr id="227" name="TextBox 226">
              <a:extLst>
                <a:ext uri="{FF2B5EF4-FFF2-40B4-BE49-F238E27FC236}">
                  <a16:creationId xmlns:a16="http://schemas.microsoft.com/office/drawing/2014/main" id="{2D673BF0-39A4-B7AB-032A-7EB37E5AF507}"/>
                </a:ext>
              </a:extLst>
            </p:cNvPr>
            <p:cNvSpPr txBox="1"/>
            <p:nvPr/>
          </p:nvSpPr>
          <p:spPr>
            <a:xfrm>
              <a:off x="9701427" y="2150728"/>
              <a:ext cx="756124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675" dirty="0"/>
                <a:t>w/ </a:t>
              </a:r>
              <a:r>
                <a:rPr lang="en-US" sz="675" i="1" dirty="0" err="1"/>
                <a:t>m</a:t>
              </a:r>
              <a:r>
                <a:rPr lang="en-US" sz="675" dirty="0" err="1"/>
                <a:t>&amp;</a:t>
              </a:r>
              <a:r>
                <a:rPr lang="en-US" sz="675" i="1" dirty="0" err="1"/>
                <a:t>Q</a:t>
              </a:r>
              <a:endParaRPr lang="en-US" sz="675" i="1" dirty="0"/>
            </a:p>
          </p:txBody>
        </p:sp>
        <p:sp>
          <p:nvSpPr>
            <p:cNvPr id="228" name="TextBox 227">
              <a:extLst>
                <a:ext uri="{FF2B5EF4-FFF2-40B4-BE49-F238E27FC236}">
                  <a16:creationId xmlns:a16="http://schemas.microsoft.com/office/drawing/2014/main" id="{780AFC3C-6133-2C3B-4CA7-892DB92F1F45}"/>
                </a:ext>
              </a:extLst>
            </p:cNvPr>
            <p:cNvSpPr txBox="1"/>
            <p:nvPr/>
          </p:nvSpPr>
          <p:spPr>
            <a:xfrm>
              <a:off x="9742171" y="2251514"/>
              <a:ext cx="670238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675" dirty="0"/>
                <a:t>losses;</a:t>
              </a:r>
            </a:p>
          </p:txBody>
        </p:sp>
      </p:grp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A8E747ED-BEB9-4271-AB70-0394E45A4CE6}"/>
              </a:ext>
            </a:extLst>
          </p:cNvPr>
          <p:cNvSpPr/>
          <p:nvPr/>
        </p:nvSpPr>
        <p:spPr>
          <a:xfrm>
            <a:off x="427630" y="98824"/>
            <a:ext cx="708925" cy="413133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50" dirty="0">
                <a:solidFill>
                  <a:schemeClr val="tx1"/>
                </a:solidFill>
              </a:rPr>
              <a:t>Endogenize </a:t>
            </a:r>
          </a:p>
          <a:p>
            <a:pPr algn="ctr"/>
            <a:r>
              <a:rPr lang="en-US" sz="750" dirty="0">
                <a:solidFill>
                  <a:schemeClr val="tx1"/>
                </a:solidFill>
              </a:rPr>
              <a:t>mass </a:t>
            </a:r>
          </a:p>
          <a:p>
            <a:pPr algn="ctr"/>
            <a:r>
              <a:rPr lang="en-US" sz="750" dirty="0">
                <a:solidFill>
                  <a:schemeClr val="tx1"/>
                </a:solidFill>
              </a:rPr>
              <a:t>losses</a:t>
            </a: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ED8A7BB7-DCF5-D8C5-8458-A0BAB293A5AC}"/>
              </a:ext>
            </a:extLst>
          </p:cNvPr>
          <p:cNvSpPr/>
          <p:nvPr/>
        </p:nvSpPr>
        <p:spPr>
          <a:xfrm>
            <a:off x="1611434" y="178056"/>
            <a:ext cx="613471" cy="861890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50" b="1" dirty="0">
                <a:solidFill>
                  <a:srgbClr val="C00000"/>
                </a:solidFill>
              </a:rPr>
              <a:t>M</a:t>
            </a:r>
            <a:r>
              <a:rPr lang="en-US" sz="750" dirty="0">
                <a:solidFill>
                  <a:schemeClr val="tx1"/>
                </a:solidFill>
              </a:rPr>
              <a:t>×</a:t>
            </a:r>
            <a:r>
              <a:rPr lang="en-US" sz="750" b="1" dirty="0">
                <a:solidFill>
                  <a:schemeClr val="accent6"/>
                </a:solidFill>
              </a:rPr>
              <a:t>H</a:t>
            </a:r>
            <a:r>
              <a:rPr lang="en-US" sz="750" dirty="0">
                <a:solidFill>
                  <a:schemeClr val="tx1"/>
                </a:solidFill>
              </a:rPr>
              <a:t>/</a:t>
            </a:r>
            <a:r>
              <a:rPr lang="en-US" sz="750" b="1" dirty="0">
                <a:solidFill>
                  <a:schemeClr val="accent6"/>
                </a:solidFill>
              </a:rPr>
              <a:t>MW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2BC4C16E-ADB3-A8C6-E11C-1E4B0C737D88}"/>
              </a:ext>
            </a:extLst>
          </p:cNvPr>
          <p:cNvSpPr/>
          <p:nvPr/>
        </p:nvSpPr>
        <p:spPr>
          <a:xfrm>
            <a:off x="3591661" y="467936"/>
            <a:ext cx="710588" cy="413133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50" dirty="0">
                <a:solidFill>
                  <a:schemeClr val="tx1"/>
                </a:solidFill>
              </a:rPr>
              <a:t>Calculate</a:t>
            </a:r>
          </a:p>
          <a:p>
            <a:pPr algn="ctr"/>
            <a:r>
              <a:rPr lang="en-US" sz="750" dirty="0">
                <a:solidFill>
                  <a:schemeClr val="tx1"/>
                </a:solidFill>
              </a:rPr>
              <a:t>waste heat</a:t>
            </a:r>
          </a:p>
          <a:p>
            <a:pPr algn="ctr"/>
            <a:r>
              <a:rPr lang="en-US" sz="450" dirty="0">
                <a:solidFill>
                  <a:schemeClr val="tx1"/>
                </a:solidFill>
              </a:rPr>
              <a:t>(endogenize losses)</a:t>
            </a:r>
          </a:p>
        </p:txBody>
      </p:sp>
      <p:sp>
        <p:nvSpPr>
          <p:cNvPr id="62" name="Rounded Rectangle 61">
            <a:extLst>
              <a:ext uri="{FF2B5EF4-FFF2-40B4-BE49-F238E27FC236}">
                <a16:creationId xmlns:a16="http://schemas.microsoft.com/office/drawing/2014/main" id="{09A7A1D6-FAE2-9235-6A03-BC2BC473951D}"/>
              </a:ext>
            </a:extLst>
          </p:cNvPr>
          <p:cNvSpPr/>
          <p:nvPr/>
        </p:nvSpPr>
        <p:spPr>
          <a:xfrm>
            <a:off x="3843239" y="2319116"/>
            <a:ext cx="730790" cy="413133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50" dirty="0">
                <a:solidFill>
                  <a:schemeClr val="tx1"/>
                </a:solidFill>
              </a:rPr>
              <a:t>Endogenize </a:t>
            </a:r>
          </a:p>
          <a:p>
            <a:pPr algn="ctr"/>
            <a:r>
              <a:rPr lang="en-US" sz="750" dirty="0">
                <a:solidFill>
                  <a:schemeClr val="tx1"/>
                </a:solidFill>
              </a:rPr>
              <a:t>energy </a:t>
            </a:r>
          </a:p>
          <a:p>
            <a:pPr algn="ctr"/>
            <a:r>
              <a:rPr lang="en-US" sz="750" dirty="0">
                <a:solidFill>
                  <a:schemeClr val="tx1"/>
                </a:solidFill>
              </a:rPr>
              <a:t>losses</a:t>
            </a:r>
          </a:p>
        </p:txBody>
      </p:sp>
      <p:sp>
        <p:nvSpPr>
          <p:cNvPr id="116" name="Rounded Rectangle 115">
            <a:extLst>
              <a:ext uri="{FF2B5EF4-FFF2-40B4-BE49-F238E27FC236}">
                <a16:creationId xmlns:a16="http://schemas.microsoft.com/office/drawing/2014/main" id="{4231E80D-B1B7-CD01-B612-FF79F86EA8CB}"/>
              </a:ext>
            </a:extLst>
          </p:cNvPr>
          <p:cNvSpPr/>
          <p:nvPr/>
        </p:nvSpPr>
        <p:spPr>
          <a:xfrm>
            <a:off x="5022482" y="2051874"/>
            <a:ext cx="534133" cy="9492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50" dirty="0">
                <a:solidFill>
                  <a:schemeClr val="tx1"/>
                </a:solidFill>
              </a:rPr>
              <a:t>Convert to exergy</a:t>
            </a:r>
          </a:p>
        </p:txBody>
      </p:sp>
      <p:sp>
        <p:nvSpPr>
          <p:cNvPr id="173" name="Rounded Rectangle 172">
            <a:extLst>
              <a:ext uri="{FF2B5EF4-FFF2-40B4-BE49-F238E27FC236}">
                <a16:creationId xmlns:a16="http://schemas.microsoft.com/office/drawing/2014/main" id="{F05E49C8-7F97-96B9-A9FA-0ACB5FF445AB}"/>
              </a:ext>
            </a:extLst>
          </p:cNvPr>
          <p:cNvSpPr/>
          <p:nvPr/>
        </p:nvSpPr>
        <p:spPr>
          <a:xfrm>
            <a:off x="6716115" y="644979"/>
            <a:ext cx="613471" cy="1989892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50" b="1" dirty="0">
                <a:solidFill>
                  <a:srgbClr val="C00000"/>
                </a:solidFill>
              </a:rPr>
              <a:t>B</a:t>
            </a:r>
            <a:r>
              <a:rPr lang="en-US" sz="750" dirty="0">
                <a:solidFill>
                  <a:schemeClr val="tx1"/>
                </a:solidFill>
              </a:rPr>
              <a:t>+</a:t>
            </a:r>
            <a:r>
              <a:rPr lang="en-US" sz="750" b="1" dirty="0">
                <a:solidFill>
                  <a:srgbClr val="C00000"/>
                </a:solidFill>
              </a:rPr>
              <a:t>X</a:t>
            </a:r>
            <a:endParaRPr lang="en-US" sz="750" baseline="-25000" dirty="0">
              <a:solidFill>
                <a:schemeClr val="accent6"/>
              </a:solidFill>
            </a:endParaRPr>
          </a:p>
        </p:txBody>
      </p:sp>
      <p:sp>
        <p:nvSpPr>
          <p:cNvPr id="179" name="Rounded Rectangle 178">
            <a:extLst>
              <a:ext uri="{FF2B5EF4-FFF2-40B4-BE49-F238E27FC236}">
                <a16:creationId xmlns:a16="http://schemas.microsoft.com/office/drawing/2014/main" id="{09695F77-B81F-CE6B-BA1C-032F5F19BBC2}"/>
              </a:ext>
            </a:extLst>
          </p:cNvPr>
          <p:cNvSpPr/>
          <p:nvPr/>
        </p:nvSpPr>
        <p:spPr>
          <a:xfrm>
            <a:off x="7909051" y="1433032"/>
            <a:ext cx="702686" cy="413133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50" dirty="0">
                <a:solidFill>
                  <a:schemeClr val="tx1"/>
                </a:solidFill>
              </a:rPr>
              <a:t>Endogenize </a:t>
            </a:r>
          </a:p>
          <a:p>
            <a:pPr algn="ctr"/>
            <a:r>
              <a:rPr lang="en-US" sz="750" dirty="0">
                <a:solidFill>
                  <a:schemeClr val="tx1"/>
                </a:solidFill>
              </a:rPr>
              <a:t>exergy </a:t>
            </a:r>
          </a:p>
          <a:p>
            <a:pPr algn="ctr"/>
            <a:r>
              <a:rPr lang="en-US" sz="750" dirty="0">
                <a:solidFill>
                  <a:schemeClr val="tx1"/>
                </a:solidFill>
              </a:rPr>
              <a:t>imbalance</a:t>
            </a:r>
          </a:p>
        </p:txBody>
      </p:sp>
      <p:cxnSp>
        <p:nvCxnSpPr>
          <p:cNvPr id="259" name="Straight Connector 258">
            <a:extLst>
              <a:ext uri="{FF2B5EF4-FFF2-40B4-BE49-F238E27FC236}">
                <a16:creationId xmlns:a16="http://schemas.microsoft.com/office/drawing/2014/main" id="{C0EB31B5-B36B-8BC7-1F1C-40F108799B7E}"/>
              </a:ext>
            </a:extLst>
          </p:cNvPr>
          <p:cNvCxnSpPr>
            <a:cxnSpLocks/>
          </p:cNvCxnSpPr>
          <p:nvPr/>
        </p:nvCxnSpPr>
        <p:spPr>
          <a:xfrm flipH="1">
            <a:off x="3194724" y="1838027"/>
            <a:ext cx="2531683" cy="0"/>
          </a:xfrm>
          <a:prstGeom prst="line">
            <a:avLst/>
          </a:prstGeom>
          <a:ln w="6350">
            <a:solidFill>
              <a:schemeClr val="bg1">
                <a:lumMod val="50000"/>
              </a:schemeClr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0" name="TextBox 259">
            <a:extLst>
              <a:ext uri="{FF2B5EF4-FFF2-40B4-BE49-F238E27FC236}">
                <a16:creationId xmlns:a16="http://schemas.microsoft.com/office/drawing/2014/main" id="{8780A8F4-F1C6-FD32-7516-AD5514CCCA5A}"/>
              </a:ext>
            </a:extLst>
          </p:cNvPr>
          <p:cNvSpPr txBox="1"/>
          <p:nvPr/>
        </p:nvSpPr>
        <p:spPr>
          <a:xfrm>
            <a:off x="3378599" y="1634276"/>
            <a:ext cx="2076209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dirty="0">
                <a:solidFill>
                  <a:schemeClr val="bg1">
                    <a:lumMod val="50000"/>
                  </a:schemeClr>
                </a:solidFill>
              </a:rPr>
              <a:t>Material conversion chain (MCC)</a:t>
            </a: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D7DE80B8-F166-8659-C038-5207DC8A9297}"/>
              </a:ext>
            </a:extLst>
          </p:cNvPr>
          <p:cNvSpPr txBox="1"/>
          <p:nvPr/>
        </p:nvSpPr>
        <p:spPr>
          <a:xfrm>
            <a:off x="3383568" y="1808210"/>
            <a:ext cx="196079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dirty="0">
                <a:solidFill>
                  <a:schemeClr val="bg1">
                    <a:lumMod val="50000"/>
                  </a:schemeClr>
                </a:solidFill>
              </a:rPr>
              <a:t>Energy conversion chain (ECC)</a:t>
            </a:r>
          </a:p>
        </p:txBody>
      </p:sp>
      <p:cxnSp>
        <p:nvCxnSpPr>
          <p:cNvPr id="265" name="Straight Arrow Connector 264">
            <a:extLst>
              <a:ext uri="{FF2B5EF4-FFF2-40B4-BE49-F238E27FC236}">
                <a16:creationId xmlns:a16="http://schemas.microsoft.com/office/drawing/2014/main" id="{342A3DAB-B230-5228-53A9-BE3A1235FCD6}"/>
              </a:ext>
            </a:extLst>
          </p:cNvPr>
          <p:cNvCxnSpPr>
            <a:cxnSpLocks/>
          </p:cNvCxnSpPr>
          <p:nvPr/>
        </p:nvCxnSpPr>
        <p:spPr>
          <a:xfrm flipV="1">
            <a:off x="3415490" y="1661711"/>
            <a:ext cx="0" cy="155371"/>
          </a:xfrm>
          <a:prstGeom prst="straightConnector1">
            <a:avLst/>
          </a:prstGeom>
          <a:ln w="635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Straight Arrow Connector 267">
            <a:extLst>
              <a:ext uri="{FF2B5EF4-FFF2-40B4-BE49-F238E27FC236}">
                <a16:creationId xmlns:a16="http://schemas.microsoft.com/office/drawing/2014/main" id="{53625D90-958B-5CC4-A83E-9AB18511185A}"/>
              </a:ext>
            </a:extLst>
          </p:cNvPr>
          <p:cNvCxnSpPr>
            <a:cxnSpLocks/>
          </p:cNvCxnSpPr>
          <p:nvPr/>
        </p:nvCxnSpPr>
        <p:spPr>
          <a:xfrm>
            <a:off x="3415490" y="1860492"/>
            <a:ext cx="0" cy="155371"/>
          </a:xfrm>
          <a:prstGeom prst="straightConnector1">
            <a:avLst/>
          </a:prstGeom>
          <a:ln w="635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0" name="TextBox 269">
            <a:extLst>
              <a:ext uri="{FF2B5EF4-FFF2-40B4-BE49-F238E27FC236}">
                <a16:creationId xmlns:a16="http://schemas.microsoft.com/office/drawing/2014/main" id="{2E9F2017-AAF2-EFD4-DDCB-C96F729A326E}"/>
              </a:ext>
            </a:extLst>
          </p:cNvPr>
          <p:cNvSpPr txBox="1"/>
          <p:nvPr/>
        </p:nvSpPr>
        <p:spPr>
          <a:xfrm>
            <a:off x="7333561" y="2075587"/>
            <a:ext cx="1802096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50" dirty="0">
                <a:solidFill>
                  <a:schemeClr val="bg1">
                    <a:lumMod val="50000"/>
                  </a:schemeClr>
                </a:solidFill>
              </a:rPr>
              <a:t>Unified material and energy </a:t>
            </a:r>
          </a:p>
          <a:p>
            <a:pPr algn="ctr"/>
            <a:r>
              <a:rPr lang="en-US" sz="1050" dirty="0">
                <a:solidFill>
                  <a:schemeClr val="bg1">
                    <a:lumMod val="50000"/>
                  </a:schemeClr>
                </a:solidFill>
              </a:rPr>
              <a:t>conversion chain (BXCC)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9F9920D-BAF9-7ED3-F71D-1B70095E795C}"/>
              </a:ext>
            </a:extLst>
          </p:cNvPr>
          <p:cNvSpPr txBox="1"/>
          <p:nvPr/>
        </p:nvSpPr>
        <p:spPr>
          <a:xfrm>
            <a:off x="4402516" y="2288220"/>
            <a:ext cx="231154" cy="1962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75" i="1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17923B8-3C51-804F-561C-3BB1B3A232F5}"/>
              </a:ext>
            </a:extLst>
          </p:cNvPr>
          <p:cNvSpPr txBox="1"/>
          <p:nvPr/>
        </p:nvSpPr>
        <p:spPr>
          <a:xfrm>
            <a:off x="5379933" y="2029834"/>
            <a:ext cx="231154" cy="1962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75" i="1" dirty="0"/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8FEE21E5-F04C-A2B4-AE7D-E72AA95C8F32}"/>
              </a:ext>
            </a:extLst>
          </p:cNvPr>
          <p:cNvSpPr txBox="1"/>
          <p:nvPr/>
        </p:nvSpPr>
        <p:spPr>
          <a:xfrm>
            <a:off x="974161" y="65072"/>
            <a:ext cx="231154" cy="1962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75" i="1" dirty="0"/>
              <a:t>3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6BDA495-2920-C871-DAB3-054110ED3E21}"/>
              </a:ext>
            </a:extLst>
          </p:cNvPr>
          <p:cNvSpPr txBox="1"/>
          <p:nvPr/>
        </p:nvSpPr>
        <p:spPr>
          <a:xfrm>
            <a:off x="2051314" y="164258"/>
            <a:ext cx="231154" cy="1962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75" i="1" dirty="0"/>
              <a:t>4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C15D49BE-8200-C7AF-3AFF-3B453810D46A}"/>
              </a:ext>
            </a:extLst>
          </p:cNvPr>
          <p:cNvSpPr txBox="1"/>
          <p:nvPr/>
        </p:nvSpPr>
        <p:spPr>
          <a:xfrm>
            <a:off x="4137455" y="437055"/>
            <a:ext cx="231154" cy="1962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75" i="1" dirty="0"/>
              <a:t>6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006D8B14-ABA0-9E96-33FD-8623F4451D2E}"/>
              </a:ext>
            </a:extLst>
          </p:cNvPr>
          <p:cNvSpPr txBox="1"/>
          <p:nvPr/>
        </p:nvSpPr>
        <p:spPr>
          <a:xfrm>
            <a:off x="8406565" y="1402798"/>
            <a:ext cx="268022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" i="1" dirty="0"/>
              <a:t>12</a:t>
            </a: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0B6633B8-496C-6C24-92F8-24CCF80B5795}"/>
              </a:ext>
            </a:extLst>
          </p:cNvPr>
          <p:cNvSpPr txBox="1"/>
          <p:nvPr/>
        </p:nvSpPr>
        <p:spPr>
          <a:xfrm>
            <a:off x="7079774" y="637606"/>
            <a:ext cx="277640" cy="1962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75" i="1" dirty="0"/>
              <a:t>11</a:t>
            </a:r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7EC2EFF6-035D-EF22-46C2-ADB0D8023E67}"/>
              </a:ext>
            </a:extLst>
          </p:cNvPr>
          <p:cNvSpPr/>
          <p:nvPr/>
        </p:nvSpPr>
        <p:spPr>
          <a:xfrm>
            <a:off x="2755083" y="159547"/>
            <a:ext cx="664393" cy="130016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50" b="1" dirty="0">
                <a:solidFill>
                  <a:srgbClr val="C00000"/>
                </a:solidFill>
              </a:rPr>
              <a:t>E</a:t>
            </a:r>
            <a:r>
              <a:rPr lang="en-US" sz="750" dirty="0">
                <a:solidFill>
                  <a:schemeClr val="tx1"/>
                </a:solidFill>
              </a:rPr>
              <a:t> + </a:t>
            </a:r>
            <a:r>
              <a:rPr lang="en-US" sz="750" b="1" dirty="0" err="1">
                <a:solidFill>
                  <a:srgbClr val="C00000"/>
                </a:solidFill>
              </a:rPr>
              <a:t>E</a:t>
            </a:r>
            <a:r>
              <a:rPr lang="en-US" sz="750" baseline="-25000" dirty="0" err="1">
                <a:solidFill>
                  <a:srgbClr val="C00000"/>
                </a:solidFill>
              </a:rPr>
              <a:t>massless</a:t>
            </a:r>
            <a:endParaRPr lang="en-US" sz="750" baseline="-25000" dirty="0">
              <a:solidFill>
                <a:srgbClr val="C00000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111EC54-612F-0F08-F0BF-123031CE3A52}"/>
              </a:ext>
            </a:extLst>
          </p:cNvPr>
          <p:cNvSpPr txBox="1"/>
          <p:nvPr/>
        </p:nvSpPr>
        <p:spPr>
          <a:xfrm>
            <a:off x="1469409" y="1959562"/>
            <a:ext cx="628759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75" b="1" dirty="0" err="1">
                <a:solidFill>
                  <a:srgbClr val="C00000"/>
                </a:solidFill>
              </a:rPr>
              <a:t>E</a:t>
            </a:r>
            <a:r>
              <a:rPr lang="en-US" sz="675" baseline="-25000" dirty="0" err="1">
                <a:solidFill>
                  <a:srgbClr val="C00000"/>
                </a:solidFill>
              </a:rPr>
              <a:t>massless</a:t>
            </a:r>
            <a:endParaRPr lang="en-US" sz="675" baseline="-25000" dirty="0">
              <a:solidFill>
                <a:srgbClr val="C00000"/>
              </a:solidFill>
            </a:endParaRPr>
          </a:p>
          <a:p>
            <a:pPr algn="ctr"/>
            <a:r>
              <a:rPr lang="en-US" sz="675" dirty="0"/>
              <a:t>(electricity)</a:t>
            </a:r>
          </a:p>
        </p:txBody>
      </p:sp>
      <p:cxnSp>
        <p:nvCxnSpPr>
          <p:cNvPr id="44" name="Elbow Connector 43">
            <a:extLst>
              <a:ext uri="{FF2B5EF4-FFF2-40B4-BE49-F238E27FC236}">
                <a16:creationId xmlns:a16="http://schemas.microsoft.com/office/drawing/2014/main" id="{B2670B38-16A3-1C92-6A92-53287799BD4D}"/>
              </a:ext>
            </a:extLst>
          </p:cNvPr>
          <p:cNvCxnSpPr>
            <a:cxnSpLocks/>
          </p:cNvCxnSpPr>
          <p:nvPr/>
        </p:nvCxnSpPr>
        <p:spPr>
          <a:xfrm flipV="1">
            <a:off x="1962437" y="1312069"/>
            <a:ext cx="785526" cy="733606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B3AB2EF8-92F9-7944-8A49-3AA70E000767}"/>
              </a:ext>
            </a:extLst>
          </p:cNvPr>
          <p:cNvSpPr txBox="1"/>
          <p:nvPr/>
        </p:nvSpPr>
        <p:spPr>
          <a:xfrm>
            <a:off x="3250824" y="154733"/>
            <a:ext cx="231154" cy="1962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75" i="1" dirty="0"/>
              <a:t>5</a:t>
            </a:r>
          </a:p>
        </p:txBody>
      </p: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19049AA9-0BB9-807E-EF76-9D50C04496A3}"/>
              </a:ext>
            </a:extLst>
          </p:cNvPr>
          <p:cNvCxnSpPr>
            <a:cxnSpLocks/>
            <a:endCxn id="39" idx="1"/>
          </p:cNvCxnSpPr>
          <p:nvPr/>
        </p:nvCxnSpPr>
        <p:spPr>
          <a:xfrm>
            <a:off x="3419475" y="673896"/>
            <a:ext cx="172186" cy="607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C744EA2F-5E24-1095-FEB0-6D25BB555BE8}"/>
              </a:ext>
            </a:extLst>
          </p:cNvPr>
          <p:cNvCxnSpPr>
            <a:cxnSpLocks/>
            <a:stCxn id="39" idx="3"/>
          </p:cNvCxnSpPr>
          <p:nvPr/>
        </p:nvCxnSpPr>
        <p:spPr>
          <a:xfrm>
            <a:off x="4302249" y="674502"/>
            <a:ext cx="23641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ounded Rectangle 89">
            <a:extLst>
              <a:ext uri="{FF2B5EF4-FFF2-40B4-BE49-F238E27FC236}">
                <a16:creationId xmlns:a16="http://schemas.microsoft.com/office/drawing/2014/main" id="{3510FB58-05A4-0E9B-BA3C-0A4A0A1999DE}"/>
              </a:ext>
            </a:extLst>
          </p:cNvPr>
          <p:cNvSpPr/>
          <p:nvPr/>
        </p:nvSpPr>
        <p:spPr>
          <a:xfrm>
            <a:off x="4544161" y="36929"/>
            <a:ext cx="554096" cy="413133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50" dirty="0">
                <a:solidFill>
                  <a:schemeClr val="tx1"/>
                </a:solidFill>
              </a:rPr>
              <a:t>Convert to exergy</a:t>
            </a:r>
            <a:endParaRPr lang="en-US" sz="450" dirty="0">
              <a:solidFill>
                <a:schemeClr val="tx1"/>
              </a:solidFill>
            </a:endParaRPr>
          </a:p>
        </p:txBody>
      </p: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DE303CE6-8B9F-F2CC-174C-AFFD846C3943}"/>
              </a:ext>
            </a:extLst>
          </p:cNvPr>
          <p:cNvCxnSpPr>
            <a:cxnSpLocks/>
          </p:cNvCxnSpPr>
          <p:nvPr/>
        </p:nvCxnSpPr>
        <p:spPr>
          <a:xfrm flipV="1">
            <a:off x="1441355" y="52388"/>
            <a:ext cx="0" cy="250834"/>
          </a:xfrm>
          <a:prstGeom prst="straightConnector1">
            <a:avLst/>
          </a:prstGeom>
          <a:ln>
            <a:solidFill>
              <a:srgbClr val="C00000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1201D79D-5091-4045-C298-98E6076C8F6B}"/>
              </a:ext>
            </a:extLst>
          </p:cNvPr>
          <p:cNvCxnSpPr>
            <a:cxnSpLocks/>
          </p:cNvCxnSpPr>
          <p:nvPr/>
        </p:nvCxnSpPr>
        <p:spPr>
          <a:xfrm>
            <a:off x="1443038" y="57150"/>
            <a:ext cx="2878931" cy="0"/>
          </a:xfrm>
          <a:prstGeom prst="straightConnector1">
            <a:avLst/>
          </a:prstGeom>
          <a:ln>
            <a:solidFill>
              <a:srgbClr val="C00000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Elbow Connector 109">
            <a:extLst>
              <a:ext uri="{FF2B5EF4-FFF2-40B4-BE49-F238E27FC236}">
                <a16:creationId xmlns:a16="http://schemas.microsoft.com/office/drawing/2014/main" id="{374BF507-93EE-2FE9-B859-224647A296C6}"/>
              </a:ext>
            </a:extLst>
          </p:cNvPr>
          <p:cNvCxnSpPr>
            <a:cxnSpLocks/>
          </p:cNvCxnSpPr>
          <p:nvPr/>
        </p:nvCxnSpPr>
        <p:spPr>
          <a:xfrm>
            <a:off x="4317206" y="57149"/>
            <a:ext cx="219076" cy="145258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Rounded Rectangle 121">
            <a:extLst>
              <a:ext uri="{FF2B5EF4-FFF2-40B4-BE49-F238E27FC236}">
                <a16:creationId xmlns:a16="http://schemas.microsoft.com/office/drawing/2014/main" id="{675FF90C-364D-855E-EC71-11145006A4B7}"/>
              </a:ext>
            </a:extLst>
          </p:cNvPr>
          <p:cNvSpPr/>
          <p:nvPr/>
        </p:nvSpPr>
        <p:spPr>
          <a:xfrm>
            <a:off x="4541780" y="553661"/>
            <a:ext cx="554096" cy="413133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50" dirty="0">
                <a:solidFill>
                  <a:schemeClr val="tx1"/>
                </a:solidFill>
              </a:rPr>
              <a:t>Convert to exergy</a:t>
            </a:r>
            <a:endParaRPr lang="en-US" sz="450" dirty="0">
              <a:solidFill>
                <a:schemeClr val="tx1"/>
              </a:solidFill>
            </a:endParaRPr>
          </a:p>
        </p:txBody>
      </p:sp>
      <p:sp>
        <p:nvSpPr>
          <p:cNvPr id="127" name="Rounded Rectangle 126">
            <a:extLst>
              <a:ext uri="{FF2B5EF4-FFF2-40B4-BE49-F238E27FC236}">
                <a16:creationId xmlns:a16="http://schemas.microsoft.com/office/drawing/2014/main" id="{D634E914-8CD5-B659-36B2-346774E9D7B1}"/>
              </a:ext>
            </a:extLst>
          </p:cNvPr>
          <p:cNvSpPr/>
          <p:nvPr/>
        </p:nvSpPr>
        <p:spPr>
          <a:xfrm>
            <a:off x="4541780" y="1028700"/>
            <a:ext cx="554096" cy="413133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50" dirty="0">
                <a:solidFill>
                  <a:schemeClr val="tx1"/>
                </a:solidFill>
              </a:rPr>
              <a:t>Convert to exergy</a:t>
            </a:r>
            <a:endParaRPr lang="en-US" sz="450" dirty="0">
              <a:solidFill>
                <a:schemeClr val="tx1"/>
              </a:solidFill>
            </a:endParaRPr>
          </a:p>
        </p:txBody>
      </p:sp>
      <p:cxnSp>
        <p:nvCxnSpPr>
          <p:cNvPr id="132" name="Elbow Connector 131">
            <a:extLst>
              <a:ext uri="{FF2B5EF4-FFF2-40B4-BE49-F238E27FC236}">
                <a16:creationId xmlns:a16="http://schemas.microsoft.com/office/drawing/2014/main" id="{F841BA20-4DD1-5C64-CBB4-D5640E8E1D8A}"/>
              </a:ext>
            </a:extLst>
          </p:cNvPr>
          <p:cNvCxnSpPr>
            <a:cxnSpLocks/>
          </p:cNvCxnSpPr>
          <p:nvPr/>
        </p:nvCxnSpPr>
        <p:spPr>
          <a:xfrm flipV="1">
            <a:off x="2352675" y="1495425"/>
            <a:ext cx="988219" cy="550069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Elbow Connector 136">
            <a:extLst>
              <a:ext uri="{FF2B5EF4-FFF2-40B4-BE49-F238E27FC236}">
                <a16:creationId xmlns:a16="http://schemas.microsoft.com/office/drawing/2014/main" id="{22B4A7DE-4BE6-BCDF-7C20-361B351E8776}"/>
              </a:ext>
            </a:extLst>
          </p:cNvPr>
          <p:cNvCxnSpPr>
            <a:cxnSpLocks/>
          </p:cNvCxnSpPr>
          <p:nvPr/>
        </p:nvCxnSpPr>
        <p:spPr>
          <a:xfrm flipV="1">
            <a:off x="3340894" y="1362075"/>
            <a:ext cx="1193006" cy="133350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502E37F0-F95D-D182-80FF-5E3C78D5C485}"/>
              </a:ext>
            </a:extLst>
          </p:cNvPr>
          <p:cNvGrpSpPr/>
          <p:nvPr/>
        </p:nvGrpSpPr>
        <p:grpSpPr>
          <a:xfrm>
            <a:off x="4085432" y="1142998"/>
            <a:ext cx="452364" cy="196208"/>
            <a:chOff x="3864936" y="1593639"/>
            <a:chExt cx="603152" cy="261611"/>
          </a:xfrm>
        </p:grpSpPr>
        <p:cxnSp>
          <p:nvCxnSpPr>
            <p:cNvPr id="142" name="Straight Arrow Connector 141">
              <a:extLst>
                <a:ext uri="{FF2B5EF4-FFF2-40B4-BE49-F238E27FC236}">
                  <a16:creationId xmlns:a16="http://schemas.microsoft.com/office/drawing/2014/main" id="{2EB90D22-9805-A418-CFAE-719C2DBB644F}"/>
                </a:ext>
              </a:extLst>
            </p:cNvPr>
            <p:cNvCxnSpPr>
              <a:cxnSpLocks/>
            </p:cNvCxnSpPr>
            <p:nvPr/>
          </p:nvCxnSpPr>
          <p:spPr>
            <a:xfrm>
              <a:off x="3864936" y="1651071"/>
              <a:ext cx="603152" cy="0"/>
            </a:xfrm>
            <a:prstGeom prst="straightConnector1">
              <a:avLst/>
            </a:prstGeom>
            <a:ln>
              <a:solidFill>
                <a:schemeClr val="accent5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EC1B3AF9-068E-69E2-EEC8-2039B6B6937B}"/>
                </a:ext>
              </a:extLst>
            </p:cNvPr>
            <p:cNvSpPr txBox="1"/>
            <p:nvPr/>
          </p:nvSpPr>
          <p:spPr>
            <a:xfrm>
              <a:off x="3926493" y="1593639"/>
              <a:ext cx="472780" cy="26161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75" b="1" dirty="0" err="1">
                  <a:solidFill>
                    <a:schemeClr val="accent5"/>
                  </a:solidFill>
                  <a:latin typeface="Symbol" pitchFamily="2" charset="2"/>
                </a:rPr>
                <a:t>f</a:t>
              </a:r>
              <a:r>
                <a:rPr lang="en-US" sz="675" baseline="-25000" dirty="0" err="1">
                  <a:solidFill>
                    <a:schemeClr val="accent5"/>
                  </a:solidFill>
                  <a:latin typeface="Aptos" panose="020B0004020202020204" pitchFamily="34" charset="0"/>
                </a:rPr>
                <a:t>elect</a:t>
              </a:r>
              <a:endParaRPr lang="en-US" sz="675" b="1" dirty="0">
                <a:solidFill>
                  <a:schemeClr val="accent5"/>
                </a:solidFill>
                <a:latin typeface="Symbol" pitchFamily="2" charset="2"/>
              </a:endParaRPr>
            </a:p>
          </p:txBody>
        </p:sp>
      </p:grpSp>
      <p:cxnSp>
        <p:nvCxnSpPr>
          <p:cNvPr id="144" name="Straight Arrow Connector 143">
            <a:extLst>
              <a:ext uri="{FF2B5EF4-FFF2-40B4-BE49-F238E27FC236}">
                <a16:creationId xmlns:a16="http://schemas.microsoft.com/office/drawing/2014/main" id="{8F22C655-F351-4E05-89A8-91296B8A12DE}"/>
              </a:ext>
            </a:extLst>
          </p:cNvPr>
          <p:cNvCxnSpPr>
            <a:cxnSpLocks/>
            <a:stCxn id="90" idx="3"/>
          </p:cNvCxnSpPr>
          <p:nvPr/>
        </p:nvCxnSpPr>
        <p:spPr>
          <a:xfrm>
            <a:off x="5098258" y="243496"/>
            <a:ext cx="29017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Straight Arrow Connector 146">
            <a:extLst>
              <a:ext uri="{FF2B5EF4-FFF2-40B4-BE49-F238E27FC236}">
                <a16:creationId xmlns:a16="http://schemas.microsoft.com/office/drawing/2014/main" id="{00DE2484-C997-AD28-8D52-6A143EFD34B8}"/>
              </a:ext>
            </a:extLst>
          </p:cNvPr>
          <p:cNvCxnSpPr>
            <a:cxnSpLocks/>
            <a:stCxn id="122" idx="3"/>
          </p:cNvCxnSpPr>
          <p:nvPr/>
        </p:nvCxnSpPr>
        <p:spPr>
          <a:xfrm>
            <a:off x="5095876" y="760227"/>
            <a:ext cx="28847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Straight Arrow Connector 157">
            <a:extLst>
              <a:ext uri="{FF2B5EF4-FFF2-40B4-BE49-F238E27FC236}">
                <a16:creationId xmlns:a16="http://schemas.microsoft.com/office/drawing/2014/main" id="{93FF3069-F1E9-4080-DA06-1DADE7A844D7}"/>
              </a:ext>
            </a:extLst>
          </p:cNvPr>
          <p:cNvCxnSpPr>
            <a:cxnSpLocks/>
            <a:stCxn id="127" idx="3"/>
          </p:cNvCxnSpPr>
          <p:nvPr/>
        </p:nvCxnSpPr>
        <p:spPr>
          <a:xfrm>
            <a:off x="5095876" y="1235267"/>
            <a:ext cx="292553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0" name="Rounded Rectangle 169">
            <a:extLst>
              <a:ext uri="{FF2B5EF4-FFF2-40B4-BE49-F238E27FC236}">
                <a16:creationId xmlns:a16="http://schemas.microsoft.com/office/drawing/2014/main" id="{ADC62CA8-75F0-4406-8384-EFB0A94DF445}"/>
              </a:ext>
            </a:extLst>
          </p:cNvPr>
          <p:cNvSpPr/>
          <p:nvPr/>
        </p:nvSpPr>
        <p:spPr>
          <a:xfrm>
            <a:off x="5389761" y="28574"/>
            <a:ext cx="1051982" cy="1481819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50" b="1" dirty="0" err="1">
                <a:solidFill>
                  <a:srgbClr val="C00000"/>
                </a:solidFill>
              </a:rPr>
              <a:t>B</a:t>
            </a:r>
            <a:r>
              <a:rPr lang="en-US" sz="750" b="1" baseline="-25000" dirty="0" err="1">
                <a:solidFill>
                  <a:srgbClr val="C00000"/>
                </a:solidFill>
              </a:rPr>
              <a:t>mass</a:t>
            </a:r>
            <a:r>
              <a:rPr lang="en-US" sz="750" dirty="0" err="1">
                <a:solidFill>
                  <a:schemeClr val="tx1"/>
                </a:solidFill>
              </a:rPr>
              <a:t>+</a:t>
            </a:r>
            <a:r>
              <a:rPr lang="en-US" sz="750" b="1" dirty="0" err="1">
                <a:solidFill>
                  <a:srgbClr val="C00000"/>
                </a:solidFill>
              </a:rPr>
              <a:t>B</a:t>
            </a:r>
            <a:r>
              <a:rPr lang="en-US" sz="750" b="1" baseline="-25000" dirty="0" err="1">
                <a:solidFill>
                  <a:srgbClr val="C00000"/>
                </a:solidFill>
              </a:rPr>
              <a:t>Qloss</a:t>
            </a:r>
            <a:r>
              <a:rPr lang="en-US" sz="750" b="1" dirty="0" err="1">
                <a:solidFill>
                  <a:schemeClr val="tx1"/>
                </a:solidFill>
              </a:rPr>
              <a:t>+</a:t>
            </a:r>
            <a:r>
              <a:rPr lang="en-US" sz="750" b="1" dirty="0" err="1">
                <a:solidFill>
                  <a:srgbClr val="C00000"/>
                </a:solidFill>
              </a:rPr>
              <a:t>B</a:t>
            </a:r>
            <a:r>
              <a:rPr lang="en-US" sz="750" b="1" baseline="-25000" dirty="0" err="1">
                <a:solidFill>
                  <a:srgbClr val="C00000"/>
                </a:solidFill>
              </a:rPr>
              <a:t>elect</a:t>
            </a:r>
            <a:endParaRPr lang="en-US" sz="750" baseline="-25000" dirty="0">
              <a:solidFill>
                <a:schemeClr val="accent6"/>
              </a:solidFill>
            </a:endParaRPr>
          </a:p>
        </p:txBody>
      </p:sp>
      <p:cxnSp>
        <p:nvCxnSpPr>
          <p:cNvPr id="188" name="Straight Arrow Connector 187">
            <a:extLst>
              <a:ext uri="{FF2B5EF4-FFF2-40B4-BE49-F238E27FC236}">
                <a16:creationId xmlns:a16="http://schemas.microsoft.com/office/drawing/2014/main" id="{CEDF4FD6-3401-DBF6-F076-61C326AC7484}"/>
              </a:ext>
            </a:extLst>
          </p:cNvPr>
          <p:cNvCxnSpPr>
            <a:cxnSpLocks/>
            <a:stCxn id="170" idx="3"/>
          </p:cNvCxnSpPr>
          <p:nvPr/>
        </p:nvCxnSpPr>
        <p:spPr>
          <a:xfrm>
            <a:off x="6441743" y="769484"/>
            <a:ext cx="268406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7" name="TextBox 196">
            <a:extLst>
              <a:ext uri="{FF2B5EF4-FFF2-40B4-BE49-F238E27FC236}">
                <a16:creationId xmlns:a16="http://schemas.microsoft.com/office/drawing/2014/main" id="{1D35B9C1-5368-317B-B025-6F9B1556ED9A}"/>
              </a:ext>
            </a:extLst>
          </p:cNvPr>
          <p:cNvSpPr txBox="1"/>
          <p:nvPr/>
        </p:nvSpPr>
        <p:spPr>
          <a:xfrm>
            <a:off x="6173538" y="34036"/>
            <a:ext cx="277640" cy="1962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75" i="1" dirty="0"/>
              <a:t>10</a:t>
            </a:r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D9D5090C-002A-2A15-FBB4-0F2739356BD4}"/>
              </a:ext>
            </a:extLst>
          </p:cNvPr>
          <p:cNvSpPr txBox="1"/>
          <p:nvPr/>
        </p:nvSpPr>
        <p:spPr>
          <a:xfrm>
            <a:off x="4923002" y="8165"/>
            <a:ext cx="231154" cy="1962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75" i="1" dirty="0"/>
              <a:t>7</a:t>
            </a:r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A61601C9-478B-25D1-DE06-EFEBA59935AE}"/>
              </a:ext>
            </a:extLst>
          </p:cNvPr>
          <p:cNvSpPr txBox="1"/>
          <p:nvPr/>
        </p:nvSpPr>
        <p:spPr>
          <a:xfrm>
            <a:off x="4923002" y="533383"/>
            <a:ext cx="231154" cy="1962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75" i="1" dirty="0"/>
              <a:t>8</a:t>
            </a:r>
          </a:p>
        </p:txBody>
      </p:sp>
      <p:sp>
        <p:nvSpPr>
          <p:cNvPr id="200" name="TextBox 199">
            <a:extLst>
              <a:ext uri="{FF2B5EF4-FFF2-40B4-BE49-F238E27FC236}">
                <a16:creationId xmlns:a16="http://schemas.microsoft.com/office/drawing/2014/main" id="{BF300C41-8D56-B81F-7FF0-EC04651EC644}"/>
              </a:ext>
            </a:extLst>
          </p:cNvPr>
          <p:cNvSpPr txBox="1"/>
          <p:nvPr/>
        </p:nvSpPr>
        <p:spPr>
          <a:xfrm>
            <a:off x="4937116" y="1012371"/>
            <a:ext cx="231154" cy="1962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75" i="1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40602692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649</TotalTime>
  <Words>688</Words>
  <Application>Microsoft Macintosh PowerPoint</Application>
  <PresentationFormat>On-screen Show (16:9)</PresentationFormat>
  <Paragraphs>229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Symbol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Matthew Heun</dc:creator>
  <cp:lastModifiedBy>Matthew Heun</cp:lastModifiedBy>
  <cp:revision>192</cp:revision>
  <cp:lastPrinted>2026-04-06T18:22:53Z</cp:lastPrinted>
  <dcterms:created xsi:type="dcterms:W3CDTF">2026-03-24T23:06:53Z</dcterms:created>
  <dcterms:modified xsi:type="dcterms:W3CDTF">2026-06-24T14:07:51Z</dcterms:modified>
</cp:coreProperties>
</file>