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>
        <p:scale>
          <a:sx n="80" d="100"/>
          <a:sy n="80" d="100"/>
        </p:scale>
        <p:origin x="688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6238E-2DC1-5EB0-8A2E-9C9E438F6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8A1E58-2C1F-4AFA-5051-E2B1466622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F72A1-B9D0-C386-FD35-8A0BA2836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9E9FF-E11F-51D3-74C9-C2402BEAC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A06BE-6E5E-1428-F570-03196784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815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EBFD0-A688-01E0-EF05-BC7E9EF7F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1BD9E-30FF-5F0A-CD7A-AC6BF227A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A9373-746F-FF09-5AB3-D1FABD310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E0C06-32A0-52EF-247F-FBBCAEDE6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41804-896F-4140-7A1E-B2549109B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486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E925-B48D-4AAB-6EBE-2CE85E229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C0C04-5AC8-CE71-4DB7-2613D9B61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D164A-FC06-5C3F-B6E0-4115FF18B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6C0DA-79EC-30A9-F42B-895C31FDC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91746-F382-0479-4B3B-94FD1FDE5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283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B2329-EF87-2AF1-0A37-00D5BC17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83A29-CA1F-3EBE-9EB0-CF0A86DA68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44A43B-088F-D2B0-8F15-FC0480CF3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6D2D54-8496-A6E4-E13D-E334FBBC3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98FF99-408A-9129-3A93-A7BA5629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96177-3451-5DF2-F439-81F2083DD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198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401B-D100-C936-EB6D-59B16CE29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7B566-701F-BD95-EF24-83882E2DB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C5AE7-0C69-7363-B3A2-084B5198A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90B059-6880-836E-4A17-C208931A0B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51DEFB-2814-F6A2-14AC-3960135191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2A4437-81CF-5F8B-6BAB-A88F616B3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A4E71F-637B-3B05-568C-666AF3639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3CE99B-71FD-157C-78A4-2C59E31DB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19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8F54B-C804-F7EE-90E9-F672ACE57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2D2E4E-535F-CEAF-EB92-7C5CD001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AF8755-5FE4-A778-6DE5-F1D9597C0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46F12-A1C2-5968-1C52-5801EC278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07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7CC130-2B07-4710-328C-FA6CB63C9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F0DFE0-7DB0-7995-7A4C-E30781BBF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CDF09-ED10-2022-8584-0E3D304EB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041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F4267-F5F1-2495-474E-42CBF9025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384B2-220E-2B56-94D8-82A7AA9D8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094E6-5F44-7DFE-1376-FCEBE556C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817D9-3209-4566-0455-6853193EC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D02082-1428-9E09-6F50-D60BA5B68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C2C27-53FE-91E4-1613-29B409D53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799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1493F-7D14-9CCA-E4F2-557829224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390027-CBE1-E2C7-2D03-F07C7C78C1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C08722-23CC-847D-B0E4-D24307AD2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673F-D8D7-5E02-12B1-C0A910494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5AD449-16BD-B58B-385D-B014FD4A0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AD5293-E096-491D-EF2F-3B510C4CD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460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4BA41-D7E1-21E0-CD19-A82006BB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CCAD6-AEC3-9EBD-6C08-7377DD7AE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77F315-601D-7284-24F6-B962424E5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81E41-030B-0D53-CA5E-14A8B5EEF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8F8AD-B441-7112-0666-AA248BBF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6735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E739BA-4E84-BA57-B13D-FD2A4537F4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1E989B-C3EB-741B-4105-B9B0E0041F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6AFCC-6AE4-4360-6198-67195808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DF51E-AFCC-8B8A-C895-BC707883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2E9001-8281-B1A5-46CE-00C9E6264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847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EE9A8F-0466-01AB-19CC-1D56F4407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CD3D79-93F3-69BC-FD9F-5569F1FE47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51D81-90E8-54FA-5866-E2FA386F2C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8C083C-7BCE-034A-BC88-A6671E86C8B9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5C1B7-2368-8D8D-8678-74EA65453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A26EE-5140-C3DC-064E-684C06B631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0729F-0FFE-A44B-9543-BC64356078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04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8917BCE-9E85-7AF6-5E16-ED23BEB9E85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3396858" y="812001"/>
            <a:ext cx="59883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8FE3165-2F59-C55E-352D-0FA32A9C1921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816120" y="1210589"/>
            <a:ext cx="76175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2367041-5763-6700-E30F-11E0DAFC464C}"/>
              </a:ext>
            </a:extLst>
          </p:cNvPr>
          <p:cNvSpPr/>
          <p:nvPr/>
        </p:nvSpPr>
        <p:spPr>
          <a:xfrm>
            <a:off x="947048" y="935167"/>
            <a:ext cx="869072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mass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E05761-49A9-1488-688E-EBD0DD821AB8}"/>
              </a:ext>
            </a:extLst>
          </p:cNvPr>
          <p:cNvCxnSpPr>
            <a:cxnSpLocks/>
          </p:cNvCxnSpPr>
          <p:nvPr/>
        </p:nvCxnSpPr>
        <p:spPr>
          <a:xfrm>
            <a:off x="1844347" y="798634"/>
            <a:ext cx="73353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D85E99-E763-65AE-B968-36325052D26D}"/>
              </a:ext>
            </a:extLst>
          </p:cNvPr>
          <p:cNvCxnSpPr>
            <a:cxnSpLocks/>
          </p:cNvCxnSpPr>
          <p:nvPr/>
        </p:nvCxnSpPr>
        <p:spPr>
          <a:xfrm>
            <a:off x="570052" y="4145761"/>
            <a:ext cx="733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B181627-3F97-26D8-3E75-BAA22377888B}"/>
              </a:ext>
            </a:extLst>
          </p:cNvPr>
          <p:cNvSpPr txBox="1"/>
          <p:nvPr/>
        </p:nvSpPr>
        <p:spPr>
          <a:xfrm>
            <a:off x="308921" y="4245420"/>
            <a:ext cx="744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accent6"/>
                </a:solidFill>
              </a:rPr>
              <a:t>H</a:t>
            </a:r>
          </a:p>
          <a:p>
            <a:pPr algn="ctr"/>
            <a:r>
              <a:rPr lang="en-US" sz="900" dirty="0"/>
              <a:t>with losses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798742-1220-07E5-FF64-73B1F94EA316}"/>
              </a:ext>
            </a:extLst>
          </p:cNvPr>
          <p:cNvCxnSpPr>
            <a:cxnSpLocks/>
          </p:cNvCxnSpPr>
          <p:nvPr/>
        </p:nvCxnSpPr>
        <p:spPr>
          <a:xfrm>
            <a:off x="202682" y="1221849"/>
            <a:ext cx="73353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FC3D8D9-0223-FB2E-887F-6B2510E6BDD6}"/>
              </a:ext>
            </a:extLst>
          </p:cNvPr>
          <p:cNvCxnSpPr>
            <a:cxnSpLocks/>
          </p:cNvCxnSpPr>
          <p:nvPr/>
        </p:nvCxnSpPr>
        <p:spPr>
          <a:xfrm>
            <a:off x="1844169" y="417939"/>
            <a:ext cx="73353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CED5AC2-D859-A649-A187-BA8057ED3C20}"/>
              </a:ext>
            </a:extLst>
          </p:cNvPr>
          <p:cNvGrpSpPr/>
          <p:nvPr/>
        </p:nvGrpSpPr>
        <p:grpSpPr>
          <a:xfrm>
            <a:off x="1784258" y="363682"/>
            <a:ext cx="780064" cy="327211"/>
            <a:chOff x="1844226" y="363682"/>
            <a:chExt cx="780064" cy="32721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106A284-D047-9A7E-573B-C7037D0867BB}"/>
                </a:ext>
              </a:extLst>
            </p:cNvPr>
            <p:cNvSpPr txBox="1"/>
            <p:nvPr/>
          </p:nvSpPr>
          <p:spPr>
            <a:xfrm>
              <a:off x="2046262" y="363682"/>
              <a:ext cx="38824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MW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4A2926A-EA13-AC97-6078-C06FA510704A}"/>
                </a:ext>
              </a:extLst>
            </p:cNvPr>
            <p:cNvSpPr txBox="1"/>
            <p:nvPr/>
          </p:nvSpPr>
          <p:spPr>
            <a:xfrm>
              <a:off x="1844226" y="460061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 losses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BF6B9FB-F151-6532-CC25-0BDB875634A6}"/>
              </a:ext>
            </a:extLst>
          </p:cNvPr>
          <p:cNvGrpSpPr/>
          <p:nvPr/>
        </p:nvGrpSpPr>
        <p:grpSpPr>
          <a:xfrm>
            <a:off x="1784258" y="744377"/>
            <a:ext cx="780064" cy="319119"/>
            <a:chOff x="1844226" y="744377"/>
            <a:chExt cx="780064" cy="3191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123D985-9BC1-D60A-B306-77E032C6D8C6}"/>
                </a:ext>
              </a:extLst>
            </p:cNvPr>
            <p:cNvSpPr txBox="1"/>
            <p:nvPr/>
          </p:nvSpPr>
          <p:spPr>
            <a:xfrm>
              <a:off x="2101049" y="744377"/>
              <a:ext cx="266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H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E99AFB-EB1B-729A-E33A-C80FB7F28C22}"/>
                </a:ext>
              </a:extLst>
            </p:cNvPr>
            <p:cNvSpPr txBox="1"/>
            <p:nvPr/>
          </p:nvSpPr>
          <p:spPr>
            <a:xfrm>
              <a:off x="1844226" y="832664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 losses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74E3CD2-0830-EEC2-453A-12231FA7FB6D}"/>
              </a:ext>
            </a:extLst>
          </p:cNvPr>
          <p:cNvGrpSpPr/>
          <p:nvPr/>
        </p:nvGrpSpPr>
        <p:grpSpPr>
          <a:xfrm>
            <a:off x="1747478" y="1157780"/>
            <a:ext cx="780064" cy="325116"/>
            <a:chOff x="1850576" y="1157780"/>
            <a:chExt cx="780064" cy="32511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E417D-A158-7C25-3B74-D2CD1C3637A3}"/>
                </a:ext>
              </a:extLst>
            </p:cNvPr>
            <p:cNvSpPr txBox="1"/>
            <p:nvPr/>
          </p:nvSpPr>
          <p:spPr>
            <a:xfrm>
              <a:off x="2100942" y="1157780"/>
              <a:ext cx="2792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687D4C9-0499-0445-EA1E-A7F521F678BC}"/>
                </a:ext>
              </a:extLst>
            </p:cNvPr>
            <p:cNvSpPr txBox="1"/>
            <p:nvPr/>
          </p:nvSpPr>
          <p:spPr>
            <a:xfrm>
              <a:off x="1850576" y="1252064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 losses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423DAA3-B9A6-5CCF-D0DE-239167ACE142}"/>
              </a:ext>
            </a:extLst>
          </p:cNvPr>
          <p:cNvGrpSpPr/>
          <p:nvPr/>
        </p:nvGrpSpPr>
        <p:grpSpPr>
          <a:xfrm>
            <a:off x="79745" y="1166121"/>
            <a:ext cx="947451" cy="313600"/>
            <a:chOff x="79745" y="1166121"/>
            <a:chExt cx="947451" cy="31360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476B909-2020-3BD0-056F-E2CD13EA06D1}"/>
                </a:ext>
              </a:extLst>
            </p:cNvPr>
            <p:cNvSpPr txBox="1"/>
            <p:nvPr/>
          </p:nvSpPr>
          <p:spPr>
            <a:xfrm>
              <a:off x="413864" y="1166121"/>
              <a:ext cx="27924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M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7F55E30-5751-C90D-4FAF-E797FCF231B5}"/>
                </a:ext>
              </a:extLst>
            </p:cNvPr>
            <p:cNvSpPr txBox="1"/>
            <p:nvPr/>
          </p:nvSpPr>
          <p:spPr>
            <a:xfrm>
              <a:off x="79745" y="1248889"/>
              <a:ext cx="947451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without losses</a:t>
              </a:r>
            </a:p>
          </p:txBody>
        </p:sp>
      </p:grp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BC81215-1DDB-28DE-4E64-5DC8E4D02410}"/>
              </a:ext>
            </a:extLst>
          </p:cNvPr>
          <p:cNvSpPr/>
          <p:nvPr/>
        </p:nvSpPr>
        <p:spPr>
          <a:xfrm>
            <a:off x="2578897" y="237408"/>
            <a:ext cx="817961" cy="114918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C00000"/>
                </a:solidFill>
              </a:rPr>
              <a:t>M</a:t>
            </a:r>
            <a:r>
              <a:rPr lang="en-US" sz="1000" dirty="0">
                <a:solidFill>
                  <a:schemeClr val="tx1"/>
                </a:solidFill>
              </a:rPr>
              <a:t>×</a:t>
            </a:r>
            <a:r>
              <a:rPr lang="en-US" sz="1000" b="1" dirty="0">
                <a:solidFill>
                  <a:schemeClr val="accent6"/>
                </a:solidFill>
              </a:rPr>
              <a:t>H</a:t>
            </a:r>
            <a:r>
              <a:rPr lang="en-US" sz="1000" dirty="0">
                <a:solidFill>
                  <a:schemeClr val="tx1"/>
                </a:solidFill>
              </a:rPr>
              <a:t>/</a:t>
            </a:r>
            <a:r>
              <a:rPr lang="en-US" sz="1000" b="1" dirty="0">
                <a:solidFill>
                  <a:schemeClr val="accent6"/>
                </a:solidFill>
              </a:rPr>
              <a:t>MW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CD4E78A-2E5F-319F-5D81-9EA1B040B5B2}"/>
              </a:ext>
            </a:extLst>
          </p:cNvPr>
          <p:cNvSpPr/>
          <p:nvPr/>
        </p:nvSpPr>
        <p:spPr>
          <a:xfrm>
            <a:off x="3995691" y="536579"/>
            <a:ext cx="947451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Endogenize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energy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losses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5463D27-1868-E7E1-3E48-72AD26E3AC4C}"/>
              </a:ext>
            </a:extLst>
          </p:cNvPr>
          <p:cNvCxnSpPr>
            <a:cxnSpLocks/>
            <a:stCxn id="39" idx="3"/>
            <a:endCxn id="66" idx="1"/>
          </p:cNvCxnSpPr>
          <p:nvPr/>
        </p:nvCxnSpPr>
        <p:spPr>
          <a:xfrm>
            <a:off x="4943142" y="812001"/>
            <a:ext cx="59883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6BF3725-3A1B-F162-7EB5-5406A0DDB627}"/>
              </a:ext>
            </a:extLst>
          </p:cNvPr>
          <p:cNvGrpSpPr/>
          <p:nvPr/>
        </p:nvGrpSpPr>
        <p:grpSpPr>
          <a:xfrm>
            <a:off x="3306242" y="757617"/>
            <a:ext cx="780064" cy="411407"/>
            <a:chOff x="3306242" y="757617"/>
            <a:chExt cx="780064" cy="41140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CC2D39-D873-C899-9579-7F292843F68C}"/>
                </a:ext>
              </a:extLst>
            </p:cNvPr>
            <p:cNvSpPr txBox="1"/>
            <p:nvPr/>
          </p:nvSpPr>
          <p:spPr>
            <a:xfrm>
              <a:off x="3559213" y="757617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09D8EA-E06D-BB0D-9FDA-161A1B06D7CB}"/>
                </a:ext>
              </a:extLst>
            </p:cNvPr>
            <p:cNvSpPr txBox="1"/>
            <p:nvPr/>
          </p:nvSpPr>
          <p:spPr>
            <a:xfrm>
              <a:off x="3306242" y="847656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without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31D1B16-E67D-1050-33AB-9DD0D08A53B7}"/>
                </a:ext>
              </a:extLst>
            </p:cNvPr>
            <p:cNvSpPr txBox="1"/>
            <p:nvPr/>
          </p:nvSpPr>
          <p:spPr>
            <a:xfrm>
              <a:off x="3306242" y="938192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Q losses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81F4AC-C378-C2B3-E43C-10260DEC3E10}"/>
              </a:ext>
            </a:extLst>
          </p:cNvPr>
          <p:cNvGrpSpPr/>
          <p:nvPr/>
        </p:nvGrpSpPr>
        <p:grpSpPr>
          <a:xfrm>
            <a:off x="4843900" y="762213"/>
            <a:ext cx="780064" cy="411407"/>
            <a:chOff x="3306242" y="757617"/>
            <a:chExt cx="780064" cy="41140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151ABAE-75AD-4E09-ACB5-094BDD7D35C5}"/>
                </a:ext>
              </a:extLst>
            </p:cNvPr>
            <p:cNvSpPr txBox="1"/>
            <p:nvPr/>
          </p:nvSpPr>
          <p:spPr>
            <a:xfrm>
              <a:off x="3559213" y="757617"/>
              <a:ext cx="25038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E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8105315-25D0-65B1-29FA-490D9007E289}"/>
                </a:ext>
              </a:extLst>
            </p:cNvPr>
            <p:cNvSpPr txBox="1"/>
            <p:nvPr/>
          </p:nvSpPr>
          <p:spPr>
            <a:xfrm>
              <a:off x="3306242" y="847656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D986FBF-3F72-FCCF-9339-A490281D029B}"/>
                </a:ext>
              </a:extLst>
            </p:cNvPr>
            <p:cNvSpPr txBox="1"/>
            <p:nvPr/>
          </p:nvSpPr>
          <p:spPr>
            <a:xfrm>
              <a:off x="3306242" y="938192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Q losses</a:t>
              </a:r>
            </a:p>
          </p:txBody>
        </p:sp>
      </p:grp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3B76D526-7F14-08E4-5DE1-D7E07A882D4A}"/>
              </a:ext>
            </a:extLst>
          </p:cNvPr>
          <p:cNvSpPr/>
          <p:nvPr/>
        </p:nvSpPr>
        <p:spPr>
          <a:xfrm>
            <a:off x="4776676" y="1322726"/>
            <a:ext cx="817961" cy="566472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</a:rPr>
              <a:t>M</a:t>
            </a:r>
            <a:r>
              <a:rPr lang="en-US" sz="1000" dirty="0" err="1">
                <a:solidFill>
                  <a:schemeClr val="tx1"/>
                </a:solidFill>
              </a:rPr>
              <a:t>×</a:t>
            </a:r>
            <a:r>
              <a:rPr lang="en-US" sz="1000" b="1" dirty="0" err="1">
                <a:solidFill>
                  <a:schemeClr val="accent6"/>
                </a:solidFill>
                <a:latin typeface="Symbol" pitchFamily="2" charset="2"/>
              </a:rPr>
              <a:t>f</a:t>
            </a:r>
            <a:endParaRPr lang="en-US" sz="1000" b="1" dirty="0">
              <a:solidFill>
                <a:schemeClr val="accent6"/>
              </a:solidFill>
              <a:latin typeface="Symbol" pitchFamily="2" charset="2"/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E242509-2615-DFB6-4E84-E245CFA97EF6}"/>
              </a:ext>
            </a:extLst>
          </p:cNvPr>
          <p:cNvCxnSpPr>
            <a:cxnSpLocks/>
          </p:cNvCxnSpPr>
          <p:nvPr/>
        </p:nvCxnSpPr>
        <p:spPr>
          <a:xfrm>
            <a:off x="4035271" y="1749496"/>
            <a:ext cx="733530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C9C33B5-5DE1-A1DC-1F09-7DE701C60E39}"/>
              </a:ext>
            </a:extLst>
          </p:cNvPr>
          <p:cNvGrpSpPr/>
          <p:nvPr/>
        </p:nvGrpSpPr>
        <p:grpSpPr>
          <a:xfrm>
            <a:off x="3975360" y="1695239"/>
            <a:ext cx="780064" cy="327211"/>
            <a:chOff x="1844226" y="363682"/>
            <a:chExt cx="780064" cy="327211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D9FCF8-5B29-68AD-7AF9-B284E1E9A1A2}"/>
                </a:ext>
              </a:extLst>
            </p:cNvPr>
            <p:cNvSpPr txBox="1"/>
            <p:nvPr/>
          </p:nvSpPr>
          <p:spPr>
            <a:xfrm>
              <a:off x="2117596" y="363682"/>
              <a:ext cx="24558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  <a:latin typeface="Symbol" pitchFamily="2" charset="2"/>
                </a:rPr>
                <a:t>f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D6EEFD8-24BA-421D-8238-847FFEB02464}"/>
                </a:ext>
              </a:extLst>
            </p:cNvPr>
            <p:cNvSpPr txBox="1"/>
            <p:nvPr/>
          </p:nvSpPr>
          <p:spPr>
            <a:xfrm>
              <a:off x="1844226" y="460061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 losses</a:t>
              </a:r>
            </a:p>
          </p:txBody>
        </p:sp>
      </p:grp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CD2D5509-44DC-A52C-57B7-A262636AE183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2471802" y="1221849"/>
            <a:ext cx="2304874" cy="384113"/>
          </a:xfrm>
          <a:prstGeom prst="bentConnector3">
            <a:avLst>
              <a:gd name="adj1" fmla="val 222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41AF8C47-0C2C-9B40-75C5-92E418970AAF}"/>
              </a:ext>
            </a:extLst>
          </p:cNvPr>
          <p:cNvSpPr/>
          <p:nvPr/>
        </p:nvSpPr>
        <p:spPr>
          <a:xfrm>
            <a:off x="5541974" y="536579"/>
            <a:ext cx="712177" cy="5508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Extract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Q losses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C4E2DCE-5686-329A-DBCC-72BA175EC367}"/>
              </a:ext>
            </a:extLst>
          </p:cNvPr>
          <p:cNvCxnSpPr>
            <a:cxnSpLocks/>
          </p:cNvCxnSpPr>
          <p:nvPr/>
        </p:nvCxnSpPr>
        <p:spPr>
          <a:xfrm>
            <a:off x="6254151" y="820643"/>
            <a:ext cx="353683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050807C-ADA5-EFBA-0397-AF35996D8CA2}"/>
              </a:ext>
            </a:extLst>
          </p:cNvPr>
          <p:cNvSpPr txBox="1"/>
          <p:nvPr/>
        </p:nvSpPr>
        <p:spPr>
          <a:xfrm>
            <a:off x="6096000" y="778445"/>
            <a:ext cx="62541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</a:rPr>
              <a:t>q</a:t>
            </a:r>
            <a:r>
              <a:rPr lang="en-US" sz="1000" baseline="-25000" dirty="0" err="1">
                <a:solidFill>
                  <a:srgbClr val="C00000"/>
                </a:solidFill>
              </a:rPr>
              <a:t>loss</a:t>
            </a:r>
            <a:endParaRPr lang="en-US" sz="1000" baseline="-250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9859FD88-0D88-8E00-5BB6-F110772972EA}"/>
              </a:ext>
            </a:extLst>
          </p:cNvPr>
          <p:cNvGrpSpPr/>
          <p:nvPr/>
        </p:nvGrpSpPr>
        <p:grpSpPr>
          <a:xfrm>
            <a:off x="6241136" y="1548460"/>
            <a:ext cx="1095843" cy="411407"/>
            <a:chOff x="3349371" y="757617"/>
            <a:chExt cx="1095843" cy="41140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1C2978C4-72C7-7965-F336-0A6B21A08528}"/>
                </a:ext>
              </a:extLst>
            </p:cNvPr>
            <p:cNvSpPr txBox="1"/>
            <p:nvPr/>
          </p:nvSpPr>
          <p:spPr>
            <a:xfrm>
              <a:off x="3763039" y="757617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B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9265C8C-A62C-C458-2FE6-19B9F28161F9}"/>
                </a:ext>
              </a:extLst>
            </p:cNvPr>
            <p:cNvSpPr txBox="1"/>
            <p:nvPr/>
          </p:nvSpPr>
          <p:spPr>
            <a:xfrm>
              <a:off x="3349371" y="847656"/>
              <a:ext cx="109584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 m losses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8D06C71-883E-3D9C-5A39-2B69B377C71F}"/>
                </a:ext>
              </a:extLst>
            </p:cNvPr>
            <p:cNvSpPr txBox="1"/>
            <p:nvPr/>
          </p:nvSpPr>
          <p:spPr>
            <a:xfrm>
              <a:off x="3349372" y="938192"/>
              <a:ext cx="1095842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without Q losses</a:t>
              </a:r>
            </a:p>
          </p:txBody>
        </p:sp>
      </p:grp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EE5C2E9-570A-05C7-1659-7444E085069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5594637" y="1605962"/>
            <a:ext cx="265861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F6BCF1E6-7055-D534-5A8D-96A37113606E}"/>
              </a:ext>
            </a:extLst>
          </p:cNvPr>
          <p:cNvSpPr/>
          <p:nvPr/>
        </p:nvSpPr>
        <p:spPr>
          <a:xfrm>
            <a:off x="8238226" y="399273"/>
            <a:ext cx="817961" cy="152679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</a:rPr>
              <a:t>B</a:t>
            </a:r>
            <a:r>
              <a:rPr lang="en-US" sz="1000" dirty="0" err="1">
                <a:solidFill>
                  <a:schemeClr val="tx1"/>
                </a:solidFill>
              </a:rPr>
              <a:t>+</a:t>
            </a:r>
            <a:r>
              <a:rPr lang="en-US" sz="1000" b="1" dirty="0" err="1">
                <a:solidFill>
                  <a:schemeClr val="accent6"/>
                </a:solidFill>
              </a:rPr>
              <a:t>x</a:t>
            </a:r>
            <a:endParaRPr lang="en-US" sz="1000" baseline="-25000" dirty="0">
              <a:solidFill>
                <a:schemeClr val="accent6"/>
              </a:solidFill>
            </a:endParaRP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78D18046-9BCC-C93B-8C67-3AC49E8FCEC4}"/>
              </a:ext>
            </a:extLst>
          </p:cNvPr>
          <p:cNvCxnSpPr>
            <a:cxnSpLocks/>
            <a:stCxn id="87" idx="3"/>
          </p:cNvCxnSpPr>
          <p:nvPr/>
        </p:nvCxnSpPr>
        <p:spPr>
          <a:xfrm>
            <a:off x="9056187" y="1162670"/>
            <a:ext cx="670238" cy="3451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5A3228D-1CFC-C691-381E-B85CDB9E2150}"/>
              </a:ext>
            </a:extLst>
          </p:cNvPr>
          <p:cNvGrpSpPr/>
          <p:nvPr/>
        </p:nvGrpSpPr>
        <p:grpSpPr>
          <a:xfrm>
            <a:off x="8994719" y="1128493"/>
            <a:ext cx="670238" cy="421656"/>
            <a:chOff x="7497238" y="1157780"/>
            <a:chExt cx="670238" cy="421656"/>
          </a:xfrm>
        </p:grpSpPr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D68617E-80E7-56DA-C2C6-B96D04539616}"/>
                </a:ext>
              </a:extLst>
            </p:cNvPr>
            <p:cNvSpPr txBox="1"/>
            <p:nvPr/>
          </p:nvSpPr>
          <p:spPr>
            <a:xfrm>
              <a:off x="7715623" y="1157780"/>
              <a:ext cx="25680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00000"/>
                  </a:solidFill>
                </a:rPr>
                <a:t>B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8286DC3F-8726-D61B-428F-6965836C1E39}"/>
                </a:ext>
              </a:extLst>
            </p:cNvPr>
            <p:cNvSpPr txBox="1"/>
            <p:nvPr/>
          </p:nvSpPr>
          <p:spPr>
            <a:xfrm>
              <a:off x="7526237" y="1247819"/>
              <a:ext cx="6100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with m &amp;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DE0DB06-AC3B-6507-1BF8-76470739D8AC}"/>
                </a:ext>
              </a:extLst>
            </p:cNvPr>
            <p:cNvSpPr txBox="1"/>
            <p:nvPr/>
          </p:nvSpPr>
          <p:spPr>
            <a:xfrm>
              <a:off x="7497238" y="1348604"/>
              <a:ext cx="67023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Q losses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679FBF2-885B-7686-F30C-287F05A69A32}"/>
              </a:ext>
            </a:extLst>
          </p:cNvPr>
          <p:cNvGrpSpPr/>
          <p:nvPr/>
        </p:nvGrpSpPr>
        <p:grpSpPr>
          <a:xfrm>
            <a:off x="5896221" y="242213"/>
            <a:ext cx="780064" cy="327211"/>
            <a:chOff x="1844226" y="363682"/>
            <a:chExt cx="780064" cy="327211"/>
          </a:xfrm>
        </p:grpSpPr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8146836-DED1-3C7D-0F76-BEC734FB6136}"/>
                </a:ext>
              </a:extLst>
            </p:cNvPr>
            <p:cNvSpPr txBox="1"/>
            <p:nvPr/>
          </p:nvSpPr>
          <p:spPr>
            <a:xfrm>
              <a:off x="2119199" y="363682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T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4AD9DDD2-8FE0-FB14-224B-853E540AE261}"/>
                </a:ext>
              </a:extLst>
            </p:cNvPr>
            <p:cNvSpPr txBox="1"/>
            <p:nvPr/>
          </p:nvSpPr>
          <p:spPr>
            <a:xfrm>
              <a:off x="1844226" y="460061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for Q losses</a:t>
              </a:r>
            </a:p>
          </p:txBody>
        </p:sp>
      </p:grp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71F8AF1-202E-8DA4-1123-B569A0BAADDD}"/>
              </a:ext>
            </a:extLst>
          </p:cNvPr>
          <p:cNvCxnSpPr>
            <a:cxnSpLocks/>
          </p:cNvCxnSpPr>
          <p:nvPr/>
        </p:nvCxnSpPr>
        <p:spPr>
          <a:xfrm>
            <a:off x="5995358" y="289615"/>
            <a:ext cx="612476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785CB3C6-68D7-1006-C893-F2D46CE40DC2}"/>
              </a:ext>
            </a:extLst>
          </p:cNvPr>
          <p:cNvSpPr/>
          <p:nvPr/>
        </p:nvSpPr>
        <p:spPr>
          <a:xfrm>
            <a:off x="6607834" y="182341"/>
            <a:ext cx="933808" cy="73557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Calculate X 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for Q losses</a:t>
            </a:r>
            <a:endParaRPr lang="en-US" sz="1000" baseline="-25000" dirty="0">
              <a:solidFill>
                <a:schemeClr val="tx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4F0E3065-FFEE-1BE7-F3EA-ADC58EE208DF}"/>
              </a:ext>
            </a:extLst>
          </p:cNvPr>
          <p:cNvCxnSpPr>
            <a:cxnSpLocks/>
            <a:stCxn id="104" idx="3"/>
          </p:cNvCxnSpPr>
          <p:nvPr/>
        </p:nvCxnSpPr>
        <p:spPr>
          <a:xfrm>
            <a:off x="7541642" y="550128"/>
            <a:ext cx="696584" cy="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AEDC2EA-B4BB-5001-563F-498949B7DF51}"/>
              </a:ext>
            </a:extLst>
          </p:cNvPr>
          <p:cNvGrpSpPr/>
          <p:nvPr/>
        </p:nvGrpSpPr>
        <p:grpSpPr>
          <a:xfrm>
            <a:off x="7473191" y="512967"/>
            <a:ext cx="780064" cy="327211"/>
            <a:chOff x="1844226" y="363682"/>
            <a:chExt cx="780064" cy="327211"/>
          </a:xfrm>
        </p:grpSpPr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F75357B-D1BB-7DA0-4285-DBA8B741176B}"/>
                </a:ext>
              </a:extLst>
            </p:cNvPr>
            <p:cNvSpPr txBox="1"/>
            <p:nvPr/>
          </p:nvSpPr>
          <p:spPr>
            <a:xfrm>
              <a:off x="2119199" y="363682"/>
              <a:ext cx="2423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b="1" dirty="0">
                  <a:solidFill>
                    <a:schemeClr val="accent6"/>
                  </a:solidFill>
                </a:rPr>
                <a:t>x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18A9D8F7-5334-688F-C757-FA1DE5D949B3}"/>
                </a:ext>
              </a:extLst>
            </p:cNvPr>
            <p:cNvSpPr txBox="1"/>
            <p:nvPr/>
          </p:nvSpPr>
          <p:spPr>
            <a:xfrm>
              <a:off x="1844226" y="460061"/>
              <a:ext cx="780064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/>
                <a:t>for Q losses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10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73</Words>
  <Application>Microsoft Macintosh PowerPoint</Application>
  <PresentationFormat>Widescreen</PresentationFormat>
  <Paragraphs>42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Symbol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Heun</dc:creator>
  <cp:lastModifiedBy>Matthew Heun</cp:lastModifiedBy>
  <cp:revision>31</cp:revision>
  <dcterms:created xsi:type="dcterms:W3CDTF">2026-03-24T23:06:53Z</dcterms:created>
  <dcterms:modified xsi:type="dcterms:W3CDTF">2026-03-25T00:16:48Z</dcterms:modified>
</cp:coreProperties>
</file>